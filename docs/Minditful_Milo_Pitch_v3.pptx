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Gắn kết</c:v>
                </c:pt>
              </c:strCache>
            </c:strRef>
          </c:tx>
          <c:spPr>
            <a:solidFill>
              <a:schemeClr val="accent1"/>
            </a:solidFill>
            <a:ln w="9525" cap="flat">
              <a:solidFill>
                <a:srgbClr val="F9F9F9"/>
              </a:solidFill>
              <a:prstDash val="solid"/>
              <a:round/>
            </a:ln>
            <a:effectLst/>
          </c:spPr>
          <c:dPt>
            <c:idx val="0"/>
            <c:bubble3D val="0"/>
            <c:spPr>
              <a:solidFill>
                <a:srgbClr val="007BC0"/>
              </a:solidFill>
              <a:ln w="25400" cap="flat">
                <a:solidFill>
                  <a:srgbClr val="FFFFFF"/>
                </a:solidFill>
                <a:prstDash val="solid"/>
                <a:round/>
              </a:ln>
              <a:effectLst/>
            </c:spPr>
          </c:dPt>
          <c:dPt>
            <c:idx val="1"/>
            <c:bubble3D val="0"/>
            <c:spPr>
              <a:solidFill>
                <a:srgbClr val="B7C1CC"/>
              </a:solidFill>
              <a:ln w="25400" cap="flat">
                <a:solidFill>
                  <a:srgbClr val="FFFFFF"/>
                </a:solidFill>
                <a:prstDash val="solid"/>
                <a:round/>
              </a:ln>
              <a:effectLst/>
            </c:spPr>
          </c:dPt>
          <c:dPt>
            <c:idx val="2"/>
            <c:bubble3D val="0"/>
            <c:spPr>
              <a:solidFill>
                <a:srgbClr val="E20015"/>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Gắn kết</c:v>
                </c:pt>
                <c:pt idx="1">
                  <c:v>Chưa gắn kết</c:v>
                </c:pt>
                <c:pt idx="2">
                  <c:v>Chán việc, tiêu cực</c:v>
                </c:pt>
              </c:strCache>
            </c:strRef>
          </c:cat>
          <c:val>
            <c:numRef>
              <c:f>Sheet1!$B$2:$B$4</c:f>
              <c:numCache>
                <c:ptCount val="3"/>
                <c:pt idx="0">
                  <c:v>21</c:v>
                </c:pt>
                <c:pt idx="1">
                  <c:v>62</c:v>
                </c:pt>
                <c:pt idx="2">
                  <c:v>17</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 MỞ ĐẦU]
Chào mọi người, tụi em là nhóm Matcha latte- capybara: Duy, Quân và Thư, cùng mentor là anh Dương Thành Phong.
Đề tài của tụi em là Minditful – Milo: một chú cáo sống trên desktop, giúp người đi làm cân bằng công việc – cuộc sống dựa trên dữ liệu làm việc thật.
Bài trình bày đi theo 7 phần: vấn đề → app giải quyết gì → kiến trúc → flow → đội agents → hướng phát triển → demo.
(Lưu ý: ảnh thành viên ghép theo thứ tự tên; nếu sai thì đổi lại ở slide này. Logo Bosch chính thức chưa chèn vì không có file — thêm vào góc trên trái nếu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 VẤN ĐỀ #1: TINH THẦN]
"Trước khi nói về Milo, mình hỏi: người đi làm hôm nay đang thế nào?"
Theo Gallup, State of the Global Workplace 2025: 40% nhân viên trên toàn cầu nói họ đã căng thẳng nhiều trong ngày hôm trước. Chỉ 21% thấy gắn kết với công việc; 17% chán việc thật sự.
WHO ước tính mỗi năm thế giới mất 12 tỷ ngày công vì trầm cảm và lo âu, tương đương khoảng 1.000 tỷ USD năng suất.
LƯU Ý KHI BỊ HỎI: "40%" là người trả lời "stress a lot yesterday" trong khảo sát của Gallup, không phải chẩn đoán burnout. Báo cáo Gallup 2026 (dữ liệu 2025) ghi tỷ lệ gắn kết toàn cầu còn 20%. Chưa tìm được số liệu riêng cho Việt Nam nên không trích.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 VẤN ĐỀ #2: CƠ THỂ]
Bốn vùng cơ thể của người ngồi máy tính:
• LƯNG: WHO — 619 triệu người đau thắt lưng năm 2020, dự báo 843 triệu năm 2050; là nguyên nhân gây khuyết tật số 1.
• MẮT: tổng hợp 45 nghiên cứu (17.526 người) — 66% người dùng máy tính có triệu chứng mỏi mắt kỹ thuật số.
• CỔ VAI GÁY: 42–63% nhân viên văn phòng đau cổ trong một năm.
• TIM MẠCH: nghiên cứu Lancet 2016 trên hơn 1 triệu người — ngồi trên 8 giờ/ngày và ít vận động thì nguy cơ tử vong cao hơn 59% so với nhóm ngồi ít, vận động nhiều.
Chốt bằng tin tốt: vận động 60–75 phút/ngày triệt tiêu phần nguy cơ tăng thêm. Đây là lý do cần một thứ nhắc mình đứng dậy.
LƯU Ý: đây là nghiên cứu quan sát/tổng hợp — nói "liên quan", không nói "gây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[2:30–3:30 · VẤN ĐỀ #3: KHOẢNG TRỐNG]
Bằng chứng: Gloria Mark (ĐH California Irvine) đo người đi làm thật bằng phần mềm ghi log: họ ở lại một màn hình trung bình 47 giây (năm 2004 là khoảng 2,5 phút). Sự chú ý bị cắt vụn — nhưng chúng ta vẫn ngồi liền tay.
Tổng hợp 22 nghiên cứu về nghỉ ngắn: tăng sinh lực, giảm mệt mỏi, hiệu suất không giảm.
Vậy sao ai cũng biết Pomodoro mà không ai làm? Vì đồng hồ chỉ biết "đã 25 phút". Nó không biết bạn đang họp, đang trình chiếu, vừa họp liền 3 tiếng, hay task đã kẹt 4 ngày. Nhắc sai lúc thì bị tắt đi — và người dùng dần bỏ qua.
=&gt; Câu hỏi của tụi em: nếu có một trợ lý hiểu ngữ cảnh làm việc thì sao? Đó là Milo.
(Trung thực: "nhắc sai lúc thì bị tắt" là nhận định thiết kế của nhóm, không phải số liệu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[3:30–5:00 · GIẢI PHÁP]
Milo không chỉ là đồng hồ nhắc nghỉ. Bốn điểm khác biệt:
1) DỮ LIỆU THỜI GIAN THỰC: đọc Teams presence (30 giây/lần), lịch Outlook, email, task Azure Boards, cộng hoạt động máy — nên biết bạn đang họp, đang tập trung, hay vừa họp 3 tiếng.
2) ĐÚNG LÚC, KHÔNG LÀM PHIỀN: có "cổng im lặng" (họp, toàn màn hình, tập trung, DND, khoá máy, trình chiếu) và ngân sách: cách nhau ít nhất 15 phút, tối đa 3 lời/giờ, 10 lời/ngày.
3) ANIMATION KHÔNG GÂY KHÓ CHỊU: Milo chỉ ló chóp đuôi ở góc màn hình; rê chuột 0,6 giây mới ló đầu; cửa sổ trong suốt và click-through nên không chặn thao tác; khi rảnh chỉ vẽ 4 khung/giây để nhẹ CPU; tự ẩn khi chia sẻ màn hình.
4) CHĂM SÓC CÓ CƠ SỞ: điểm mood theo mô hình JD-R; hành động một chạm (giữ chỗ nghỉ trên Outlook, khoá giờ tập trung, bật DND Teams); Claude viết câu thoại — tuỳ chọn, không có key vẫn chạy.
Cuối: riêng tư mặc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[5:00–5:45 · SO SÁNH NHANH]
Đọc lướt bảng: đồng hồ nhắc theo giờ cố định, vẫn kêu khi họp, lặp đều, và không biết bạn là ai. Milo nhắc theo dữ liệu, im lặng đúng lúc, có ngân sách làm phiền, giúp làm luôn bước tiếp theo bằng một chạm, và hiểu tình trạng của bạn qua điểm mood.
Nhấn: "không chỉ nhắc" — đây là câu trả lời cho câu hỏi "khác gì đồng hồ Pomodoro?".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[5:45–7:15 · KIẾN TRÚC TỔNG THỂ]
Đây là kiến trúc (không phải flow giao diện). App gồm 3 project .NET 8, cùng màu Bosch:
• MINDITFUL.CORE (xanh dương) — bộ não: Rule Engine với 16 case (+3 mở rộng), bộ Điều phối 8 bước, vòng đời Episode Vào → Ở lại → Ra, Mood Engine, Personalizer và kịch bản Demo. Không phụ thuộc Windows nên chạy được 160 unit test mà không cần mạng.
• MINDITFUL.INTEGRATIONS (xanh lá) — nói chuyện với bên ngoài: đăng nhập MSAL/Entra ID, GraphClient (Teams presence, Outlook, Mail), AzureBoardsClient (WIQL), ClaudeLineWriter (tuỳ chọn), LocalStore SQLite.
• MINDITFUL.APP (đỏ) — WPF: cửa sổ overlay trong suốt, click-through, luôn nổi; animation hai lớp; bảng điều khiển; khay hệ thống; đọc hoạt động máy qua Win32.
Bốn nguyên tắc: một bộ não nhiều nguồn dữ liệu; engine đồng bộ còn thế giới bên ngoài bất đồng bộ (sự kiện đi ra, kết quả đi vào); thiếu quyền thì tự hạ cấp chứ không báo lỗi; riêng tư mặc định.
Không có server riêng: app nói chuyện trực tiếp với Microsoft, Azure DevOps và (tuỳ chọn) Anthropic.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[7:15–8:30 · BÊN TRONG BỘ NÃO]
Đi qua 5 bước: (1) Tín hiệu gom vào WorkSnapshot; (2) Rule Engine chạy mỗi phút: 16 case cộng 3 case mở rộng, case nào đủ điều kiện thì vào hàng đợi ưu tiên P0–P5; (3) bộ Điều phối chạy mỗi giây, qua 8 bước: kiểm tra cổng im lặng, ngân sách, khoảng trống lịch rồi chọn đúng 1 case; (4) Episode: Milo ló ra, hiện thẻ, người dùng chọn một chạm; (5) hành động ra ngoài như giữ chỗ nghỉ trên Outlook hay bật DND Teams.
Mood Engine: điểm = 92 trừ tổng điểm phạt cộng tổng điểm thưởng, giới hạn 0–100; 4 mức Mọng / Cân bằng / Mệt dần / Kiệt sức. Mỗi khoản dựa trên mô hình JD-R, có test chứng minh công thức đúng chiều nghiên cứu với 20.000 bộ dữ liệu ngẫu nhiên.
Claude chỉ là lớp 2: viết câu thoại; nếu chậm quá 2,5 giây hoặc lỗi thì dùng câu mẫu — engine không bao giờ đợi LLM.
TRUNG THỰC KHI BỊ HỎI: trọng số điểm hiện theo tài liệu nghiên cứu, chưa hiệu chuẩn với người dùng thật; app không phải công cụ y tế. Đó là lý do có kế hoạch pilot WHO-5 ở phần Hướng phát triển.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[8:30–9:15 · BA MÔI TRƯỜNG]
Cùng một app, ba môi trường:
• DEMO: ngày mẫu Thứ Năm 24/9, đồng hồ theo kịch bản, tua nhanh 60–300 lần, trình diễn đủ 19 tình huống trong ~15 phút.
• SANDBOX: tenant thử của nhóm + Azure DevOps sandbox — gọi API thật; có chế độ test rút gọn ngưỡng để thấy Milo ngay, hoặc "chạy như Production".
• PRODUCTION: tenant Bosch, ngưỡng chuẩn, Milo ẩn khi share màn hình.
Điểm chính: chỉ khác nguồn thời gian và dữ liệu. Bộ não không đổi — nên chuyển từ Demo lên Prod không phải viết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[9:15–9:45 · FLOW — CHỈ LƯỚT QUA, KHÔNG GIẢI THÍCH]
Nói tối đa 20–30 giây: "Đây là một ngày với Milo: 8:58 chào sáng, 9:25 nhắc họp, 12:35 dashboard trái cây, 12:41 họp liền 3 tiếng thì rủ nghỉ, 12:42 thở cùng Milo, 18:00 nhắc về. Mọi thứ sẽ thấy trực tiếp ở phần demo."
Rồi chuyển slide. (Ảnh là màn hình của bản prototype giao diện Milo; app thật dùng cùng thiết kế.)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[9:45–11:15 · ĐỘI AGENTS — Thư trình bày]
!! NHÓM CẦN KIỂM TRA LẠI SLIDE NÀY: nội dung được dựng từ cấu trúc dự án và kế hoạch "7 ngày code + 3 ngày test", vì tài liệu chưa mô tả cách Thư điều phối agents. Sửa các ý cho khớp với thực tế (số agent, cách chia việc, cách review) trước khi trình bày.
Gợi ý lời nói:
"Em không code từng dòng — em điều phối một đội agents."
GIAI ĐOẠN 1 — Phân tích → Plan: đưa cho agent đề bài, prototype HTML và tài liệu Kịch bản hành vi; agent tách ra 16 case, đề xuất kiến trúc, chốt chuyển từ Electron sang WPF/.NET 8; kết quả là plan: 3 project, làm Rule Engine trước, LLM sau.
GIAI ĐOẠN 2 — Code song song: mỗi agent nhận một project — Core, Integrations, App. Vì kiến trúc tách bạch (engine đồng bộ, thế giới bên ngoài bất đồng bộ) nên các agent làm cùng lúc mà ít dẫm chân nhau.
GIAI ĐOẠN 3 — Test: 160 unit test, 20.000 bộ dữ liệu ngẫu nhiên cho công thức mood, 3 bộ kiểm chứng AI, và test tay theo checklist Sandbox/Prod trong 3 ngày.
Vai trò của em: chia việc, duyệt kết quả, quyết định ngưỡng và trải nghiệm.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[11:15–12:30 · HƯỚNG PHÁT TRIỂN]
Hai việc quan trọng nhất:
1) CẢI THIỆN ENGINE TÍNH SCORE: trọng số hiện theo tài liệu nghiên cứu (JD-R), chưa hiệu chuẩn trên người thật; bản dịch WHO-5 tiếng Việt cũng chưa chuẩn hoá. Kế hoạch: pilot WHO-5 hằng tuần, ít nhất 8 người trong 4 tuần, mục tiêu tương quan r ≥ 0,3 với điểm của Milo; khi đó mới hiệu chỉnh trọng số và bật chế độ Hybrid.
2) ONBOARD TRÊN MÁY BOSCH: cần IT duyệt đăng ký app trên Entra ID (single tenant, public client) và admin consent cho các quyền; nếu thiếu quyền, app tự hạ cấp đúng tính năng đó; bộ cài cần ký số để tránh SmartScreen; kiểm tra proxy mạng nội bộ; chuẩn bị PAT hoặc Entra cho Azure Boards; kèm hướng dẫn cài một trang.
Mở rộng: thêm nguồn dữ liệu như Jira, thêm case và animation.
Nhắc lại: Milo không phải công cụ y tế; dữ liệu chỉ ở máy người dùng, tự xoá sau khoảng 2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[12:30–17:00 · DEMO]
Chạy môi trường Demo, tốc độ 300×. Thứ tự gợi ý (khoảng 4–5 phút, chọn mốc bằng trang "Ngày mẫu"):
1) 08:58 Chào sáng + bản tin.
2) 09:25 Sắp họp — bấm "Tham gia" / "Mở slide".
3) 10:12 Đang họp — Milo im lặng, chỉ còn chấm "1 lời nhắc đang chờ".
4) 12:35 Rê chuột lên chóp đuôi → dashboard trái cây (nho mood, cam họp, anh đào email, táo sprint) → "Tuần này".
5) 12:41 Họp liền 3h20 → "Đồng ý, nghỉ chút" → thở 4-4-4.
6) 18:00 Tan tầm — tổng kết ngày.
Nếu còn thời gian: chuyển Sandbox, tạo cuộc họp/đổi presence trên Teams để thấy Milo phản ứng với dữ liệu thật.
Chuẩn bị trước: đăng nhập Sandbox từ trước để không phải chờ trình duyệt; kiểm tra Milo ở góc màn hình đã neo; có sẵn video quay phòng khi mạng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tham khảo — không đọc lên. Mở khi cần trả lời câu hỏi về nguồn số liệu. Các con số trong tài liệu nội bộ của nhóm chưa được kiểm chứng độc lập nên không dùng ở phần Vấn đề.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Cảm ơn, mời mọi người đặt câu hỏi. Câu hỏi dễ gặp: số liệu ở đâu ra (mở slide Tham khảo); điểm mood có chính xác không (chưa hiệu chuẩn, sẽ pilot WHO-5); dữ liệu cá nhân đi đâu (không rời máy); cài trên máy Bosch cần gì (IT duyệt đăng ký app Entra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656832"/>
            <a:ext cx="4073042" cy="201168"/>
          </a:xfrm>
          <a:prstGeom prst="rect">
            <a:avLst/>
          </a:prstGeom>
          <a:solidFill>
            <a:srgbClr val="E20015"/>
          </a:solidFill>
          <a:ln/>
        </p:spPr>
      </p:sp>
      <p:sp>
        <p:nvSpPr>
          <p:cNvPr id="3" name="Shape 1"/>
          <p:cNvSpPr/>
          <p:nvPr/>
        </p:nvSpPr>
        <p:spPr>
          <a:xfrm>
            <a:off x="4063898" y="6656832"/>
            <a:ext cx="4073042" cy="201168"/>
          </a:xfrm>
          <a:prstGeom prst="rect">
            <a:avLst/>
          </a:prstGeom>
          <a:solidFill>
            <a:srgbClr val="007BC0"/>
          </a:solidFill>
          <a:ln/>
        </p:spPr>
      </p:sp>
      <p:sp>
        <p:nvSpPr>
          <p:cNvPr id="4" name="Shape 2"/>
          <p:cNvSpPr/>
          <p:nvPr/>
        </p:nvSpPr>
        <p:spPr>
          <a:xfrm>
            <a:off x="8127797" y="6656832"/>
            <a:ext cx="4073042" cy="201168"/>
          </a:xfrm>
          <a:prstGeom prst="rect">
            <a:avLst/>
          </a:prstGeom>
          <a:solidFill>
            <a:srgbClr val="00884A"/>
          </a:solidFill>
          <a:ln/>
        </p:spPr>
      </p:sp>
      <p:sp>
        <p:nvSpPr>
          <p:cNvPr id="5" name="Shape 3"/>
          <p:cNvSpPr/>
          <p:nvPr/>
        </p:nvSpPr>
        <p:spPr>
          <a:xfrm>
            <a:off x="8183880" y="548640"/>
            <a:ext cx="3429000" cy="3611880"/>
          </a:xfrm>
          <a:prstGeom prst="roundRect">
            <a:avLst>
              <a:gd name="adj" fmla="val 5333"/>
            </a:avLst>
          </a:prstGeom>
          <a:solidFill>
            <a:srgbClr val="F3F5F8"/>
          </a:solidFill>
          <a:ln/>
        </p:spPr>
      </p:sp>
      <p:pic>
        <p:nvPicPr>
          <p:cNvPr id="6" name="Image 0" descr="img/icon_app.png">    </p:cNvPr>
          <p:cNvPicPr>
            <a:picLocks noChangeAspect="1"/>
          </p:cNvPicPr>
          <p:nvPr/>
        </p:nvPicPr>
        <p:blipFill>
          <a:blip r:embed="rId1"/>
          <a:stretch>
            <a:fillRect/>
          </a:stretch>
        </p:blipFill>
        <p:spPr>
          <a:xfrm>
            <a:off x="8412480" y="777240"/>
            <a:ext cx="2971800" cy="2971800"/>
          </a:xfrm>
          <a:prstGeom prst="rect">
            <a:avLst/>
          </a:prstGeom>
        </p:spPr>
      </p:pic>
      <p:sp>
        <p:nvSpPr>
          <p:cNvPr id="7" name="Text 4"/>
          <p:cNvSpPr txBox="1"/>
          <p:nvPr/>
        </p:nvSpPr>
        <p:spPr>
          <a:xfrm>
            <a:off x="594360" y="594360"/>
            <a:ext cx="6400800" cy="274320"/>
          </a:xfrm>
          <a:prstGeom prst="rect">
            <a:avLst/>
          </a:prstGeom>
          <a:noFill/>
          <a:ln/>
        </p:spPr>
        <p:txBody>
          <a:bodyPr wrap="square" lIns="0" tIns="0" rIns="0" bIns="0" rtlCol="0" anchor="t"/>
          <a:lstStyle/>
          <a:p>
            <a:pPr indent="0" marL="0">
              <a:buNone/>
            </a:pPr>
            <a:r>
              <a:rPr lang="en-US" sz="1300" b="1" spc="300" kern="0" dirty="0">
                <a:solidFill>
                  <a:srgbClr val="E20015"/>
                </a:solidFill>
                <a:latin typeface="Calibri" pitchFamily="34" charset="0"/>
                <a:ea typeface="Calibri" pitchFamily="34" charset="-122"/>
                <a:cs typeface="Calibri" pitchFamily="34" charset="-120"/>
              </a:rPr>
              <a:t>VIBE CODING CONTEST</a:t>
            </a:r>
            <a:endParaRPr lang="en-US" sz="1300" dirty="0"/>
          </a:p>
        </p:txBody>
      </p:sp>
      <p:sp>
        <p:nvSpPr>
          <p:cNvPr id="8" name="Text 5"/>
          <p:cNvSpPr txBox="1"/>
          <p:nvPr/>
        </p:nvSpPr>
        <p:spPr>
          <a:xfrm>
            <a:off x="594360" y="960120"/>
            <a:ext cx="7498080" cy="1051560"/>
          </a:xfrm>
          <a:prstGeom prst="rect">
            <a:avLst/>
          </a:prstGeom>
          <a:noFill/>
          <a:ln/>
        </p:spPr>
        <p:txBody>
          <a:bodyPr wrap="square" lIns="0" tIns="0" rIns="0" bIns="0" rtlCol="0" anchor="t"/>
          <a:lstStyle/>
          <a:p>
            <a:pPr indent="0" marL="0">
              <a:buNone/>
            </a:pPr>
            <a:r>
              <a:rPr lang="en-US" sz="6200" b="1" dirty="0">
                <a:solidFill>
                  <a:srgbClr val="1B2733"/>
                </a:solidFill>
                <a:latin typeface="Calibri" pitchFamily="34" charset="0"/>
                <a:ea typeface="Calibri" pitchFamily="34" charset="-122"/>
                <a:cs typeface="Calibri" pitchFamily="34" charset="-120"/>
              </a:rPr>
              <a:t>Minditful – Milo</a:t>
            </a:r>
            <a:endParaRPr lang="en-US" sz="6200" dirty="0"/>
          </a:p>
        </p:txBody>
      </p:sp>
      <p:sp>
        <p:nvSpPr>
          <p:cNvPr id="9" name="Text 6"/>
          <p:cNvSpPr txBox="1"/>
          <p:nvPr/>
        </p:nvSpPr>
        <p:spPr>
          <a:xfrm>
            <a:off x="594360" y="2103120"/>
            <a:ext cx="7040880" cy="868680"/>
          </a:xfrm>
          <a:prstGeom prst="rect">
            <a:avLst/>
          </a:prstGeom>
          <a:noFill/>
          <a:ln/>
        </p:spPr>
        <p:txBody>
          <a:bodyPr wrap="square" lIns="0" tIns="0" rIns="0" bIns="0" rtlCol="0" anchor="t"/>
          <a:lstStyle/>
          <a:p>
            <a:pPr indent="0" marL="0">
              <a:buNone/>
            </a:pPr>
            <a:r>
              <a:rPr lang="en-US" sz="2200" dirty="0">
                <a:solidFill>
                  <a:srgbClr val="3D4B59"/>
                </a:solidFill>
                <a:latin typeface="Calibri" pitchFamily="34" charset="0"/>
                <a:ea typeface="Calibri" pitchFamily="34" charset="-122"/>
                <a:cs typeface="Calibri" pitchFamily="34" charset="-120"/>
              </a:rPr>
              <a:t>Trợ lý desktop giúp người đi làm cân bằng công việc – cuộc sống, dựa trên dữ liệu làm việc thật</a:t>
            </a:r>
            <a:endParaRPr lang="en-US" sz="2200" dirty="0"/>
          </a:p>
        </p:txBody>
      </p:sp>
      <p:sp>
        <p:nvSpPr>
          <p:cNvPr id="10" name="Text 7"/>
          <p:cNvSpPr txBox="1"/>
          <p:nvPr/>
        </p:nvSpPr>
        <p:spPr>
          <a:xfrm>
            <a:off x="594360" y="3017520"/>
            <a:ext cx="7040880" cy="365760"/>
          </a:xfrm>
          <a:prstGeom prst="rect">
            <a:avLst/>
          </a:prstGeom>
          <a:noFill/>
          <a:ln/>
        </p:spPr>
        <p:txBody>
          <a:bodyPr wrap="square" lIns="0" tIns="0" rIns="0" bIns="0" rtlCol="0" anchor="t"/>
          <a:lstStyle/>
          <a:p>
            <a:pPr indent="0" marL="0">
              <a:buNone/>
            </a:pPr>
            <a:r>
              <a:rPr lang="en-US" sz="1600" i="1" dirty="0">
                <a:solidFill>
                  <a:srgbClr val="667584"/>
                </a:solidFill>
                <a:latin typeface="Calibri" pitchFamily="34" charset="0"/>
                <a:ea typeface="Calibri" pitchFamily="34" charset="-122"/>
                <a:cs typeface="Calibri" pitchFamily="34" charset="-120"/>
              </a:rPr>
              <a:t>“Nâng niu cảm xúc – Bứt phá năng lực”</a:t>
            </a:r>
            <a:endParaRPr lang="en-US" sz="1600" dirty="0"/>
          </a:p>
        </p:txBody>
      </p:sp>
      <p:sp>
        <p:nvSpPr>
          <p:cNvPr id="11" name="Shape 8"/>
          <p:cNvSpPr/>
          <p:nvPr/>
        </p:nvSpPr>
        <p:spPr>
          <a:xfrm>
            <a:off x="594360" y="3657600"/>
            <a:ext cx="3749040" cy="457200"/>
          </a:xfrm>
          <a:prstGeom prst="roundRect">
            <a:avLst>
              <a:gd name="adj" fmla="val 50000"/>
            </a:avLst>
          </a:prstGeom>
          <a:solidFill>
            <a:srgbClr val="007BC0"/>
          </a:solidFill>
          <a:ln/>
        </p:spPr>
      </p:sp>
      <p:sp>
        <p:nvSpPr>
          <p:cNvPr id="12" name="Text 9"/>
          <p:cNvSpPr txBox="1"/>
          <p:nvPr/>
        </p:nvSpPr>
        <p:spPr>
          <a:xfrm>
            <a:off x="594360" y="3657600"/>
            <a:ext cx="37490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Nhóm  Matcha latte- capybara</a:t>
            </a:r>
            <a:endParaRPr lang="en-US" sz="1700" dirty="0"/>
          </a:p>
        </p:txBody>
      </p:sp>
      <p:sp>
        <p:nvSpPr>
          <p:cNvPr id="13" name="Shape 10"/>
          <p:cNvSpPr/>
          <p:nvPr/>
        </p:nvSpPr>
        <p:spPr>
          <a:xfrm>
            <a:off x="548640" y="4480560"/>
            <a:ext cx="1143000" cy="1143000"/>
          </a:xfrm>
          <a:prstGeom prst="ellipse">
            <a:avLst/>
          </a:prstGeom>
          <a:solidFill>
            <a:srgbClr val="007BC0"/>
          </a:solidFill>
          <a:ln/>
        </p:spPr>
      </p:sp>
      <p:pic>
        <p:nvPicPr>
          <p:cNvPr id="14" name="Image 1" descr="img/face_duy.jpg">    </p:cNvPr>
          <p:cNvPicPr>
            <a:picLocks noChangeAspect="1"/>
          </p:cNvPicPr>
          <p:nvPr/>
        </p:nvPicPr>
        <p:blipFill>
          <a:blip r:embed="rId2"/>
          <a:stretch>
            <a:fillRect/>
          </a:stretch>
        </p:blipFill>
        <p:spPr>
          <a:xfrm>
            <a:off x="594360" y="4526280"/>
            <a:ext cx="1051560" cy="1051560"/>
          </a:xfrm>
          <a:prstGeom prst="ellipse">
            <a:avLst/>
          </a:prstGeom>
        </p:spPr>
      </p:pic>
      <p:sp>
        <p:nvSpPr>
          <p:cNvPr id="15" name="Text 11"/>
          <p:cNvSpPr txBox="1"/>
          <p:nvPr/>
        </p:nvSpPr>
        <p:spPr>
          <a:xfrm>
            <a:off x="502920" y="5650992"/>
            <a:ext cx="2103120" cy="274320"/>
          </a:xfrm>
          <a:prstGeom prst="rect">
            <a:avLst/>
          </a:prstGeom>
          <a:noFill/>
          <a:ln/>
        </p:spPr>
        <p:txBody>
          <a:bodyPr wrap="square" lIns="0" tIns="0" rIns="0" bIns="0" rtlCol="0" anchor="t"/>
          <a:lstStyle/>
          <a:p>
            <a:pPr indent="0" marL="0">
              <a:buNone/>
            </a:pPr>
            <a:r>
              <a:rPr lang="en-US" sz="1350" b="1" dirty="0">
                <a:solidFill>
                  <a:srgbClr val="1B2733"/>
                </a:solidFill>
                <a:latin typeface="Calibri" pitchFamily="34" charset="0"/>
                <a:ea typeface="Calibri" pitchFamily="34" charset="-122"/>
                <a:cs typeface="Calibri" pitchFamily="34" charset="-120"/>
              </a:rPr>
              <a:t>Huỳnh Thanh Duy</a:t>
            </a:r>
            <a:endParaRPr lang="en-US" sz="1350" dirty="0"/>
          </a:p>
        </p:txBody>
      </p:sp>
      <p:sp>
        <p:nvSpPr>
          <p:cNvPr id="16" name="Text 12"/>
          <p:cNvSpPr txBox="1"/>
          <p:nvPr/>
        </p:nvSpPr>
        <p:spPr>
          <a:xfrm>
            <a:off x="502920" y="5916168"/>
            <a:ext cx="2103120" cy="237744"/>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Thành viên</a:t>
            </a:r>
            <a:endParaRPr lang="en-US" sz="1150" dirty="0"/>
          </a:p>
        </p:txBody>
      </p:sp>
      <p:sp>
        <p:nvSpPr>
          <p:cNvPr id="17" name="Shape 13"/>
          <p:cNvSpPr/>
          <p:nvPr/>
        </p:nvSpPr>
        <p:spPr>
          <a:xfrm>
            <a:off x="2743200" y="4480560"/>
            <a:ext cx="1143000" cy="1143000"/>
          </a:xfrm>
          <a:prstGeom prst="ellipse">
            <a:avLst/>
          </a:prstGeom>
          <a:solidFill>
            <a:srgbClr val="007BC0"/>
          </a:solidFill>
          <a:ln/>
        </p:spPr>
      </p:sp>
      <p:pic>
        <p:nvPicPr>
          <p:cNvPr id="18" name="Image 2" descr="img/face_quan.jpg">    </p:cNvPr>
          <p:cNvPicPr>
            <a:picLocks noChangeAspect="1"/>
          </p:cNvPicPr>
          <p:nvPr/>
        </p:nvPicPr>
        <p:blipFill>
          <a:blip r:embed="rId3"/>
          <a:stretch>
            <a:fillRect/>
          </a:stretch>
        </p:blipFill>
        <p:spPr>
          <a:xfrm>
            <a:off x="2788920" y="4526280"/>
            <a:ext cx="1051560" cy="1051560"/>
          </a:xfrm>
          <a:prstGeom prst="ellipse">
            <a:avLst/>
          </a:prstGeom>
        </p:spPr>
      </p:pic>
      <p:sp>
        <p:nvSpPr>
          <p:cNvPr id="19" name="Text 14"/>
          <p:cNvSpPr txBox="1"/>
          <p:nvPr/>
        </p:nvSpPr>
        <p:spPr>
          <a:xfrm>
            <a:off x="2697480" y="5650992"/>
            <a:ext cx="2103120" cy="274320"/>
          </a:xfrm>
          <a:prstGeom prst="rect">
            <a:avLst/>
          </a:prstGeom>
          <a:noFill/>
          <a:ln/>
        </p:spPr>
        <p:txBody>
          <a:bodyPr wrap="square" lIns="0" tIns="0" rIns="0" bIns="0" rtlCol="0" anchor="t"/>
          <a:lstStyle/>
          <a:p>
            <a:pPr indent="0" marL="0">
              <a:buNone/>
            </a:pPr>
            <a:r>
              <a:rPr lang="en-US" sz="1350" b="1" dirty="0">
                <a:solidFill>
                  <a:srgbClr val="1B2733"/>
                </a:solidFill>
                <a:latin typeface="Calibri" pitchFamily="34" charset="0"/>
                <a:ea typeface="Calibri" pitchFamily="34" charset="-122"/>
                <a:cs typeface="Calibri" pitchFamily="34" charset="-120"/>
              </a:rPr>
              <a:t>Lê Minh Quân</a:t>
            </a:r>
            <a:endParaRPr lang="en-US" sz="1350" dirty="0"/>
          </a:p>
        </p:txBody>
      </p:sp>
      <p:sp>
        <p:nvSpPr>
          <p:cNvPr id="20" name="Text 15"/>
          <p:cNvSpPr txBox="1"/>
          <p:nvPr/>
        </p:nvSpPr>
        <p:spPr>
          <a:xfrm>
            <a:off x="2697480" y="5916168"/>
            <a:ext cx="2103120" cy="237744"/>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Thành viên</a:t>
            </a:r>
            <a:endParaRPr lang="en-US" sz="1150" dirty="0"/>
          </a:p>
        </p:txBody>
      </p:sp>
      <p:sp>
        <p:nvSpPr>
          <p:cNvPr id="21" name="Shape 16"/>
          <p:cNvSpPr/>
          <p:nvPr/>
        </p:nvSpPr>
        <p:spPr>
          <a:xfrm>
            <a:off x="4937760" y="4480560"/>
            <a:ext cx="1143000" cy="1143000"/>
          </a:xfrm>
          <a:prstGeom prst="ellipse">
            <a:avLst/>
          </a:prstGeom>
          <a:solidFill>
            <a:srgbClr val="007BC0"/>
          </a:solidFill>
          <a:ln/>
        </p:spPr>
      </p:sp>
      <p:pic>
        <p:nvPicPr>
          <p:cNvPr id="22" name="Image 3" descr="img/face_thu.jpg">    </p:cNvPr>
          <p:cNvPicPr>
            <a:picLocks noChangeAspect="1"/>
          </p:cNvPicPr>
          <p:nvPr/>
        </p:nvPicPr>
        <p:blipFill>
          <a:blip r:embed="rId4"/>
          <a:stretch>
            <a:fillRect/>
          </a:stretch>
        </p:blipFill>
        <p:spPr>
          <a:xfrm>
            <a:off x="4983480" y="4526280"/>
            <a:ext cx="1051560" cy="1051560"/>
          </a:xfrm>
          <a:prstGeom prst="ellipse">
            <a:avLst/>
          </a:prstGeom>
        </p:spPr>
      </p:pic>
      <p:sp>
        <p:nvSpPr>
          <p:cNvPr id="23" name="Text 17"/>
          <p:cNvSpPr txBox="1"/>
          <p:nvPr/>
        </p:nvSpPr>
        <p:spPr>
          <a:xfrm>
            <a:off x="4892040" y="5650992"/>
            <a:ext cx="2103120" cy="274320"/>
          </a:xfrm>
          <a:prstGeom prst="rect">
            <a:avLst/>
          </a:prstGeom>
          <a:noFill/>
          <a:ln/>
        </p:spPr>
        <p:txBody>
          <a:bodyPr wrap="square" lIns="0" tIns="0" rIns="0" bIns="0" rtlCol="0" anchor="t"/>
          <a:lstStyle/>
          <a:p>
            <a:pPr indent="0" marL="0">
              <a:buNone/>
            </a:pPr>
            <a:r>
              <a:rPr lang="en-US" sz="1350" b="1" dirty="0">
                <a:solidFill>
                  <a:srgbClr val="1B2733"/>
                </a:solidFill>
                <a:latin typeface="Calibri" pitchFamily="34" charset="0"/>
                <a:ea typeface="Calibri" pitchFamily="34" charset="-122"/>
                <a:cs typeface="Calibri" pitchFamily="34" charset="-120"/>
              </a:rPr>
              <a:t>Lý Minh Thư</a:t>
            </a:r>
            <a:endParaRPr lang="en-US" sz="1350" dirty="0"/>
          </a:p>
        </p:txBody>
      </p:sp>
      <p:sp>
        <p:nvSpPr>
          <p:cNvPr id="24" name="Text 18"/>
          <p:cNvSpPr txBox="1"/>
          <p:nvPr/>
        </p:nvSpPr>
        <p:spPr>
          <a:xfrm>
            <a:off x="4892040" y="5916168"/>
            <a:ext cx="2103120" cy="237744"/>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Thành viên</a:t>
            </a:r>
            <a:endParaRPr lang="en-US" sz="1150" dirty="0"/>
          </a:p>
        </p:txBody>
      </p:sp>
      <p:sp>
        <p:nvSpPr>
          <p:cNvPr id="25" name="Shape 19"/>
          <p:cNvSpPr/>
          <p:nvPr/>
        </p:nvSpPr>
        <p:spPr>
          <a:xfrm>
            <a:off x="7132320" y="4480560"/>
            <a:ext cx="1143000" cy="1143000"/>
          </a:xfrm>
          <a:prstGeom prst="ellipse">
            <a:avLst/>
          </a:prstGeom>
          <a:solidFill>
            <a:srgbClr val="00884A"/>
          </a:solidFill>
          <a:ln/>
        </p:spPr>
      </p:sp>
      <p:pic>
        <p:nvPicPr>
          <p:cNvPr id="26" name="Image 4" descr="img/face_phong.jpg">    </p:cNvPr>
          <p:cNvPicPr>
            <a:picLocks noChangeAspect="1"/>
          </p:cNvPicPr>
          <p:nvPr/>
        </p:nvPicPr>
        <p:blipFill>
          <a:blip r:embed="rId5"/>
          <a:stretch>
            <a:fillRect/>
          </a:stretch>
        </p:blipFill>
        <p:spPr>
          <a:xfrm>
            <a:off x="7178040" y="4526280"/>
            <a:ext cx="1051560" cy="1051560"/>
          </a:xfrm>
          <a:prstGeom prst="ellipse">
            <a:avLst/>
          </a:prstGeom>
        </p:spPr>
      </p:pic>
      <p:sp>
        <p:nvSpPr>
          <p:cNvPr id="27" name="Text 20"/>
          <p:cNvSpPr txBox="1"/>
          <p:nvPr/>
        </p:nvSpPr>
        <p:spPr>
          <a:xfrm>
            <a:off x="7086600" y="5650992"/>
            <a:ext cx="2103120" cy="274320"/>
          </a:xfrm>
          <a:prstGeom prst="rect">
            <a:avLst/>
          </a:prstGeom>
          <a:noFill/>
          <a:ln/>
        </p:spPr>
        <p:txBody>
          <a:bodyPr wrap="square" lIns="0" tIns="0" rIns="0" bIns="0" rtlCol="0" anchor="t"/>
          <a:lstStyle/>
          <a:p>
            <a:pPr indent="0" marL="0">
              <a:buNone/>
            </a:pPr>
            <a:r>
              <a:rPr lang="en-US" sz="1350" b="1" dirty="0">
                <a:solidFill>
                  <a:srgbClr val="1B2733"/>
                </a:solidFill>
                <a:latin typeface="Calibri" pitchFamily="34" charset="0"/>
                <a:ea typeface="Calibri" pitchFamily="34" charset="-122"/>
                <a:cs typeface="Calibri" pitchFamily="34" charset="-120"/>
              </a:rPr>
              <a:t>Dương Thành Phong</a:t>
            </a:r>
            <a:endParaRPr lang="en-US" sz="1350" dirty="0"/>
          </a:p>
        </p:txBody>
      </p:sp>
      <p:sp>
        <p:nvSpPr>
          <p:cNvPr id="28" name="Text 21"/>
          <p:cNvSpPr txBox="1"/>
          <p:nvPr/>
        </p:nvSpPr>
        <p:spPr>
          <a:xfrm>
            <a:off x="7086600" y="5916168"/>
            <a:ext cx="2103120" cy="237744"/>
          </a:xfrm>
          <a:prstGeom prst="rect">
            <a:avLst/>
          </a:prstGeom>
          <a:noFill/>
          <a:ln/>
        </p:spPr>
        <p:txBody>
          <a:bodyPr wrap="square" lIns="0" tIns="0" rIns="0" bIns="0" rtlCol="0" anchor="t"/>
          <a:lstStyle/>
          <a:p>
            <a:pPr indent="0" marL="0">
              <a:buNone/>
            </a:pPr>
            <a:r>
              <a:rPr lang="en-US" sz="1150" b="1" dirty="0">
                <a:solidFill>
                  <a:srgbClr val="00884A"/>
                </a:solidFill>
                <a:latin typeface="Calibri" pitchFamily="34" charset="0"/>
                <a:ea typeface="Calibri" pitchFamily="34" charset="-122"/>
                <a:cs typeface="Calibri" pitchFamily="34" charset="-120"/>
              </a:rPr>
              <a:t>Mentor</a:t>
            </a:r>
            <a:endParaRPr lang="en-US" sz="1150" dirty="0"/>
          </a:p>
        </p:txBody>
      </p:sp>
      <p:pic>
        <p:nvPicPr>
          <p:cNvPr id="29" name="Image 5" descr="img/milo_wave.png">    </p:cNvPr>
          <p:cNvPicPr>
            <a:picLocks noChangeAspect="1"/>
          </p:cNvPicPr>
          <p:nvPr/>
        </p:nvPicPr>
        <p:blipFill>
          <a:blip r:embed="rId6"/>
          <a:stretch>
            <a:fillRect/>
          </a:stretch>
        </p:blipFill>
        <p:spPr>
          <a:xfrm>
            <a:off x="9464040" y="4343400"/>
            <a:ext cx="1600200" cy="1801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E20015"/>
                </a:solidFill>
                <a:latin typeface="Calibri" pitchFamily="34" charset="0"/>
                <a:ea typeface="Calibri" pitchFamily="34" charset="-122"/>
                <a:cs typeface="Calibri" pitchFamily="34" charset="-120"/>
              </a:rPr>
              <a:t>01 · VẤN ĐỀ · TINH THẦN</a:t>
            </a:r>
            <a:endParaRPr lang="en-US" sz="1200" dirty="0"/>
          </a:p>
        </p:txBody>
      </p:sp>
      <p:sp>
        <p:nvSpPr>
          <p:cNvPr id="3" name="Text 1"/>
          <p:cNvSpPr txBox="1"/>
          <p:nvPr/>
        </p:nvSpPr>
        <p:spPr>
          <a:xfrm>
            <a:off x="594360" y="713232"/>
            <a:ext cx="10881360" cy="64008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Người đi làm đang cạn năng lượng</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2</a:t>
            </a:r>
            <a:endParaRPr lang="en-US" sz="950" dirty="0"/>
          </a:p>
        </p:txBody>
      </p:sp>
      <p:sp>
        <p:nvSpPr>
          <p:cNvPr id="9" name="Text 7"/>
          <p:cNvSpPr txBox="1"/>
          <p:nvPr/>
        </p:nvSpPr>
        <p:spPr>
          <a:xfrm>
            <a:off x="548640" y="1600200"/>
            <a:ext cx="4572000" cy="1828800"/>
          </a:xfrm>
          <a:prstGeom prst="rect">
            <a:avLst/>
          </a:prstGeom>
          <a:noFill/>
          <a:ln/>
        </p:spPr>
        <p:txBody>
          <a:bodyPr wrap="square" lIns="0" tIns="0" rIns="0" bIns="0" rtlCol="0" anchor="ctr"/>
          <a:lstStyle/>
          <a:p>
            <a:pPr indent="0" marL="0">
              <a:buNone/>
            </a:pPr>
            <a:r>
              <a:rPr lang="en-US" sz="14000" b="1" dirty="0">
                <a:solidFill>
                  <a:srgbClr val="E20015"/>
                </a:solidFill>
                <a:latin typeface="Calibri" pitchFamily="34" charset="0"/>
                <a:ea typeface="Calibri" pitchFamily="34" charset="-122"/>
                <a:cs typeface="Calibri" pitchFamily="34" charset="-120"/>
              </a:rPr>
              <a:t>40%</a:t>
            </a:r>
            <a:endParaRPr lang="en-US" sz="14000" dirty="0"/>
          </a:p>
        </p:txBody>
      </p:sp>
      <p:sp>
        <p:nvSpPr>
          <p:cNvPr id="10" name="Text 8"/>
          <p:cNvSpPr txBox="1"/>
          <p:nvPr/>
        </p:nvSpPr>
        <p:spPr>
          <a:xfrm>
            <a:off x="594360" y="3474720"/>
            <a:ext cx="4389120" cy="1005840"/>
          </a:xfrm>
          <a:prstGeom prst="rect">
            <a:avLst/>
          </a:prstGeom>
          <a:noFill/>
          <a:ln/>
        </p:spPr>
        <p:txBody>
          <a:bodyPr wrap="square" lIns="0" tIns="0" rIns="0" bIns="0" rtlCol="0" anchor="t"/>
          <a:lstStyle/>
          <a:p>
            <a:pPr indent="0" marL="0">
              <a:buNone/>
            </a:pPr>
            <a:r>
              <a:rPr lang="en-US" sz="2100" b="1" dirty="0">
                <a:solidFill>
                  <a:srgbClr val="1B2733"/>
                </a:solidFill>
                <a:latin typeface="Calibri" pitchFamily="34" charset="0"/>
                <a:ea typeface="Calibri" pitchFamily="34" charset="-122"/>
                <a:cs typeface="Calibri" pitchFamily="34" charset="-120"/>
              </a:rPr>
              <a:t>nhân viên trên toàn cầu cho biết họ đã căng thẳng nhiều trong ngày hôm trước</a:t>
            </a:r>
            <a:endParaRPr lang="en-US" sz="2100" dirty="0"/>
          </a:p>
        </p:txBody>
      </p:sp>
      <p:sp>
        <p:nvSpPr>
          <p:cNvPr id="11" name="Text 9"/>
          <p:cNvSpPr txBox="1"/>
          <p:nvPr/>
        </p:nvSpPr>
        <p:spPr>
          <a:xfrm>
            <a:off x="594360" y="4572000"/>
            <a:ext cx="4389120" cy="274320"/>
          </a:xfrm>
          <a:prstGeom prst="rect">
            <a:avLst/>
          </a:prstGeom>
          <a:noFill/>
          <a:ln/>
        </p:spPr>
        <p:txBody>
          <a:bodyPr wrap="square" lIns="0" tIns="0" rIns="0" bIns="0" rtlCol="0" anchor="t"/>
          <a:lstStyle/>
          <a:p>
            <a:pPr indent="0" marL="0">
              <a:buNone/>
            </a:pPr>
            <a:r>
              <a:rPr lang="en-US" sz="1200" dirty="0">
                <a:solidFill>
                  <a:srgbClr val="667584"/>
                </a:solidFill>
                <a:latin typeface="Calibri" pitchFamily="34" charset="0"/>
                <a:ea typeface="Calibri" pitchFamily="34" charset="-122"/>
                <a:cs typeface="Calibri" pitchFamily="34" charset="-120"/>
              </a:rPr>
              <a:t>Gallup, State of the Global Workplace 2025</a:t>
            </a:r>
            <a:endParaRPr lang="en-US" sz="1200" dirty="0"/>
          </a:p>
        </p:txBody>
      </p:sp>
      <p:sp>
        <p:nvSpPr>
          <p:cNvPr id="12" name="Shape 10"/>
          <p:cNvSpPr/>
          <p:nvPr/>
        </p:nvSpPr>
        <p:spPr>
          <a:xfrm>
            <a:off x="5349240" y="1600200"/>
            <a:ext cx="6245352" cy="3200400"/>
          </a:xfrm>
          <a:prstGeom prst="roundRect">
            <a:avLst>
              <a:gd name="adj" fmla="val 2857"/>
            </a:avLst>
          </a:prstGeom>
          <a:solidFill>
            <a:srgbClr val="FFFFFF"/>
          </a:solidFill>
          <a:ln w="12700">
            <a:solidFill>
              <a:srgbClr val="D9DFE6"/>
            </a:solidFill>
            <a:prstDash val="solid"/>
          </a:ln>
        </p:spPr>
      </p:sp>
      <p:sp>
        <p:nvSpPr>
          <p:cNvPr id="13" name="Text 11"/>
          <p:cNvSpPr txBox="1"/>
          <p:nvPr/>
        </p:nvSpPr>
        <p:spPr>
          <a:xfrm>
            <a:off x="5623560" y="1783080"/>
            <a:ext cx="5669280" cy="320040"/>
          </a:xfrm>
          <a:prstGeom prst="rect">
            <a:avLst/>
          </a:prstGeom>
          <a:noFill/>
          <a:ln/>
        </p:spPr>
        <p:txBody>
          <a:bodyPr wrap="square" lIns="0" tIns="0" rIns="0" bIns="0" rtlCol="0" anchor="t"/>
          <a:lstStyle/>
          <a:p>
            <a:pPr indent="0" marL="0">
              <a:buNone/>
            </a:pPr>
            <a:r>
              <a:rPr lang="en-US" sz="1500" b="1" dirty="0">
                <a:solidFill>
                  <a:srgbClr val="1B2733"/>
                </a:solidFill>
                <a:latin typeface="Calibri" pitchFamily="34" charset="0"/>
                <a:ea typeface="Calibri" pitchFamily="34" charset="-122"/>
                <a:cs typeface="Calibri" pitchFamily="34" charset="-120"/>
              </a:rPr>
              <a:t>Mức độ gắn kết với công việc trên toàn cầu (2025)</a:t>
            </a:r>
            <a:endParaRPr lang="en-US" sz="1500" dirty="0"/>
          </a:p>
        </p:txBody>
      </p:sp>
      <p:graphicFrame>
        <p:nvGraphicFramePr>
          <p:cNvPr id="14" name="Chart 0" descr=""/>
          <p:cNvGraphicFramePr/>
          <p:nvPr/>
        </p:nvGraphicFramePr>
        <p:xfrm>
          <a:off x="5532120" y="2194560"/>
          <a:ext cx="2651760" cy="25146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5532120" y="3108960"/>
            <a:ext cx="2651760" cy="685800"/>
          </a:xfrm>
          <a:prstGeom prst="rect">
            <a:avLst/>
          </a:prstGeom>
          <a:noFill/>
          <a:ln/>
        </p:spPr>
        <p:txBody>
          <a:bodyPr wrap="square" lIns="0" tIns="0" rIns="0" bIns="0" rtlCol="0" anchor="ctr"/>
          <a:lstStyle/>
          <a:p>
            <a:pPr algn="ctr" indent="0" marL="0">
              <a:buNone/>
            </a:pPr>
            <a:r>
              <a:rPr lang="en-US" sz="3400" b="1" dirty="0">
                <a:solidFill>
                  <a:srgbClr val="007BC0"/>
                </a:solidFill>
                <a:latin typeface="Calibri" pitchFamily="34" charset="0"/>
                <a:ea typeface="Calibri" pitchFamily="34" charset="-122"/>
                <a:cs typeface="Calibri" pitchFamily="34" charset="-120"/>
              </a:rPr>
              <a:t>21%</a:t>
            </a:r>
            <a:endParaRPr lang="en-US" sz="3400" dirty="0"/>
          </a:p>
        </p:txBody>
      </p:sp>
      <p:sp>
        <p:nvSpPr>
          <p:cNvPr id="16" name="Shape 13"/>
          <p:cNvSpPr/>
          <p:nvPr/>
        </p:nvSpPr>
        <p:spPr>
          <a:xfrm>
            <a:off x="8412480" y="2496312"/>
            <a:ext cx="201168" cy="201168"/>
          </a:xfrm>
          <a:prstGeom prst="rect">
            <a:avLst/>
          </a:prstGeom>
          <a:solidFill>
            <a:srgbClr val="007BC0"/>
          </a:solidFill>
          <a:ln/>
        </p:spPr>
      </p:sp>
      <p:sp>
        <p:nvSpPr>
          <p:cNvPr id="17" name="Text 14"/>
          <p:cNvSpPr txBox="1"/>
          <p:nvPr/>
        </p:nvSpPr>
        <p:spPr>
          <a:xfrm>
            <a:off x="8732520" y="2423160"/>
            <a:ext cx="822960" cy="384048"/>
          </a:xfrm>
          <a:prstGeom prst="rect">
            <a:avLst/>
          </a:prstGeom>
          <a:noFill/>
          <a:ln/>
        </p:spPr>
        <p:txBody>
          <a:bodyPr wrap="square" lIns="0" tIns="0" rIns="0" bIns="0" rtlCol="0" anchor="ctr"/>
          <a:lstStyle/>
          <a:p>
            <a:pPr indent="0" marL="0">
              <a:buNone/>
            </a:pPr>
            <a:r>
              <a:rPr lang="en-US" sz="2200" b="1" dirty="0">
                <a:solidFill>
                  <a:srgbClr val="1B2733"/>
                </a:solidFill>
                <a:latin typeface="Calibri" pitchFamily="34" charset="0"/>
                <a:ea typeface="Calibri" pitchFamily="34" charset="-122"/>
                <a:cs typeface="Calibri" pitchFamily="34" charset="-120"/>
              </a:rPr>
              <a:t>21%</a:t>
            </a:r>
            <a:endParaRPr lang="en-US" sz="2200" dirty="0"/>
          </a:p>
        </p:txBody>
      </p:sp>
      <p:sp>
        <p:nvSpPr>
          <p:cNvPr id="18" name="Text 15"/>
          <p:cNvSpPr txBox="1"/>
          <p:nvPr/>
        </p:nvSpPr>
        <p:spPr>
          <a:xfrm>
            <a:off x="9555480" y="2423160"/>
            <a:ext cx="1920240" cy="457200"/>
          </a:xfrm>
          <a:prstGeom prst="rect">
            <a:avLst/>
          </a:prstGeom>
          <a:noFill/>
          <a:ln/>
        </p:spPr>
        <p:txBody>
          <a:bodyPr wrap="square" lIns="0" tIns="0" rIns="0" bIns="0" rtlCol="0" anchor="ctr"/>
          <a:lstStyle/>
          <a:p>
            <a:pPr indent="0" marL="0">
              <a:buNone/>
            </a:pPr>
            <a:r>
              <a:rPr lang="en-US" sz="1250" dirty="0">
                <a:solidFill>
                  <a:srgbClr val="3D4B59"/>
                </a:solidFill>
                <a:latin typeface="Calibri" pitchFamily="34" charset="0"/>
                <a:ea typeface="Calibri" pitchFamily="34" charset="-122"/>
                <a:cs typeface="Calibri" pitchFamily="34" charset="-120"/>
              </a:rPr>
              <a:t>gắn kết với công việc</a:t>
            </a:r>
            <a:endParaRPr lang="en-US" sz="1250" dirty="0"/>
          </a:p>
        </p:txBody>
      </p:sp>
      <p:sp>
        <p:nvSpPr>
          <p:cNvPr id="19" name="Shape 16"/>
          <p:cNvSpPr/>
          <p:nvPr/>
        </p:nvSpPr>
        <p:spPr>
          <a:xfrm>
            <a:off x="8412480" y="3182112"/>
            <a:ext cx="201168" cy="201168"/>
          </a:xfrm>
          <a:prstGeom prst="rect">
            <a:avLst/>
          </a:prstGeom>
          <a:solidFill>
            <a:srgbClr val="B7C1CC"/>
          </a:solidFill>
          <a:ln/>
        </p:spPr>
      </p:sp>
      <p:sp>
        <p:nvSpPr>
          <p:cNvPr id="20" name="Text 17"/>
          <p:cNvSpPr txBox="1"/>
          <p:nvPr/>
        </p:nvSpPr>
        <p:spPr>
          <a:xfrm>
            <a:off x="8732520" y="3108960"/>
            <a:ext cx="822960" cy="384048"/>
          </a:xfrm>
          <a:prstGeom prst="rect">
            <a:avLst/>
          </a:prstGeom>
          <a:noFill/>
          <a:ln/>
        </p:spPr>
        <p:txBody>
          <a:bodyPr wrap="square" lIns="0" tIns="0" rIns="0" bIns="0" rtlCol="0" anchor="ctr"/>
          <a:lstStyle/>
          <a:p>
            <a:pPr indent="0" marL="0">
              <a:buNone/>
            </a:pPr>
            <a:r>
              <a:rPr lang="en-US" sz="2200" b="1" dirty="0">
                <a:solidFill>
                  <a:srgbClr val="1B2733"/>
                </a:solidFill>
                <a:latin typeface="Calibri" pitchFamily="34" charset="0"/>
                <a:ea typeface="Calibri" pitchFamily="34" charset="-122"/>
                <a:cs typeface="Calibri" pitchFamily="34" charset="-120"/>
              </a:rPr>
              <a:t>62%</a:t>
            </a:r>
            <a:endParaRPr lang="en-US" sz="2200" dirty="0"/>
          </a:p>
        </p:txBody>
      </p:sp>
      <p:sp>
        <p:nvSpPr>
          <p:cNvPr id="21" name="Text 18"/>
          <p:cNvSpPr txBox="1"/>
          <p:nvPr/>
        </p:nvSpPr>
        <p:spPr>
          <a:xfrm>
            <a:off x="9555480" y="3108960"/>
            <a:ext cx="1920240" cy="457200"/>
          </a:xfrm>
          <a:prstGeom prst="rect">
            <a:avLst/>
          </a:prstGeom>
          <a:noFill/>
          <a:ln/>
        </p:spPr>
        <p:txBody>
          <a:bodyPr wrap="square" lIns="0" tIns="0" rIns="0" bIns="0" rtlCol="0" anchor="ctr"/>
          <a:lstStyle/>
          <a:p>
            <a:pPr indent="0" marL="0">
              <a:buNone/>
            </a:pPr>
            <a:r>
              <a:rPr lang="en-US" sz="1250" dirty="0">
                <a:solidFill>
                  <a:srgbClr val="3D4B59"/>
                </a:solidFill>
                <a:latin typeface="Calibri" pitchFamily="34" charset="0"/>
                <a:ea typeface="Calibri" pitchFamily="34" charset="-122"/>
                <a:cs typeface="Calibri" pitchFamily="34" charset="-120"/>
              </a:rPr>
              <a:t>chưa gắn kết</a:t>
            </a:r>
            <a:endParaRPr lang="en-US" sz="1250" dirty="0"/>
          </a:p>
        </p:txBody>
      </p:sp>
      <p:sp>
        <p:nvSpPr>
          <p:cNvPr id="22" name="Shape 19"/>
          <p:cNvSpPr/>
          <p:nvPr/>
        </p:nvSpPr>
        <p:spPr>
          <a:xfrm>
            <a:off x="8412480" y="3867912"/>
            <a:ext cx="201168" cy="201168"/>
          </a:xfrm>
          <a:prstGeom prst="rect">
            <a:avLst/>
          </a:prstGeom>
          <a:solidFill>
            <a:srgbClr val="E20015"/>
          </a:solidFill>
          <a:ln/>
        </p:spPr>
      </p:sp>
      <p:sp>
        <p:nvSpPr>
          <p:cNvPr id="23" name="Text 20"/>
          <p:cNvSpPr txBox="1"/>
          <p:nvPr/>
        </p:nvSpPr>
        <p:spPr>
          <a:xfrm>
            <a:off x="8732520" y="3794760"/>
            <a:ext cx="822960" cy="384048"/>
          </a:xfrm>
          <a:prstGeom prst="rect">
            <a:avLst/>
          </a:prstGeom>
          <a:noFill/>
          <a:ln/>
        </p:spPr>
        <p:txBody>
          <a:bodyPr wrap="square" lIns="0" tIns="0" rIns="0" bIns="0" rtlCol="0" anchor="ctr"/>
          <a:lstStyle/>
          <a:p>
            <a:pPr indent="0" marL="0">
              <a:buNone/>
            </a:pPr>
            <a:r>
              <a:rPr lang="en-US" sz="2200" b="1" dirty="0">
                <a:solidFill>
                  <a:srgbClr val="1B2733"/>
                </a:solidFill>
                <a:latin typeface="Calibri" pitchFamily="34" charset="0"/>
                <a:ea typeface="Calibri" pitchFamily="34" charset="-122"/>
                <a:cs typeface="Calibri" pitchFamily="34" charset="-120"/>
              </a:rPr>
              <a:t>17%</a:t>
            </a:r>
            <a:endParaRPr lang="en-US" sz="2200" dirty="0"/>
          </a:p>
        </p:txBody>
      </p:sp>
      <p:sp>
        <p:nvSpPr>
          <p:cNvPr id="24" name="Text 21"/>
          <p:cNvSpPr txBox="1"/>
          <p:nvPr/>
        </p:nvSpPr>
        <p:spPr>
          <a:xfrm>
            <a:off x="9555480" y="3794760"/>
            <a:ext cx="1920240" cy="457200"/>
          </a:xfrm>
          <a:prstGeom prst="rect">
            <a:avLst/>
          </a:prstGeom>
          <a:noFill/>
          <a:ln/>
        </p:spPr>
        <p:txBody>
          <a:bodyPr wrap="square" lIns="0" tIns="0" rIns="0" bIns="0" rtlCol="0" anchor="ctr"/>
          <a:lstStyle/>
          <a:p>
            <a:pPr indent="0" marL="0">
              <a:buNone/>
            </a:pPr>
            <a:r>
              <a:rPr lang="en-US" sz="1250" dirty="0">
                <a:solidFill>
                  <a:srgbClr val="3D4B59"/>
                </a:solidFill>
                <a:latin typeface="Calibri" pitchFamily="34" charset="0"/>
                <a:ea typeface="Calibri" pitchFamily="34" charset="-122"/>
                <a:cs typeface="Calibri" pitchFamily="34" charset="-120"/>
              </a:rPr>
              <a:t>chán việc, tiêu cực (actively disengaged)</a:t>
            </a:r>
            <a:endParaRPr lang="en-US" sz="1250" dirty="0"/>
          </a:p>
        </p:txBody>
      </p:sp>
      <p:sp>
        <p:nvSpPr>
          <p:cNvPr id="25" name="Shape 22"/>
          <p:cNvSpPr/>
          <p:nvPr/>
        </p:nvSpPr>
        <p:spPr>
          <a:xfrm>
            <a:off x="594360" y="4983480"/>
            <a:ext cx="11000232" cy="1097280"/>
          </a:xfrm>
          <a:prstGeom prst="roundRect">
            <a:avLst>
              <a:gd name="adj" fmla="val 8333"/>
            </a:avLst>
          </a:prstGeom>
          <a:solidFill>
            <a:srgbClr val="F3F5F8"/>
          </a:solidFill>
          <a:ln w="12700">
            <a:solidFill>
              <a:srgbClr val="F3F5F8"/>
            </a:solidFill>
            <a:prstDash val="solid"/>
          </a:ln>
        </p:spPr>
      </p:sp>
      <p:sp>
        <p:nvSpPr>
          <p:cNvPr id="26" name="Text 23"/>
          <p:cNvSpPr txBox="1"/>
          <p:nvPr/>
        </p:nvSpPr>
        <p:spPr>
          <a:xfrm>
            <a:off x="868680" y="5074920"/>
            <a:ext cx="3383280" cy="457200"/>
          </a:xfrm>
          <a:prstGeom prst="rect">
            <a:avLst/>
          </a:prstGeom>
          <a:noFill/>
          <a:ln/>
        </p:spPr>
        <p:txBody>
          <a:bodyPr wrap="square" lIns="0" tIns="0" rIns="0" bIns="0" rtlCol="0" anchor="t"/>
          <a:lstStyle/>
          <a:p>
            <a:pPr indent="0" marL="0">
              <a:buNone/>
            </a:pPr>
            <a:r>
              <a:rPr lang="en-US" sz="2600" b="1" dirty="0">
                <a:solidFill>
                  <a:srgbClr val="007BC0"/>
                </a:solidFill>
                <a:latin typeface="Calibri" pitchFamily="34" charset="0"/>
                <a:ea typeface="Calibri" pitchFamily="34" charset="-122"/>
                <a:cs typeface="Calibri" pitchFamily="34" charset="-120"/>
              </a:rPr>
              <a:t>12 tỷ</a:t>
            </a:r>
            <a:endParaRPr lang="en-US" sz="2600" dirty="0"/>
          </a:p>
        </p:txBody>
      </p:sp>
      <p:sp>
        <p:nvSpPr>
          <p:cNvPr id="27" name="Text 24"/>
          <p:cNvSpPr txBox="1"/>
          <p:nvPr/>
        </p:nvSpPr>
        <p:spPr>
          <a:xfrm>
            <a:off x="868680" y="5559552"/>
            <a:ext cx="3291840" cy="457200"/>
          </a:xfrm>
          <a:prstGeom prst="rect">
            <a:avLst/>
          </a:prstGeom>
          <a:noFill/>
          <a:ln/>
        </p:spPr>
        <p:txBody>
          <a:bodyPr wrap="square" lIns="0" tIns="0" rIns="0" bIns="0" rtlCol="0" anchor="t"/>
          <a:lstStyle/>
          <a:p>
            <a:pPr indent="0" marL="0">
              <a:buNone/>
            </a:pPr>
            <a:r>
              <a:rPr lang="en-US" sz="1200" dirty="0">
                <a:solidFill>
                  <a:srgbClr val="3D4B59"/>
                </a:solidFill>
                <a:latin typeface="Calibri" pitchFamily="34" charset="0"/>
                <a:ea typeface="Calibri" pitchFamily="34" charset="-122"/>
                <a:cs typeface="Calibri" pitchFamily="34" charset="-120"/>
              </a:rPr>
              <a:t>ngày công mất mỗi năm vì trầm cảm và lo âu (WHO)</a:t>
            </a:r>
            <a:endParaRPr lang="en-US" sz="1200" dirty="0"/>
          </a:p>
        </p:txBody>
      </p:sp>
      <p:sp>
        <p:nvSpPr>
          <p:cNvPr id="28" name="Text 25"/>
          <p:cNvSpPr txBox="1"/>
          <p:nvPr/>
        </p:nvSpPr>
        <p:spPr>
          <a:xfrm>
            <a:off x="4480560" y="5074920"/>
            <a:ext cx="3383280" cy="457200"/>
          </a:xfrm>
          <a:prstGeom prst="rect">
            <a:avLst/>
          </a:prstGeom>
          <a:noFill/>
          <a:ln/>
        </p:spPr>
        <p:txBody>
          <a:bodyPr wrap="square" lIns="0" tIns="0" rIns="0" bIns="0" rtlCol="0" anchor="t"/>
          <a:lstStyle/>
          <a:p>
            <a:pPr indent="0" marL="0">
              <a:buNone/>
            </a:pPr>
            <a:r>
              <a:rPr lang="en-US" sz="2600" b="1" dirty="0">
                <a:solidFill>
                  <a:srgbClr val="007BC0"/>
                </a:solidFill>
                <a:latin typeface="Calibri" pitchFamily="34" charset="0"/>
                <a:ea typeface="Calibri" pitchFamily="34" charset="-122"/>
                <a:cs typeface="Calibri" pitchFamily="34" charset="-120"/>
              </a:rPr>
              <a:t>≈ 1.000 tỷ USD</a:t>
            </a:r>
            <a:endParaRPr lang="en-US" sz="2600" dirty="0"/>
          </a:p>
        </p:txBody>
      </p:sp>
      <p:sp>
        <p:nvSpPr>
          <p:cNvPr id="29" name="Text 26"/>
          <p:cNvSpPr txBox="1"/>
          <p:nvPr/>
        </p:nvSpPr>
        <p:spPr>
          <a:xfrm>
            <a:off x="4480560" y="5559552"/>
            <a:ext cx="3291840" cy="457200"/>
          </a:xfrm>
          <a:prstGeom prst="rect">
            <a:avLst/>
          </a:prstGeom>
          <a:noFill/>
          <a:ln/>
        </p:spPr>
        <p:txBody>
          <a:bodyPr wrap="square" lIns="0" tIns="0" rIns="0" bIns="0" rtlCol="0" anchor="t"/>
          <a:lstStyle/>
          <a:p>
            <a:pPr indent="0" marL="0">
              <a:buNone/>
            </a:pPr>
            <a:r>
              <a:rPr lang="en-US" sz="1200" dirty="0">
                <a:solidFill>
                  <a:srgbClr val="3D4B59"/>
                </a:solidFill>
                <a:latin typeface="Calibri" pitchFamily="34" charset="0"/>
                <a:ea typeface="Calibri" pitchFamily="34" charset="-122"/>
                <a:cs typeface="Calibri" pitchFamily="34" charset="-120"/>
              </a:rPr>
              <a:t>năng suất bị mất mỗi năm trên toàn cầu (WHO)</a:t>
            </a:r>
            <a:endParaRPr lang="en-US" sz="1200" dirty="0"/>
          </a:p>
        </p:txBody>
      </p:sp>
      <p:sp>
        <p:nvSpPr>
          <p:cNvPr id="30" name="Text 27"/>
          <p:cNvSpPr txBox="1"/>
          <p:nvPr/>
        </p:nvSpPr>
        <p:spPr>
          <a:xfrm>
            <a:off x="8092440" y="5074920"/>
            <a:ext cx="3383280" cy="457200"/>
          </a:xfrm>
          <a:prstGeom prst="rect">
            <a:avLst/>
          </a:prstGeom>
          <a:noFill/>
          <a:ln/>
        </p:spPr>
        <p:txBody>
          <a:bodyPr wrap="square" lIns="0" tIns="0" rIns="0" bIns="0" rtlCol="0" anchor="t"/>
          <a:lstStyle/>
          <a:p>
            <a:pPr indent="0" marL="0">
              <a:buNone/>
            </a:pPr>
            <a:r>
              <a:rPr lang="en-US" sz="2600" b="1" dirty="0">
                <a:solidFill>
                  <a:srgbClr val="007BC0"/>
                </a:solidFill>
                <a:latin typeface="Calibri" pitchFamily="34" charset="0"/>
                <a:ea typeface="Calibri" pitchFamily="34" charset="-122"/>
                <a:cs typeface="Calibri" pitchFamily="34" charset="-120"/>
              </a:rPr>
              <a:t>33%</a:t>
            </a:r>
            <a:endParaRPr lang="en-US" sz="2600" dirty="0"/>
          </a:p>
        </p:txBody>
      </p:sp>
      <p:sp>
        <p:nvSpPr>
          <p:cNvPr id="31" name="Text 28"/>
          <p:cNvSpPr txBox="1"/>
          <p:nvPr/>
        </p:nvSpPr>
        <p:spPr>
          <a:xfrm>
            <a:off x="8092440" y="5559552"/>
            <a:ext cx="3291840" cy="457200"/>
          </a:xfrm>
          <a:prstGeom prst="rect">
            <a:avLst/>
          </a:prstGeom>
          <a:noFill/>
          <a:ln/>
        </p:spPr>
        <p:txBody>
          <a:bodyPr wrap="square" lIns="0" tIns="0" rIns="0" bIns="0" rtlCol="0" anchor="t"/>
          <a:lstStyle/>
          <a:p>
            <a:pPr indent="0" marL="0">
              <a:buNone/>
            </a:pPr>
            <a:r>
              <a:rPr lang="en-US" sz="1200" dirty="0">
                <a:solidFill>
                  <a:srgbClr val="3D4B59"/>
                </a:solidFill>
                <a:latin typeface="Calibri" pitchFamily="34" charset="0"/>
                <a:ea typeface="Calibri" pitchFamily="34" charset="-122"/>
                <a:cs typeface="Calibri" pitchFamily="34" charset="-120"/>
              </a:rPr>
              <a:t>người lao động tự đánh giá cuộc sống ở mức “thriving” (Gallup)</a:t>
            </a:r>
            <a:endParaRPr lang="en-US" sz="1200" dirty="0"/>
          </a:p>
        </p:txBody>
      </p:sp>
      <p:sp>
        <p:nvSpPr>
          <p:cNvPr id="32" name="Text 29"/>
          <p:cNvSpPr txBox="1"/>
          <p:nvPr/>
        </p:nvSpPr>
        <p:spPr>
          <a:xfrm>
            <a:off x="594360" y="6163056"/>
            <a:ext cx="11002975" cy="219456"/>
          </a:xfrm>
          <a:prstGeom prst="rect">
            <a:avLst/>
          </a:prstGeom>
          <a:noFill/>
          <a:ln/>
        </p:spPr>
        <p:txBody>
          <a:bodyPr wrap="square" lIns="0" tIns="0" rIns="0" bIns="0" rtlCol="0" anchor="t"/>
          <a:lstStyle/>
          <a:p>
            <a:pPr indent="0" marL="0">
              <a:buNone/>
            </a:pPr>
            <a:r>
              <a:rPr lang="en-US" sz="950" i="1" dirty="0">
                <a:solidFill>
                  <a:srgbClr val="667584"/>
                </a:solidFill>
                <a:latin typeface="Calibri" pitchFamily="34" charset="0"/>
                <a:ea typeface="Calibri" pitchFamily="34" charset="-122"/>
                <a:cs typeface="Calibri" pitchFamily="34" charset="-120"/>
              </a:rPr>
              <a:t>Nguồn: Gallup, State of the Global Workplace 2025 (21% / 62% / 17%; 40% stress; 33% thriving) · WHO, Mental health at work.</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E20015"/>
                </a:solidFill>
                <a:latin typeface="Calibri" pitchFamily="34" charset="0"/>
                <a:ea typeface="Calibri" pitchFamily="34" charset="-122"/>
                <a:cs typeface="Calibri" pitchFamily="34" charset="-120"/>
              </a:rPr>
              <a:t>01 · VẤN ĐỀ · CƠ THỂ</a:t>
            </a:r>
            <a:endParaRPr lang="en-US" sz="1200" dirty="0"/>
          </a:p>
        </p:txBody>
      </p:sp>
      <p:sp>
        <p:nvSpPr>
          <p:cNvPr id="3" name="Text 1"/>
          <p:cNvSpPr txBox="1"/>
          <p:nvPr/>
        </p:nvSpPr>
        <p:spPr>
          <a:xfrm>
            <a:off x="594360" y="713232"/>
            <a:ext cx="10881360" cy="64008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Cơ thể lên tiếng trước khi ta kịp nhận ra</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3</a:t>
            </a:r>
            <a:endParaRPr lang="en-US" sz="950" dirty="0"/>
          </a:p>
        </p:txBody>
      </p:sp>
      <p:sp>
        <p:nvSpPr>
          <p:cNvPr id="9" name="Shape 7"/>
          <p:cNvSpPr/>
          <p:nvPr/>
        </p:nvSpPr>
        <p:spPr>
          <a:xfrm>
            <a:off x="594360" y="1691640"/>
            <a:ext cx="2606040" cy="3931920"/>
          </a:xfrm>
          <a:prstGeom prst="roundRect">
            <a:avLst>
              <a:gd name="adj" fmla="val 3509"/>
            </a:avLst>
          </a:prstGeom>
          <a:solidFill>
            <a:srgbClr val="FFFFFF"/>
          </a:solidFill>
          <a:ln w="12700">
            <a:solidFill>
              <a:srgbClr val="D9DFE6"/>
            </a:solidFill>
            <a:prstDash val="solid"/>
          </a:ln>
        </p:spPr>
      </p:sp>
      <p:sp>
        <p:nvSpPr>
          <p:cNvPr id="10" name="Shape 8"/>
          <p:cNvSpPr/>
          <p:nvPr/>
        </p:nvSpPr>
        <p:spPr>
          <a:xfrm>
            <a:off x="868680" y="1965960"/>
            <a:ext cx="685800" cy="685800"/>
          </a:xfrm>
          <a:prstGeom prst="ellipse">
            <a:avLst/>
          </a:prstGeom>
          <a:solidFill>
            <a:srgbClr val="E20015"/>
          </a:solidFill>
          <a:ln/>
        </p:spPr>
      </p:sp>
      <p:pic>
        <p:nvPicPr>
          <p:cNvPr id="11" name="Image 0" descr="preencoded.png">    </p:cNvPr>
          <p:cNvPicPr>
            <a:picLocks noChangeAspect="1"/>
          </p:cNvPicPr>
          <p:nvPr/>
        </p:nvPicPr>
        <p:blipFill>
          <a:blip r:embed="rId1"/>
          <a:stretch>
            <a:fillRect/>
          </a:stretch>
        </p:blipFill>
        <p:spPr>
          <a:xfrm>
            <a:off x="1053846" y="2151126"/>
            <a:ext cx="315468" cy="315468"/>
          </a:xfrm>
          <a:prstGeom prst="rect">
            <a:avLst/>
          </a:prstGeom>
        </p:spPr>
      </p:pic>
      <p:sp>
        <p:nvSpPr>
          <p:cNvPr id="12" name="Text 9"/>
          <p:cNvSpPr txBox="1"/>
          <p:nvPr/>
        </p:nvSpPr>
        <p:spPr>
          <a:xfrm>
            <a:off x="1691640" y="1965960"/>
            <a:ext cx="1417320" cy="685800"/>
          </a:xfrm>
          <a:prstGeom prst="rect">
            <a:avLst/>
          </a:prstGeom>
          <a:noFill/>
          <a:ln/>
        </p:spPr>
        <p:txBody>
          <a:bodyPr wrap="square" lIns="0" tIns="0" rIns="0" bIns="0" rtlCol="0" anchor="ctr"/>
          <a:lstStyle/>
          <a:p>
            <a:pPr indent="0" marL="0">
              <a:buNone/>
            </a:pPr>
            <a:r>
              <a:rPr lang="en-US" sz="1500" b="1" dirty="0">
                <a:solidFill>
                  <a:srgbClr val="667584"/>
                </a:solidFill>
                <a:latin typeface="Calibri" pitchFamily="34" charset="0"/>
                <a:ea typeface="Calibri" pitchFamily="34" charset="-122"/>
                <a:cs typeface="Calibri" pitchFamily="34" charset="-120"/>
              </a:rPr>
              <a:t>Lưng</a:t>
            </a:r>
            <a:endParaRPr lang="en-US" sz="1500" dirty="0"/>
          </a:p>
        </p:txBody>
      </p:sp>
      <p:sp>
        <p:nvSpPr>
          <p:cNvPr id="13" name="Text 10"/>
          <p:cNvSpPr txBox="1"/>
          <p:nvPr/>
        </p:nvSpPr>
        <p:spPr>
          <a:xfrm>
            <a:off x="868680" y="2880360"/>
            <a:ext cx="2148840" cy="731520"/>
          </a:xfrm>
          <a:prstGeom prst="rect">
            <a:avLst/>
          </a:prstGeom>
          <a:noFill/>
          <a:ln/>
        </p:spPr>
        <p:txBody>
          <a:bodyPr wrap="square" lIns="0" tIns="0" rIns="0" bIns="0" rtlCol="0" anchor="ctr"/>
          <a:lstStyle/>
          <a:p>
            <a:pPr indent="0" marL="0">
              <a:buNone/>
            </a:pPr>
            <a:r>
              <a:rPr lang="en-US" sz="3400" b="1" dirty="0">
                <a:solidFill>
                  <a:srgbClr val="E20015"/>
                </a:solidFill>
                <a:latin typeface="Calibri" pitchFamily="34" charset="0"/>
                <a:ea typeface="Calibri" pitchFamily="34" charset="-122"/>
                <a:cs typeface="Calibri" pitchFamily="34" charset="-120"/>
              </a:rPr>
              <a:t>619 triệu</a:t>
            </a:r>
            <a:endParaRPr lang="en-US" sz="3400" dirty="0"/>
          </a:p>
        </p:txBody>
      </p:sp>
      <p:sp>
        <p:nvSpPr>
          <p:cNvPr id="14" name="Text 11"/>
          <p:cNvSpPr txBox="1"/>
          <p:nvPr/>
        </p:nvSpPr>
        <p:spPr>
          <a:xfrm>
            <a:off x="868680" y="3703320"/>
            <a:ext cx="2103120" cy="114300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người đau thắt lưng (2020), dự báo 843 triệu vào 2050 — nguyên nhân gây khuyết tật hàng đầu thế giới</a:t>
            </a:r>
            <a:endParaRPr lang="en-US" sz="1300" dirty="0"/>
          </a:p>
        </p:txBody>
      </p:sp>
      <p:sp>
        <p:nvSpPr>
          <p:cNvPr id="15" name="Text 12"/>
          <p:cNvSpPr txBox="1"/>
          <p:nvPr/>
        </p:nvSpPr>
        <p:spPr>
          <a:xfrm>
            <a:off x="868680" y="4983480"/>
            <a:ext cx="2103120" cy="457200"/>
          </a:xfrm>
          <a:prstGeom prst="rect">
            <a:avLst/>
          </a:prstGeom>
          <a:noFill/>
          <a:ln/>
        </p:spPr>
        <p:txBody>
          <a:bodyPr wrap="square" lIns="0" tIns="0" rIns="0" bIns="0" rtlCol="0" anchor="t"/>
          <a:lstStyle/>
          <a:p>
            <a:pPr indent="0" marL="0">
              <a:buNone/>
            </a:pPr>
            <a:r>
              <a:rPr lang="en-US" sz="1000" i="1" dirty="0">
                <a:solidFill>
                  <a:srgbClr val="667584"/>
                </a:solidFill>
                <a:latin typeface="Calibri" pitchFamily="34" charset="0"/>
                <a:ea typeface="Calibri" pitchFamily="34" charset="-122"/>
                <a:cs typeface="Calibri" pitchFamily="34" charset="-120"/>
              </a:rPr>
              <a:t>WHO · Lancet Rheumatology 2023</a:t>
            </a:r>
            <a:endParaRPr lang="en-US" sz="1000" dirty="0"/>
          </a:p>
        </p:txBody>
      </p:sp>
      <p:sp>
        <p:nvSpPr>
          <p:cNvPr id="16" name="Shape 13"/>
          <p:cNvSpPr/>
          <p:nvPr/>
        </p:nvSpPr>
        <p:spPr>
          <a:xfrm>
            <a:off x="3383280" y="1691640"/>
            <a:ext cx="2606040" cy="3931920"/>
          </a:xfrm>
          <a:prstGeom prst="roundRect">
            <a:avLst>
              <a:gd name="adj" fmla="val 3509"/>
            </a:avLst>
          </a:prstGeom>
          <a:solidFill>
            <a:srgbClr val="FFFFFF"/>
          </a:solidFill>
          <a:ln w="12700">
            <a:solidFill>
              <a:srgbClr val="D9DFE6"/>
            </a:solidFill>
            <a:prstDash val="solid"/>
          </a:ln>
        </p:spPr>
      </p:sp>
      <p:sp>
        <p:nvSpPr>
          <p:cNvPr id="17" name="Shape 14"/>
          <p:cNvSpPr/>
          <p:nvPr/>
        </p:nvSpPr>
        <p:spPr>
          <a:xfrm>
            <a:off x="3657600" y="1965960"/>
            <a:ext cx="685800" cy="685800"/>
          </a:xfrm>
          <a:prstGeom prst="ellipse">
            <a:avLst/>
          </a:prstGeom>
          <a:solidFill>
            <a:srgbClr val="007BC0"/>
          </a:solidFill>
          <a:ln/>
        </p:spPr>
      </p:sp>
      <p:pic>
        <p:nvPicPr>
          <p:cNvPr id="18" name="Image 1" descr="preencoded.png">    </p:cNvPr>
          <p:cNvPicPr>
            <a:picLocks noChangeAspect="1"/>
          </p:cNvPicPr>
          <p:nvPr/>
        </p:nvPicPr>
        <p:blipFill>
          <a:blip r:embed="rId2"/>
          <a:stretch>
            <a:fillRect/>
          </a:stretch>
        </p:blipFill>
        <p:spPr>
          <a:xfrm>
            <a:off x="3842766" y="2151126"/>
            <a:ext cx="315468" cy="315468"/>
          </a:xfrm>
          <a:prstGeom prst="rect">
            <a:avLst/>
          </a:prstGeom>
        </p:spPr>
      </p:pic>
      <p:sp>
        <p:nvSpPr>
          <p:cNvPr id="19" name="Text 15"/>
          <p:cNvSpPr txBox="1"/>
          <p:nvPr/>
        </p:nvSpPr>
        <p:spPr>
          <a:xfrm>
            <a:off x="4480560" y="1965960"/>
            <a:ext cx="1417320" cy="685800"/>
          </a:xfrm>
          <a:prstGeom prst="rect">
            <a:avLst/>
          </a:prstGeom>
          <a:noFill/>
          <a:ln/>
        </p:spPr>
        <p:txBody>
          <a:bodyPr wrap="square" lIns="0" tIns="0" rIns="0" bIns="0" rtlCol="0" anchor="ctr"/>
          <a:lstStyle/>
          <a:p>
            <a:pPr indent="0" marL="0">
              <a:buNone/>
            </a:pPr>
            <a:r>
              <a:rPr lang="en-US" sz="1500" b="1" dirty="0">
                <a:solidFill>
                  <a:srgbClr val="667584"/>
                </a:solidFill>
                <a:latin typeface="Calibri" pitchFamily="34" charset="0"/>
                <a:ea typeface="Calibri" pitchFamily="34" charset="-122"/>
                <a:cs typeface="Calibri" pitchFamily="34" charset="-120"/>
              </a:rPr>
              <a:t>Mắt</a:t>
            </a:r>
            <a:endParaRPr lang="en-US" sz="1500" dirty="0"/>
          </a:p>
        </p:txBody>
      </p:sp>
      <p:sp>
        <p:nvSpPr>
          <p:cNvPr id="20" name="Text 16"/>
          <p:cNvSpPr txBox="1"/>
          <p:nvPr/>
        </p:nvSpPr>
        <p:spPr>
          <a:xfrm>
            <a:off x="3657600" y="2880360"/>
            <a:ext cx="2148840" cy="731520"/>
          </a:xfrm>
          <a:prstGeom prst="rect">
            <a:avLst/>
          </a:prstGeom>
          <a:noFill/>
          <a:ln/>
        </p:spPr>
        <p:txBody>
          <a:bodyPr wrap="square" lIns="0" tIns="0" rIns="0" bIns="0" rtlCol="0" anchor="ctr"/>
          <a:lstStyle/>
          <a:p>
            <a:pPr indent="0" marL="0">
              <a:buNone/>
            </a:pPr>
            <a:r>
              <a:rPr lang="en-US" sz="3400" b="1" dirty="0">
                <a:solidFill>
                  <a:srgbClr val="E20015"/>
                </a:solidFill>
                <a:latin typeface="Calibri" pitchFamily="34" charset="0"/>
                <a:ea typeface="Calibri" pitchFamily="34" charset="-122"/>
                <a:cs typeface="Calibri" pitchFamily="34" charset="-120"/>
              </a:rPr>
              <a:t>66%</a:t>
            </a:r>
            <a:endParaRPr lang="en-US" sz="3400" dirty="0"/>
          </a:p>
        </p:txBody>
      </p:sp>
      <p:sp>
        <p:nvSpPr>
          <p:cNvPr id="21" name="Text 17"/>
          <p:cNvSpPr txBox="1"/>
          <p:nvPr/>
        </p:nvSpPr>
        <p:spPr>
          <a:xfrm>
            <a:off x="3657600" y="3703320"/>
            <a:ext cx="2103120" cy="114300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người dùng máy tính có triệu chứng mỏi mắt kỹ thuật số (khô, mờ, nhức); từ 12% đến 97% tuỳ quốc gia</a:t>
            </a:r>
            <a:endParaRPr lang="en-US" sz="1300" dirty="0"/>
          </a:p>
        </p:txBody>
      </p:sp>
      <p:sp>
        <p:nvSpPr>
          <p:cNvPr id="22" name="Text 18"/>
          <p:cNvSpPr txBox="1"/>
          <p:nvPr/>
        </p:nvSpPr>
        <p:spPr>
          <a:xfrm>
            <a:off x="3657600" y="4983480"/>
            <a:ext cx="2103120" cy="457200"/>
          </a:xfrm>
          <a:prstGeom prst="rect">
            <a:avLst/>
          </a:prstGeom>
          <a:noFill/>
          <a:ln/>
        </p:spPr>
        <p:txBody>
          <a:bodyPr wrap="square" lIns="0" tIns="0" rIns="0" bIns="0" rtlCol="0" anchor="t"/>
          <a:lstStyle/>
          <a:p>
            <a:pPr indent="0" marL="0">
              <a:buNone/>
            </a:pPr>
            <a:r>
              <a:rPr lang="en-US" sz="1000" i="1" dirty="0">
                <a:solidFill>
                  <a:srgbClr val="667584"/>
                </a:solidFill>
                <a:latin typeface="Calibri" pitchFamily="34" charset="0"/>
                <a:ea typeface="Calibri" pitchFamily="34" charset="-122"/>
                <a:cs typeface="Calibri" pitchFamily="34" charset="-120"/>
              </a:rPr>
              <a:t>Scientific Reports 2023 · 45 nghiên cứu, 17.526 người</a:t>
            </a:r>
            <a:endParaRPr lang="en-US" sz="1000" dirty="0"/>
          </a:p>
        </p:txBody>
      </p:sp>
      <p:sp>
        <p:nvSpPr>
          <p:cNvPr id="23" name="Shape 19"/>
          <p:cNvSpPr/>
          <p:nvPr/>
        </p:nvSpPr>
        <p:spPr>
          <a:xfrm>
            <a:off x="6172200" y="1691640"/>
            <a:ext cx="2606040" cy="3931920"/>
          </a:xfrm>
          <a:prstGeom prst="roundRect">
            <a:avLst>
              <a:gd name="adj" fmla="val 3509"/>
            </a:avLst>
          </a:prstGeom>
          <a:solidFill>
            <a:srgbClr val="FFFFFF"/>
          </a:solidFill>
          <a:ln w="12700">
            <a:solidFill>
              <a:srgbClr val="D9DFE6"/>
            </a:solidFill>
            <a:prstDash val="solid"/>
          </a:ln>
        </p:spPr>
      </p:sp>
      <p:sp>
        <p:nvSpPr>
          <p:cNvPr id="24" name="Shape 20"/>
          <p:cNvSpPr/>
          <p:nvPr/>
        </p:nvSpPr>
        <p:spPr>
          <a:xfrm>
            <a:off x="6446520" y="1965960"/>
            <a:ext cx="685800" cy="685800"/>
          </a:xfrm>
          <a:prstGeom prst="ellipse">
            <a:avLst/>
          </a:prstGeom>
          <a:solidFill>
            <a:srgbClr val="E20015"/>
          </a:solidFill>
          <a:ln/>
        </p:spPr>
      </p:sp>
      <p:pic>
        <p:nvPicPr>
          <p:cNvPr id="25" name="Image 2" descr="preencoded.png">    </p:cNvPr>
          <p:cNvPicPr>
            <a:picLocks noChangeAspect="1"/>
          </p:cNvPicPr>
          <p:nvPr/>
        </p:nvPicPr>
        <p:blipFill>
          <a:blip r:embed="rId3"/>
          <a:stretch>
            <a:fillRect/>
          </a:stretch>
        </p:blipFill>
        <p:spPr>
          <a:xfrm>
            <a:off x="6631686" y="2151126"/>
            <a:ext cx="315468" cy="315468"/>
          </a:xfrm>
          <a:prstGeom prst="rect">
            <a:avLst/>
          </a:prstGeom>
        </p:spPr>
      </p:pic>
      <p:sp>
        <p:nvSpPr>
          <p:cNvPr id="26" name="Text 21"/>
          <p:cNvSpPr txBox="1"/>
          <p:nvPr/>
        </p:nvSpPr>
        <p:spPr>
          <a:xfrm>
            <a:off x="7269480" y="1965960"/>
            <a:ext cx="1417320" cy="685800"/>
          </a:xfrm>
          <a:prstGeom prst="rect">
            <a:avLst/>
          </a:prstGeom>
          <a:noFill/>
          <a:ln/>
        </p:spPr>
        <p:txBody>
          <a:bodyPr wrap="square" lIns="0" tIns="0" rIns="0" bIns="0" rtlCol="0" anchor="ctr"/>
          <a:lstStyle/>
          <a:p>
            <a:pPr indent="0" marL="0">
              <a:buNone/>
            </a:pPr>
            <a:r>
              <a:rPr lang="en-US" sz="1500" b="1" dirty="0">
                <a:solidFill>
                  <a:srgbClr val="667584"/>
                </a:solidFill>
                <a:latin typeface="Calibri" pitchFamily="34" charset="0"/>
                <a:ea typeface="Calibri" pitchFamily="34" charset="-122"/>
                <a:cs typeface="Calibri" pitchFamily="34" charset="-120"/>
              </a:rPr>
              <a:t>Cổ · vai · gáy</a:t>
            </a:r>
            <a:endParaRPr lang="en-US" sz="1500" dirty="0"/>
          </a:p>
        </p:txBody>
      </p:sp>
      <p:sp>
        <p:nvSpPr>
          <p:cNvPr id="27" name="Text 22"/>
          <p:cNvSpPr txBox="1"/>
          <p:nvPr/>
        </p:nvSpPr>
        <p:spPr>
          <a:xfrm>
            <a:off x="6446520" y="2880360"/>
            <a:ext cx="2148840" cy="731520"/>
          </a:xfrm>
          <a:prstGeom prst="rect">
            <a:avLst/>
          </a:prstGeom>
          <a:noFill/>
          <a:ln/>
        </p:spPr>
        <p:txBody>
          <a:bodyPr wrap="square" lIns="0" tIns="0" rIns="0" bIns="0" rtlCol="0" anchor="ctr"/>
          <a:lstStyle/>
          <a:p>
            <a:pPr indent="0" marL="0">
              <a:buNone/>
            </a:pPr>
            <a:r>
              <a:rPr lang="en-US" sz="3400" b="1" dirty="0">
                <a:solidFill>
                  <a:srgbClr val="E20015"/>
                </a:solidFill>
                <a:latin typeface="Calibri" pitchFamily="34" charset="0"/>
                <a:ea typeface="Calibri" pitchFamily="34" charset="-122"/>
                <a:cs typeface="Calibri" pitchFamily="34" charset="-120"/>
              </a:rPr>
              <a:t>42–63%</a:t>
            </a:r>
            <a:endParaRPr lang="en-US" sz="3400" dirty="0"/>
          </a:p>
        </p:txBody>
      </p:sp>
      <p:sp>
        <p:nvSpPr>
          <p:cNvPr id="28" name="Text 23"/>
          <p:cNvSpPr txBox="1"/>
          <p:nvPr/>
        </p:nvSpPr>
        <p:spPr>
          <a:xfrm>
            <a:off x="6446520" y="3703320"/>
            <a:ext cx="2103120" cy="114300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nhân viên văn phòng bị đau cổ trong vòng một năm</a:t>
            </a:r>
            <a:endParaRPr lang="en-US" sz="1300" dirty="0"/>
          </a:p>
        </p:txBody>
      </p:sp>
      <p:sp>
        <p:nvSpPr>
          <p:cNvPr id="29" name="Text 24"/>
          <p:cNvSpPr txBox="1"/>
          <p:nvPr/>
        </p:nvSpPr>
        <p:spPr>
          <a:xfrm>
            <a:off x="6446520" y="4983480"/>
            <a:ext cx="2103120" cy="457200"/>
          </a:xfrm>
          <a:prstGeom prst="rect">
            <a:avLst/>
          </a:prstGeom>
          <a:noFill/>
          <a:ln/>
        </p:spPr>
        <p:txBody>
          <a:bodyPr wrap="square" lIns="0" tIns="0" rIns="0" bIns="0" rtlCol="0" anchor="t"/>
          <a:lstStyle/>
          <a:p>
            <a:pPr indent="0" marL="0">
              <a:buNone/>
            </a:pPr>
            <a:r>
              <a:rPr lang="en-US" sz="1000" i="1" dirty="0">
                <a:solidFill>
                  <a:srgbClr val="667584"/>
                </a:solidFill>
                <a:latin typeface="Calibri" pitchFamily="34" charset="0"/>
                <a:ea typeface="Calibri" pitchFamily="34" charset="-122"/>
                <a:cs typeface="Calibri" pitchFamily="34" charset="-120"/>
              </a:rPr>
              <a:t>Physical Therapy 98(1), 2018</a:t>
            </a:r>
            <a:endParaRPr lang="en-US" sz="1000" dirty="0"/>
          </a:p>
        </p:txBody>
      </p:sp>
      <p:sp>
        <p:nvSpPr>
          <p:cNvPr id="30" name="Shape 25"/>
          <p:cNvSpPr/>
          <p:nvPr/>
        </p:nvSpPr>
        <p:spPr>
          <a:xfrm>
            <a:off x="8961120" y="1691640"/>
            <a:ext cx="2606040" cy="3931920"/>
          </a:xfrm>
          <a:prstGeom prst="roundRect">
            <a:avLst>
              <a:gd name="adj" fmla="val 3509"/>
            </a:avLst>
          </a:prstGeom>
          <a:solidFill>
            <a:srgbClr val="FFFFFF"/>
          </a:solidFill>
          <a:ln w="12700">
            <a:solidFill>
              <a:srgbClr val="D9DFE6"/>
            </a:solidFill>
            <a:prstDash val="solid"/>
          </a:ln>
        </p:spPr>
      </p:sp>
      <p:sp>
        <p:nvSpPr>
          <p:cNvPr id="31" name="Shape 26"/>
          <p:cNvSpPr/>
          <p:nvPr/>
        </p:nvSpPr>
        <p:spPr>
          <a:xfrm>
            <a:off x="9235440" y="1965960"/>
            <a:ext cx="685800" cy="685800"/>
          </a:xfrm>
          <a:prstGeom prst="ellipse">
            <a:avLst/>
          </a:prstGeom>
          <a:solidFill>
            <a:srgbClr val="007BC0"/>
          </a:solidFill>
          <a:ln/>
        </p:spPr>
      </p:sp>
      <p:pic>
        <p:nvPicPr>
          <p:cNvPr id="32" name="Image 3" descr="preencoded.png">    </p:cNvPr>
          <p:cNvPicPr>
            <a:picLocks noChangeAspect="1"/>
          </p:cNvPicPr>
          <p:nvPr/>
        </p:nvPicPr>
        <p:blipFill>
          <a:blip r:embed="rId4"/>
          <a:stretch>
            <a:fillRect/>
          </a:stretch>
        </p:blipFill>
        <p:spPr>
          <a:xfrm>
            <a:off x="9420606" y="2151126"/>
            <a:ext cx="315468" cy="315468"/>
          </a:xfrm>
          <a:prstGeom prst="rect">
            <a:avLst/>
          </a:prstGeom>
        </p:spPr>
      </p:pic>
      <p:sp>
        <p:nvSpPr>
          <p:cNvPr id="33" name="Text 27"/>
          <p:cNvSpPr txBox="1"/>
          <p:nvPr/>
        </p:nvSpPr>
        <p:spPr>
          <a:xfrm>
            <a:off x="10058400" y="1965960"/>
            <a:ext cx="1417320" cy="685800"/>
          </a:xfrm>
          <a:prstGeom prst="rect">
            <a:avLst/>
          </a:prstGeom>
          <a:noFill/>
          <a:ln/>
        </p:spPr>
        <p:txBody>
          <a:bodyPr wrap="square" lIns="0" tIns="0" rIns="0" bIns="0" rtlCol="0" anchor="ctr"/>
          <a:lstStyle/>
          <a:p>
            <a:pPr indent="0" marL="0">
              <a:buNone/>
            </a:pPr>
            <a:r>
              <a:rPr lang="en-US" sz="1500" b="1" dirty="0">
                <a:solidFill>
                  <a:srgbClr val="667584"/>
                </a:solidFill>
                <a:latin typeface="Calibri" pitchFamily="34" charset="0"/>
                <a:ea typeface="Calibri" pitchFamily="34" charset="-122"/>
                <a:cs typeface="Calibri" pitchFamily="34" charset="-120"/>
              </a:rPr>
              <a:t>Tim mạch</a:t>
            </a:r>
            <a:endParaRPr lang="en-US" sz="1500" dirty="0"/>
          </a:p>
        </p:txBody>
      </p:sp>
      <p:sp>
        <p:nvSpPr>
          <p:cNvPr id="34" name="Text 28"/>
          <p:cNvSpPr txBox="1"/>
          <p:nvPr/>
        </p:nvSpPr>
        <p:spPr>
          <a:xfrm>
            <a:off x="9235440" y="2880360"/>
            <a:ext cx="2148840" cy="731520"/>
          </a:xfrm>
          <a:prstGeom prst="rect">
            <a:avLst/>
          </a:prstGeom>
          <a:noFill/>
          <a:ln/>
        </p:spPr>
        <p:txBody>
          <a:bodyPr wrap="square" lIns="0" tIns="0" rIns="0" bIns="0" rtlCol="0" anchor="ctr"/>
          <a:lstStyle/>
          <a:p>
            <a:pPr indent="0" marL="0">
              <a:buNone/>
            </a:pPr>
            <a:r>
              <a:rPr lang="en-US" sz="3400" b="1" dirty="0">
                <a:solidFill>
                  <a:srgbClr val="E20015"/>
                </a:solidFill>
                <a:latin typeface="Calibri" pitchFamily="34" charset="0"/>
                <a:ea typeface="Calibri" pitchFamily="34" charset="-122"/>
                <a:cs typeface="Calibri" pitchFamily="34" charset="-120"/>
              </a:rPr>
              <a:t>+59%</a:t>
            </a:r>
            <a:endParaRPr lang="en-US" sz="3400" dirty="0"/>
          </a:p>
        </p:txBody>
      </p:sp>
      <p:sp>
        <p:nvSpPr>
          <p:cNvPr id="35" name="Text 29"/>
          <p:cNvSpPr txBox="1"/>
          <p:nvPr/>
        </p:nvSpPr>
        <p:spPr>
          <a:xfrm>
            <a:off x="9235440" y="3703320"/>
            <a:ext cx="2103120" cy="114300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nguy cơ tử vong khi ngồi hơn 8 giờ/ngày và ít vận động, so với nhóm ngồi ít, vận động nhiều</a:t>
            </a:r>
            <a:endParaRPr lang="en-US" sz="1300" dirty="0"/>
          </a:p>
        </p:txBody>
      </p:sp>
      <p:sp>
        <p:nvSpPr>
          <p:cNvPr id="36" name="Text 30"/>
          <p:cNvSpPr txBox="1"/>
          <p:nvPr/>
        </p:nvSpPr>
        <p:spPr>
          <a:xfrm>
            <a:off x="9235440" y="4983480"/>
            <a:ext cx="2103120" cy="457200"/>
          </a:xfrm>
          <a:prstGeom prst="rect">
            <a:avLst/>
          </a:prstGeom>
          <a:noFill/>
          <a:ln/>
        </p:spPr>
        <p:txBody>
          <a:bodyPr wrap="square" lIns="0" tIns="0" rIns="0" bIns="0" rtlCol="0" anchor="t"/>
          <a:lstStyle/>
          <a:p>
            <a:pPr indent="0" marL="0">
              <a:buNone/>
            </a:pPr>
            <a:r>
              <a:rPr lang="en-US" sz="1000" i="1" dirty="0">
                <a:solidFill>
                  <a:srgbClr val="667584"/>
                </a:solidFill>
                <a:latin typeface="Calibri" pitchFamily="34" charset="0"/>
                <a:ea typeface="Calibri" pitchFamily="34" charset="-122"/>
                <a:cs typeface="Calibri" pitchFamily="34" charset="-120"/>
              </a:rPr>
              <a:t>The Lancet 2016 · hơn 1 triệu người</a:t>
            </a:r>
            <a:endParaRPr lang="en-US" sz="1000" dirty="0"/>
          </a:p>
        </p:txBody>
      </p:sp>
      <p:pic>
        <p:nvPicPr>
          <p:cNvPr id="37" name="Image 4" descr="preencoded.png">    </p:cNvPr>
          <p:cNvPicPr>
            <a:picLocks noChangeAspect="1"/>
          </p:cNvPicPr>
          <p:nvPr/>
        </p:nvPicPr>
        <p:blipFill>
          <a:blip r:embed="rId5"/>
          <a:stretch>
            <a:fillRect/>
          </a:stretch>
        </p:blipFill>
        <p:spPr>
          <a:xfrm>
            <a:off x="594360" y="5788152"/>
            <a:ext cx="292608" cy="292608"/>
          </a:xfrm>
          <a:prstGeom prst="rect">
            <a:avLst/>
          </a:prstGeom>
        </p:spPr>
      </p:pic>
      <p:sp>
        <p:nvSpPr>
          <p:cNvPr id="38" name="Text 31"/>
          <p:cNvSpPr txBox="1"/>
          <p:nvPr/>
        </p:nvSpPr>
        <p:spPr>
          <a:xfrm>
            <a:off x="1005840" y="5760720"/>
            <a:ext cx="10515600" cy="365760"/>
          </a:xfrm>
          <a:prstGeom prst="rect">
            <a:avLst/>
          </a:prstGeom>
          <a:noFill/>
          <a:ln/>
        </p:spPr>
        <p:txBody>
          <a:bodyPr wrap="square" lIns="0" tIns="0" rIns="0" bIns="0" rtlCol="0" anchor="ctr"/>
          <a:lstStyle/>
          <a:p>
            <a:pPr indent="0" marL="0">
              <a:buNone/>
            </a:pPr>
            <a:r>
              <a:rPr lang="en-US" sz="1300" b="1" dirty="0">
                <a:solidFill>
                  <a:srgbClr val="00884A"/>
                </a:solidFill>
                <a:latin typeface="Calibri" pitchFamily="34" charset="0"/>
                <a:ea typeface="Calibri" pitchFamily="34" charset="-122"/>
                <a:cs typeface="Calibri" pitchFamily="34" charset="-120"/>
              </a:rPr>
              <a:t>Tin tốt: khoảng 60–75 phút vận động vừa mỗi ngày đủ xoá phần nguy cơ tăng thêm do ngồi nhiều (Ekelund 2016). Nghỉ đúng lúc là việc làm được.</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E20015"/>
                </a:solidFill>
                <a:latin typeface="Calibri" pitchFamily="34" charset="0"/>
                <a:ea typeface="Calibri" pitchFamily="34" charset="-122"/>
                <a:cs typeface="Calibri" pitchFamily="34" charset="-120"/>
              </a:rPr>
              <a:t>01 · VẤN ĐỀ · KHOẢNG TRỐNG</a:t>
            </a:r>
            <a:endParaRPr lang="en-US" sz="1200" dirty="0"/>
          </a:p>
        </p:txBody>
      </p:sp>
      <p:sp>
        <p:nvSpPr>
          <p:cNvPr id="3" name="Text 1"/>
          <p:cNvSpPr txBox="1"/>
          <p:nvPr/>
        </p:nvSpPr>
        <p:spPr>
          <a:xfrm>
            <a:off x="594360" y="713232"/>
            <a:ext cx="10881360" cy="1005840"/>
          </a:xfrm>
          <a:prstGeom prst="rect">
            <a:avLst/>
          </a:prstGeom>
          <a:noFill/>
          <a:ln/>
        </p:spPr>
        <p:txBody>
          <a:bodyPr wrap="square" lIns="0" tIns="0" rIns="0" bIns="0" rtlCol="0" anchor="t"/>
          <a:lstStyle/>
          <a:p>
            <a:pPr indent="0" marL="0">
              <a:buNone/>
            </a:pPr>
            <a:r>
              <a:rPr lang="en-US" sz="2800" b="1" dirty="0">
                <a:solidFill>
                  <a:srgbClr val="1B2733"/>
                </a:solidFill>
                <a:latin typeface="Calibri" pitchFamily="34" charset="0"/>
                <a:ea typeface="Calibri" pitchFamily="34" charset="-122"/>
                <a:cs typeface="Calibri" pitchFamily="34" charset="-120"/>
              </a:rPr>
              <a:t>Nghỉ ngắn có ích — nhưng đồng hồ không biết khi nào bạn nên nghỉ</a:t>
            </a:r>
            <a:endParaRPr lang="en-US" sz="28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4</a:t>
            </a:r>
            <a:endParaRPr lang="en-US" sz="950" dirty="0"/>
          </a:p>
        </p:txBody>
      </p:sp>
      <p:sp>
        <p:nvSpPr>
          <p:cNvPr id="9" name="Shape 7"/>
          <p:cNvSpPr/>
          <p:nvPr/>
        </p:nvSpPr>
        <p:spPr>
          <a:xfrm>
            <a:off x="594360" y="1920240"/>
            <a:ext cx="5212080" cy="1874520"/>
          </a:xfrm>
          <a:prstGeom prst="roundRect">
            <a:avLst>
              <a:gd name="adj" fmla="val 4878"/>
            </a:avLst>
          </a:prstGeom>
          <a:solidFill>
            <a:srgbClr val="FFFFFF"/>
          </a:solidFill>
          <a:ln w="12700">
            <a:solidFill>
              <a:srgbClr val="D9DFE6"/>
            </a:solidFill>
            <a:prstDash val="solid"/>
          </a:ln>
        </p:spPr>
      </p:sp>
      <p:sp>
        <p:nvSpPr>
          <p:cNvPr id="10" name="Text 8"/>
          <p:cNvSpPr txBox="1"/>
          <p:nvPr/>
        </p:nvSpPr>
        <p:spPr>
          <a:xfrm>
            <a:off x="868680" y="2011680"/>
            <a:ext cx="4663440" cy="777240"/>
          </a:xfrm>
          <a:prstGeom prst="rect">
            <a:avLst/>
          </a:prstGeom>
          <a:noFill/>
          <a:ln/>
        </p:spPr>
        <p:txBody>
          <a:bodyPr wrap="square" lIns="0" tIns="0" rIns="0" bIns="0" rtlCol="0" anchor="ctr"/>
          <a:lstStyle/>
          <a:p>
            <a:pPr indent="0" marL="0">
              <a:buNone/>
            </a:pPr>
            <a:r>
              <a:rPr lang="en-US" sz="4400" b="1" dirty="0">
                <a:solidFill>
                  <a:srgbClr val="007BC0"/>
                </a:solidFill>
                <a:latin typeface="Calibri" pitchFamily="34" charset="0"/>
                <a:ea typeface="Calibri" pitchFamily="34" charset="-122"/>
                <a:cs typeface="Calibri" pitchFamily="34" charset="-120"/>
              </a:rPr>
              <a:t>47 giây</a:t>
            </a:r>
            <a:endParaRPr lang="en-US" sz="4400" dirty="0"/>
          </a:p>
        </p:txBody>
      </p:sp>
      <p:sp>
        <p:nvSpPr>
          <p:cNvPr id="11" name="Text 9"/>
          <p:cNvSpPr txBox="1"/>
          <p:nvPr/>
        </p:nvSpPr>
        <p:spPr>
          <a:xfrm>
            <a:off x="868680" y="2788920"/>
            <a:ext cx="4709160" cy="77724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thời gian trung bình một người ở lại một màn hình trước khi chuyển sang việc khác (trung vị ≤ 40 giây). Năm 2004 là khoảng 2,5 phút.</a:t>
            </a:r>
            <a:endParaRPr lang="en-US" sz="1300" dirty="0"/>
          </a:p>
        </p:txBody>
      </p:sp>
      <p:sp>
        <p:nvSpPr>
          <p:cNvPr id="12" name="Text 10"/>
          <p:cNvSpPr txBox="1"/>
          <p:nvPr/>
        </p:nvSpPr>
        <p:spPr>
          <a:xfrm>
            <a:off x="868680" y="3520440"/>
            <a:ext cx="4663440" cy="228600"/>
          </a:xfrm>
          <a:prstGeom prst="rect">
            <a:avLst/>
          </a:prstGeom>
          <a:noFill/>
          <a:ln/>
        </p:spPr>
        <p:txBody>
          <a:bodyPr wrap="square" lIns="0" tIns="0" rIns="0" bIns="0" rtlCol="0" anchor="t"/>
          <a:lstStyle/>
          <a:p>
            <a:pPr indent="0" marL="0">
              <a:buNone/>
            </a:pPr>
            <a:r>
              <a:rPr lang="en-US" sz="1000" i="1" dirty="0">
                <a:solidFill>
                  <a:srgbClr val="667584"/>
                </a:solidFill>
                <a:latin typeface="Calibri" pitchFamily="34" charset="0"/>
                <a:ea typeface="Calibri" pitchFamily="34" charset="-122"/>
                <a:cs typeface="Calibri" pitchFamily="34" charset="-120"/>
              </a:rPr>
              <a:t>Gloria Mark, ĐH California Irvine</a:t>
            </a:r>
            <a:endParaRPr lang="en-US" sz="1000" dirty="0"/>
          </a:p>
        </p:txBody>
      </p:sp>
      <p:sp>
        <p:nvSpPr>
          <p:cNvPr id="13" name="Shape 11"/>
          <p:cNvSpPr/>
          <p:nvPr/>
        </p:nvSpPr>
        <p:spPr>
          <a:xfrm>
            <a:off x="594360" y="3977640"/>
            <a:ext cx="5212080" cy="2103120"/>
          </a:xfrm>
          <a:prstGeom prst="roundRect">
            <a:avLst>
              <a:gd name="adj" fmla="val 4348"/>
            </a:avLst>
          </a:prstGeom>
          <a:solidFill>
            <a:srgbClr val="FFFFFF"/>
          </a:solidFill>
          <a:ln w="12700">
            <a:solidFill>
              <a:srgbClr val="D9DFE6"/>
            </a:solidFill>
            <a:prstDash val="solid"/>
          </a:ln>
        </p:spPr>
      </p:sp>
      <p:sp>
        <p:nvSpPr>
          <p:cNvPr id="14" name="Text 12"/>
          <p:cNvSpPr txBox="1"/>
          <p:nvPr/>
        </p:nvSpPr>
        <p:spPr>
          <a:xfrm>
            <a:off x="868680" y="4096512"/>
            <a:ext cx="4663440" cy="411480"/>
          </a:xfrm>
          <a:prstGeom prst="rect">
            <a:avLst/>
          </a:prstGeom>
          <a:noFill/>
          <a:ln/>
        </p:spPr>
        <p:txBody>
          <a:bodyPr wrap="square" lIns="0" tIns="0" rIns="0" bIns="0" rtlCol="0" anchor="t"/>
          <a:lstStyle/>
          <a:p>
            <a:pPr indent="0" marL="0">
              <a:buNone/>
            </a:pPr>
            <a:r>
              <a:rPr lang="en-US" sz="1900" b="1" dirty="0">
                <a:solidFill>
                  <a:srgbClr val="00884A"/>
                </a:solidFill>
                <a:latin typeface="Calibri" pitchFamily="34" charset="0"/>
                <a:ea typeface="Calibri" pitchFamily="34" charset="-122"/>
                <a:cs typeface="Calibri" pitchFamily="34" charset="-120"/>
              </a:rPr>
              <a:t>Nghỉ ngắn: bớt mệt, tỉnh táo hơn</a:t>
            </a:r>
            <a:endParaRPr lang="en-US" sz="1900" dirty="0"/>
          </a:p>
        </p:txBody>
      </p:sp>
      <p:sp>
        <p:nvSpPr>
          <p:cNvPr id="15" name="Text 13"/>
          <p:cNvSpPr txBox="1"/>
          <p:nvPr/>
        </p:nvSpPr>
        <p:spPr>
          <a:xfrm>
            <a:off x="868680" y="4572000"/>
            <a:ext cx="4709160" cy="105156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Tổng hợp 22 nghiên cứu (2.335 người): sinh lực tăng (d = 0,36), mệt mỏi giảm (d = 0,35). Hiệu suất không giảm, nhưng mức tăng chưa đạt ý nghĩa thống kê.</a:t>
            </a:r>
            <a:endParaRPr lang="en-US" sz="1300" dirty="0"/>
          </a:p>
        </p:txBody>
      </p:sp>
      <p:sp>
        <p:nvSpPr>
          <p:cNvPr id="16" name="Text 14"/>
          <p:cNvSpPr txBox="1"/>
          <p:nvPr/>
        </p:nvSpPr>
        <p:spPr>
          <a:xfrm>
            <a:off x="868680" y="5715000"/>
            <a:ext cx="4663440" cy="228600"/>
          </a:xfrm>
          <a:prstGeom prst="rect">
            <a:avLst/>
          </a:prstGeom>
          <a:noFill/>
          <a:ln/>
        </p:spPr>
        <p:txBody>
          <a:bodyPr wrap="square" lIns="0" tIns="0" rIns="0" bIns="0" rtlCol="0" anchor="t"/>
          <a:lstStyle/>
          <a:p>
            <a:pPr indent="0" marL="0">
              <a:buNone/>
            </a:pPr>
            <a:r>
              <a:rPr lang="en-US" sz="1000" i="1" dirty="0">
                <a:solidFill>
                  <a:srgbClr val="667584"/>
                </a:solidFill>
                <a:latin typeface="Calibri" pitchFamily="34" charset="0"/>
                <a:ea typeface="Calibri" pitchFamily="34" charset="-122"/>
                <a:cs typeface="Calibri" pitchFamily="34" charset="-120"/>
              </a:rPr>
              <a:t>Albulescu et al., PLOS ONE 2022</a:t>
            </a:r>
            <a:endParaRPr lang="en-US" sz="1000" dirty="0"/>
          </a:p>
        </p:txBody>
      </p:sp>
      <p:sp>
        <p:nvSpPr>
          <p:cNvPr id="17" name="Shape 15"/>
          <p:cNvSpPr/>
          <p:nvPr/>
        </p:nvSpPr>
        <p:spPr>
          <a:xfrm>
            <a:off x="6035040" y="1920240"/>
            <a:ext cx="5559552" cy="4160520"/>
          </a:xfrm>
          <a:prstGeom prst="roundRect">
            <a:avLst>
              <a:gd name="adj" fmla="val 2198"/>
            </a:avLst>
          </a:prstGeom>
          <a:solidFill>
            <a:srgbClr val="FFFFFF"/>
          </a:solidFill>
          <a:ln w="12700">
            <a:solidFill>
              <a:srgbClr val="D9DFE6"/>
            </a:solidFill>
            <a:prstDash val="solid"/>
          </a:ln>
        </p:spPr>
      </p:sp>
      <p:sp>
        <p:nvSpPr>
          <p:cNvPr id="18" name="Text 16"/>
          <p:cNvSpPr txBox="1"/>
          <p:nvPr/>
        </p:nvSpPr>
        <p:spPr>
          <a:xfrm>
            <a:off x="6309360" y="2084832"/>
            <a:ext cx="5120640" cy="640080"/>
          </a:xfrm>
          <a:prstGeom prst="rect">
            <a:avLst/>
          </a:prstGeom>
          <a:noFill/>
          <a:ln/>
        </p:spPr>
        <p:txBody>
          <a:bodyPr wrap="square" lIns="0" tIns="0" rIns="0" bIns="0" rtlCol="0" anchor="t"/>
          <a:lstStyle/>
          <a:p>
            <a:pPr indent="0" marL="0">
              <a:buNone/>
            </a:pPr>
            <a:r>
              <a:rPr lang="en-US" sz="1600" b="1" dirty="0">
                <a:solidFill>
                  <a:srgbClr val="1B2733"/>
                </a:solidFill>
                <a:latin typeface="Calibri" pitchFamily="34" charset="0"/>
                <a:ea typeface="Calibri" pitchFamily="34" charset="-122"/>
                <a:cs typeface="Calibri" pitchFamily="34" charset="-120"/>
              </a:rPr>
              <a:t>Pomodoro 25/5: đúng ý tưởng, nhưng chỉ biết đếm giờ</a:t>
            </a:r>
            <a:endParaRPr lang="en-US" sz="1600" dirty="0"/>
          </a:p>
        </p:txBody>
      </p:sp>
      <p:sp>
        <p:nvSpPr>
          <p:cNvPr id="19" name="Shape 17"/>
          <p:cNvSpPr/>
          <p:nvPr/>
        </p:nvSpPr>
        <p:spPr>
          <a:xfrm>
            <a:off x="6309360" y="2880360"/>
            <a:ext cx="2148840" cy="2011680"/>
          </a:xfrm>
          <a:prstGeom prst="roundRect">
            <a:avLst>
              <a:gd name="adj" fmla="val 3636"/>
            </a:avLst>
          </a:prstGeom>
          <a:solidFill>
            <a:srgbClr val="E2F3EA"/>
          </a:solidFill>
          <a:ln/>
        </p:spPr>
      </p:sp>
      <p:pic>
        <p:nvPicPr>
          <p:cNvPr id="20" name="Image 0" descr="preencoded.png">    </p:cNvPr>
          <p:cNvPicPr>
            <a:picLocks noChangeAspect="1"/>
          </p:cNvPicPr>
          <p:nvPr/>
        </p:nvPicPr>
        <p:blipFill>
          <a:blip r:embed="rId1"/>
          <a:stretch>
            <a:fillRect/>
          </a:stretch>
        </p:blipFill>
        <p:spPr>
          <a:xfrm>
            <a:off x="6446520" y="3017520"/>
            <a:ext cx="228600" cy="228600"/>
          </a:xfrm>
          <a:prstGeom prst="rect">
            <a:avLst/>
          </a:prstGeom>
        </p:spPr>
      </p:pic>
      <p:sp>
        <p:nvSpPr>
          <p:cNvPr id="21" name="Text 18"/>
          <p:cNvSpPr txBox="1"/>
          <p:nvPr/>
        </p:nvSpPr>
        <p:spPr>
          <a:xfrm>
            <a:off x="6766560" y="2999232"/>
            <a:ext cx="1645920" cy="274320"/>
          </a:xfrm>
          <a:prstGeom prst="rect">
            <a:avLst/>
          </a:prstGeom>
          <a:noFill/>
          <a:ln/>
        </p:spPr>
        <p:txBody>
          <a:bodyPr wrap="square" lIns="0" tIns="0" rIns="0" bIns="0" rtlCol="0" anchor="ctr"/>
          <a:lstStyle/>
          <a:p>
            <a:pPr indent="0" marL="0">
              <a:buNone/>
            </a:pPr>
            <a:r>
              <a:rPr lang="en-US" sz="1300" b="1" dirty="0">
                <a:solidFill>
                  <a:srgbClr val="00884A"/>
                </a:solidFill>
                <a:latin typeface="Calibri" pitchFamily="34" charset="0"/>
                <a:ea typeface="Calibri" pitchFamily="34" charset="-122"/>
                <a:cs typeface="Calibri" pitchFamily="34" charset="-120"/>
              </a:rPr>
              <a:t>Đồng hồ biết</a:t>
            </a:r>
            <a:endParaRPr lang="en-US" sz="1300" dirty="0"/>
          </a:p>
        </p:txBody>
      </p:sp>
      <p:sp>
        <p:nvSpPr>
          <p:cNvPr id="22" name="Text 19"/>
          <p:cNvSpPr txBox="1"/>
          <p:nvPr/>
        </p:nvSpPr>
        <p:spPr>
          <a:xfrm>
            <a:off x="6446520" y="3474720"/>
            <a:ext cx="1874520" cy="640080"/>
          </a:xfrm>
          <a:prstGeom prst="rect">
            <a:avLst/>
          </a:prstGeom>
          <a:noFill/>
          <a:ln/>
        </p:spPr>
        <p:txBody>
          <a:bodyPr wrap="square" lIns="0" tIns="0" rIns="0" bIns="0" rtlCol="0" anchor="t"/>
          <a:lstStyle/>
          <a:p>
            <a:pPr indent="0" marL="0">
              <a:buNone/>
            </a:pPr>
            <a:r>
              <a:rPr lang="en-US" sz="1400" dirty="0">
                <a:solidFill>
                  <a:srgbClr val="1B2733"/>
                </a:solidFill>
                <a:latin typeface="Calibri" pitchFamily="34" charset="0"/>
                <a:ea typeface="Calibri" pitchFamily="34" charset="-122"/>
                <a:cs typeface="Calibri" pitchFamily="34" charset="-120"/>
              </a:rPr>
              <a:t>Đã trôi qua 25 phút</a:t>
            </a:r>
            <a:endParaRPr lang="en-US" sz="1400" dirty="0"/>
          </a:p>
        </p:txBody>
      </p:sp>
      <p:sp>
        <p:nvSpPr>
          <p:cNvPr id="23" name="Shape 20"/>
          <p:cNvSpPr/>
          <p:nvPr/>
        </p:nvSpPr>
        <p:spPr>
          <a:xfrm>
            <a:off x="8641080" y="2880360"/>
            <a:ext cx="2743200" cy="2011680"/>
          </a:xfrm>
          <a:prstGeom prst="roundRect">
            <a:avLst>
              <a:gd name="adj" fmla="val 3636"/>
            </a:avLst>
          </a:prstGeom>
          <a:solidFill>
            <a:srgbClr val="FDECEE"/>
          </a:solidFill>
          <a:ln/>
        </p:spPr>
      </p:sp>
      <p:pic>
        <p:nvPicPr>
          <p:cNvPr id="24" name="Image 1" descr="preencoded.png">    </p:cNvPr>
          <p:cNvPicPr>
            <a:picLocks noChangeAspect="1"/>
          </p:cNvPicPr>
          <p:nvPr/>
        </p:nvPicPr>
        <p:blipFill>
          <a:blip r:embed="rId2"/>
          <a:stretch>
            <a:fillRect/>
          </a:stretch>
        </p:blipFill>
        <p:spPr>
          <a:xfrm>
            <a:off x="8778240" y="3017520"/>
            <a:ext cx="228600" cy="228600"/>
          </a:xfrm>
          <a:prstGeom prst="rect">
            <a:avLst/>
          </a:prstGeom>
        </p:spPr>
      </p:pic>
      <p:sp>
        <p:nvSpPr>
          <p:cNvPr id="25" name="Text 21"/>
          <p:cNvSpPr txBox="1"/>
          <p:nvPr/>
        </p:nvSpPr>
        <p:spPr>
          <a:xfrm>
            <a:off x="9098280" y="2999232"/>
            <a:ext cx="2194560" cy="274320"/>
          </a:xfrm>
          <a:prstGeom prst="rect">
            <a:avLst/>
          </a:prstGeom>
          <a:noFill/>
          <a:ln/>
        </p:spPr>
        <p:txBody>
          <a:bodyPr wrap="square" lIns="0" tIns="0" rIns="0" bIns="0" rtlCol="0" anchor="ctr"/>
          <a:lstStyle/>
          <a:p>
            <a:pPr indent="0" marL="0">
              <a:buNone/>
            </a:pPr>
            <a:r>
              <a:rPr lang="en-US" sz="1300" b="1" dirty="0">
                <a:solidFill>
                  <a:srgbClr val="E20015"/>
                </a:solidFill>
                <a:latin typeface="Calibri" pitchFamily="34" charset="0"/>
                <a:ea typeface="Calibri" pitchFamily="34" charset="-122"/>
                <a:cs typeface="Calibri" pitchFamily="34" charset="-120"/>
              </a:rPr>
              <a:t>Đồng hồ không biết</a:t>
            </a:r>
            <a:endParaRPr lang="en-US" sz="1300" dirty="0"/>
          </a:p>
        </p:txBody>
      </p:sp>
      <p:sp>
        <p:nvSpPr>
          <p:cNvPr id="26" name="Text 22"/>
          <p:cNvSpPr txBox="1"/>
          <p:nvPr/>
        </p:nvSpPr>
        <p:spPr>
          <a:xfrm>
            <a:off x="8778240" y="3401568"/>
            <a:ext cx="2514600" cy="1463040"/>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1B2733"/>
                </a:solidFill>
                <a:latin typeface="Calibri" pitchFamily="34" charset="0"/>
                <a:ea typeface="Calibri" pitchFamily="34" charset="-122"/>
                <a:cs typeface="Calibri" pitchFamily="34" charset="-120"/>
              </a:rPr>
              <a:t>Bạn đang họp hay trình chiếu</a:t>
            </a:r>
            <a:endParaRPr lang="en-US" sz="1250" dirty="0"/>
          </a:p>
          <a:p>
            <a:pPr marL="165100" indent="-165100">
              <a:spcAft>
                <a:spcPts val="300"/>
              </a:spcAft>
              <a:buSzPct val="100000"/>
              <a:buChar char="•"/>
            </a:pPr>
            <a:r>
              <a:rPr lang="en-US" sz="1250" dirty="0">
                <a:solidFill>
                  <a:srgbClr val="1B2733"/>
                </a:solidFill>
                <a:latin typeface="Calibri" pitchFamily="34" charset="0"/>
                <a:ea typeface="Calibri" pitchFamily="34" charset="-122"/>
                <a:cs typeface="Calibri" pitchFamily="34" charset="-120"/>
              </a:rPr>
              <a:t>Vừa họp liền 3 tiếng chưa nghỉ</a:t>
            </a:r>
            <a:endParaRPr lang="en-US" sz="1250" dirty="0"/>
          </a:p>
          <a:p>
            <a:pPr marL="165100" indent="-165100">
              <a:spcAft>
                <a:spcPts val="300"/>
              </a:spcAft>
              <a:buSzPct val="100000"/>
              <a:buChar char="•"/>
            </a:pPr>
            <a:r>
              <a:rPr lang="en-US" sz="1250" dirty="0">
                <a:solidFill>
                  <a:srgbClr val="1B2733"/>
                </a:solidFill>
                <a:latin typeface="Calibri" pitchFamily="34" charset="0"/>
                <a:ea typeface="Calibri" pitchFamily="34" charset="-122"/>
                <a:cs typeface="Calibri" pitchFamily="34" charset="-120"/>
              </a:rPr>
              <a:t>Task đã kẹt nhiều ngày</a:t>
            </a:r>
            <a:endParaRPr lang="en-US" sz="1250" dirty="0"/>
          </a:p>
          <a:p>
            <a:pPr marL="165100" indent="-165100">
              <a:spcAft>
                <a:spcPts val="300"/>
              </a:spcAft>
              <a:buSzPct val="100000"/>
              <a:buChar char="•"/>
            </a:pPr>
            <a:r>
              <a:rPr lang="en-US" sz="1250" dirty="0">
                <a:solidFill>
                  <a:srgbClr val="1B2733"/>
                </a:solidFill>
                <a:latin typeface="Calibri" pitchFamily="34" charset="0"/>
                <a:ea typeface="Calibri" pitchFamily="34" charset="-122"/>
                <a:cs typeface="Calibri" pitchFamily="34" charset="-120"/>
              </a:rPr>
              <a:t>Hôm nay bạn đã kiệt sức chưa</a:t>
            </a:r>
            <a:endParaRPr lang="en-US" sz="1250" dirty="0"/>
          </a:p>
        </p:txBody>
      </p:sp>
      <p:sp>
        <p:nvSpPr>
          <p:cNvPr id="27" name="Shape 23"/>
          <p:cNvSpPr/>
          <p:nvPr/>
        </p:nvSpPr>
        <p:spPr>
          <a:xfrm>
            <a:off x="6309360" y="5074920"/>
            <a:ext cx="5074920" cy="777240"/>
          </a:xfrm>
          <a:prstGeom prst="roundRect">
            <a:avLst>
              <a:gd name="adj" fmla="val 9412"/>
            </a:avLst>
          </a:prstGeom>
          <a:solidFill>
            <a:srgbClr val="007BC0"/>
          </a:solidFill>
          <a:ln/>
        </p:spPr>
      </p:sp>
      <p:sp>
        <p:nvSpPr>
          <p:cNvPr id="28" name="Text 24"/>
          <p:cNvSpPr txBox="1"/>
          <p:nvPr/>
        </p:nvSpPr>
        <p:spPr>
          <a:xfrm>
            <a:off x="6492240" y="5074920"/>
            <a:ext cx="365760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Cần một trợ lý hiểu ngữ cảnh làm việc của bạn: Milo</a:t>
            </a:r>
            <a:endParaRPr lang="en-US" sz="1500" dirty="0"/>
          </a:p>
        </p:txBody>
      </p:sp>
      <p:pic>
        <p:nvPicPr>
          <p:cNvPr id="29" name="Image 2" descr="img/milo_idle.png">    </p:cNvPr>
          <p:cNvPicPr>
            <a:picLocks noChangeAspect="1"/>
          </p:cNvPicPr>
          <p:nvPr/>
        </p:nvPicPr>
        <p:blipFill>
          <a:blip r:embed="rId3"/>
          <a:stretch>
            <a:fillRect/>
          </a:stretch>
        </p:blipFill>
        <p:spPr>
          <a:xfrm>
            <a:off x="10378440" y="4956048"/>
            <a:ext cx="896112" cy="10058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7BC0"/>
                </a:solidFill>
                <a:latin typeface="Calibri" pitchFamily="34" charset="0"/>
                <a:ea typeface="Calibri" pitchFamily="34" charset="-122"/>
                <a:cs typeface="Calibri" pitchFamily="34" charset="-120"/>
              </a:rPr>
              <a:t>02 · GIẢI PHÁP</a:t>
            </a:r>
            <a:endParaRPr lang="en-US" sz="1200" dirty="0"/>
          </a:p>
        </p:txBody>
      </p:sp>
      <p:sp>
        <p:nvSpPr>
          <p:cNvPr id="3" name="Text 1"/>
          <p:cNvSpPr txBox="1"/>
          <p:nvPr/>
        </p:nvSpPr>
        <p:spPr>
          <a:xfrm>
            <a:off x="594360" y="713232"/>
            <a:ext cx="9418320" cy="1005840"/>
          </a:xfrm>
          <a:prstGeom prst="rect">
            <a:avLst/>
          </a:prstGeom>
          <a:noFill/>
          <a:ln/>
        </p:spPr>
        <p:txBody>
          <a:bodyPr wrap="square" lIns="0" tIns="0" rIns="0" bIns="0" rtlCol="0" anchor="t"/>
          <a:lstStyle/>
          <a:p>
            <a:pPr indent="0" marL="0">
              <a:buNone/>
            </a:pPr>
            <a:r>
              <a:rPr lang="en-US" sz="2800" b="1" dirty="0">
                <a:solidFill>
                  <a:srgbClr val="1B2733"/>
                </a:solidFill>
                <a:latin typeface="Calibri" pitchFamily="34" charset="0"/>
                <a:ea typeface="Calibri" pitchFamily="34" charset="-122"/>
                <a:cs typeface="Calibri" pitchFamily="34" charset="-120"/>
              </a:rPr>
              <a:t>Milo không chỉ nhắc nghỉ — Milo hiểu ngày làm việc của bạn</a:t>
            </a:r>
            <a:endParaRPr lang="en-US" sz="28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5</a:t>
            </a:r>
            <a:endParaRPr lang="en-US" sz="950" dirty="0"/>
          </a:p>
        </p:txBody>
      </p:sp>
      <p:pic>
        <p:nvPicPr>
          <p:cNvPr id="9" name="Image 0" descr="img/milo_idle.png">    </p:cNvPr>
          <p:cNvPicPr>
            <a:picLocks noChangeAspect="1"/>
          </p:cNvPicPr>
          <p:nvPr/>
        </p:nvPicPr>
        <p:blipFill>
          <a:blip r:embed="rId1"/>
          <a:stretch>
            <a:fillRect/>
          </a:stretch>
        </p:blipFill>
        <p:spPr>
          <a:xfrm>
            <a:off x="10469880" y="274320"/>
            <a:ext cx="1188720" cy="1335024"/>
          </a:xfrm>
          <a:prstGeom prst="rect">
            <a:avLst/>
          </a:prstGeom>
        </p:spPr>
      </p:pic>
      <p:sp>
        <p:nvSpPr>
          <p:cNvPr id="10" name="Shape 7"/>
          <p:cNvSpPr/>
          <p:nvPr/>
        </p:nvSpPr>
        <p:spPr>
          <a:xfrm>
            <a:off x="594360" y="1828800"/>
            <a:ext cx="2606040" cy="3429000"/>
          </a:xfrm>
          <a:prstGeom prst="roundRect">
            <a:avLst>
              <a:gd name="adj" fmla="val 3509"/>
            </a:avLst>
          </a:prstGeom>
          <a:solidFill>
            <a:srgbClr val="FFFFFF"/>
          </a:solidFill>
          <a:ln w="12700">
            <a:solidFill>
              <a:srgbClr val="D9DFE6"/>
            </a:solidFill>
            <a:prstDash val="solid"/>
          </a:ln>
        </p:spPr>
      </p:sp>
      <p:sp>
        <p:nvSpPr>
          <p:cNvPr id="11" name="Shape 8"/>
          <p:cNvSpPr/>
          <p:nvPr/>
        </p:nvSpPr>
        <p:spPr>
          <a:xfrm>
            <a:off x="868680" y="2103120"/>
            <a:ext cx="685800" cy="685800"/>
          </a:xfrm>
          <a:prstGeom prst="ellipse">
            <a:avLst/>
          </a:prstGeom>
          <a:solidFill>
            <a:srgbClr val="007BC0"/>
          </a:solidFill>
          <a:ln/>
        </p:spPr>
      </p:sp>
      <p:pic>
        <p:nvPicPr>
          <p:cNvPr id="12" name="Image 1" descr="preencoded.png">    </p:cNvPr>
          <p:cNvPicPr>
            <a:picLocks noChangeAspect="1"/>
          </p:cNvPicPr>
          <p:nvPr/>
        </p:nvPicPr>
        <p:blipFill>
          <a:blip r:embed="rId2"/>
          <a:stretch>
            <a:fillRect/>
          </a:stretch>
        </p:blipFill>
        <p:spPr>
          <a:xfrm>
            <a:off x="1053846" y="2288286"/>
            <a:ext cx="315468" cy="315468"/>
          </a:xfrm>
          <a:prstGeom prst="rect">
            <a:avLst/>
          </a:prstGeom>
        </p:spPr>
      </p:pic>
      <p:sp>
        <p:nvSpPr>
          <p:cNvPr id="13" name="Text 9"/>
          <p:cNvSpPr txBox="1"/>
          <p:nvPr/>
        </p:nvSpPr>
        <p:spPr>
          <a:xfrm>
            <a:off x="868680" y="2944368"/>
            <a:ext cx="2148840" cy="320040"/>
          </a:xfrm>
          <a:prstGeom prst="rect">
            <a:avLst/>
          </a:prstGeom>
          <a:noFill/>
          <a:ln/>
        </p:spPr>
        <p:txBody>
          <a:bodyPr wrap="square" lIns="0" tIns="0" rIns="0" bIns="0" rtlCol="0" anchor="t"/>
          <a:lstStyle/>
          <a:p>
            <a:pPr indent="0" marL="0">
              <a:buNone/>
            </a:pPr>
            <a:r>
              <a:rPr lang="en-US" sz="1650" b="1" dirty="0">
                <a:solidFill>
                  <a:srgbClr val="1B2733"/>
                </a:solidFill>
                <a:latin typeface="Calibri" pitchFamily="34" charset="0"/>
                <a:ea typeface="Calibri" pitchFamily="34" charset="-122"/>
                <a:cs typeface="Calibri" pitchFamily="34" charset="-120"/>
              </a:rPr>
              <a:t>Dữ liệu thời gian thực</a:t>
            </a:r>
            <a:endParaRPr lang="en-US" sz="1650" dirty="0"/>
          </a:p>
        </p:txBody>
      </p:sp>
      <p:sp>
        <p:nvSpPr>
          <p:cNvPr id="14" name="Text 10"/>
          <p:cNvSpPr txBox="1"/>
          <p:nvPr/>
        </p:nvSpPr>
        <p:spPr>
          <a:xfrm>
            <a:off x="868680" y="3429000"/>
            <a:ext cx="2148840" cy="1737360"/>
          </a:xfrm>
          <a:prstGeom prst="rect">
            <a:avLst/>
          </a:prstGeom>
          <a:noFill/>
          <a:ln/>
        </p:spPr>
        <p:txBody>
          <a:bodyPr wrap="square" lIns="0" tIns="0" rIns="0" bIns="0" rtlCol="0" anchor="t"/>
          <a:lstStyle/>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Teams presence cập nhật mỗi 30 giây</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Lịch Outlook, email chờ, task Azure Boards</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Hoạt động máy: idle, toàn màn hình, khoá máy</a:t>
            </a:r>
            <a:endParaRPr lang="en-US" sz="1300" dirty="0"/>
          </a:p>
        </p:txBody>
      </p:sp>
      <p:sp>
        <p:nvSpPr>
          <p:cNvPr id="15" name="Shape 11"/>
          <p:cNvSpPr/>
          <p:nvPr/>
        </p:nvSpPr>
        <p:spPr>
          <a:xfrm>
            <a:off x="3383280" y="1828800"/>
            <a:ext cx="2606040" cy="3429000"/>
          </a:xfrm>
          <a:prstGeom prst="roundRect">
            <a:avLst>
              <a:gd name="adj" fmla="val 3509"/>
            </a:avLst>
          </a:prstGeom>
          <a:solidFill>
            <a:srgbClr val="FFFFFF"/>
          </a:solidFill>
          <a:ln w="12700">
            <a:solidFill>
              <a:srgbClr val="D9DFE6"/>
            </a:solidFill>
            <a:prstDash val="solid"/>
          </a:ln>
        </p:spPr>
      </p:sp>
      <p:sp>
        <p:nvSpPr>
          <p:cNvPr id="16" name="Shape 12"/>
          <p:cNvSpPr/>
          <p:nvPr/>
        </p:nvSpPr>
        <p:spPr>
          <a:xfrm>
            <a:off x="3657600" y="2103120"/>
            <a:ext cx="685800" cy="685800"/>
          </a:xfrm>
          <a:prstGeom prst="ellipse">
            <a:avLst/>
          </a:prstGeom>
          <a:solidFill>
            <a:srgbClr val="E20015"/>
          </a:solidFill>
          <a:ln/>
        </p:spPr>
      </p:sp>
      <p:pic>
        <p:nvPicPr>
          <p:cNvPr id="17" name="Image 2" descr="preencoded.png">    </p:cNvPr>
          <p:cNvPicPr>
            <a:picLocks noChangeAspect="1"/>
          </p:cNvPicPr>
          <p:nvPr/>
        </p:nvPicPr>
        <p:blipFill>
          <a:blip r:embed="rId3"/>
          <a:stretch>
            <a:fillRect/>
          </a:stretch>
        </p:blipFill>
        <p:spPr>
          <a:xfrm>
            <a:off x="3842766" y="2288286"/>
            <a:ext cx="315468" cy="315468"/>
          </a:xfrm>
          <a:prstGeom prst="rect">
            <a:avLst/>
          </a:prstGeom>
        </p:spPr>
      </p:pic>
      <p:sp>
        <p:nvSpPr>
          <p:cNvPr id="18" name="Text 13"/>
          <p:cNvSpPr txBox="1"/>
          <p:nvPr/>
        </p:nvSpPr>
        <p:spPr>
          <a:xfrm>
            <a:off x="3657600" y="2944368"/>
            <a:ext cx="2148840" cy="320040"/>
          </a:xfrm>
          <a:prstGeom prst="rect">
            <a:avLst/>
          </a:prstGeom>
          <a:noFill/>
          <a:ln/>
        </p:spPr>
        <p:txBody>
          <a:bodyPr wrap="square" lIns="0" tIns="0" rIns="0" bIns="0" rtlCol="0" anchor="t"/>
          <a:lstStyle/>
          <a:p>
            <a:pPr indent="0" marL="0">
              <a:buNone/>
            </a:pPr>
            <a:r>
              <a:rPr lang="en-US" sz="1650" b="1" dirty="0">
                <a:solidFill>
                  <a:srgbClr val="1B2733"/>
                </a:solidFill>
                <a:latin typeface="Calibri" pitchFamily="34" charset="0"/>
                <a:ea typeface="Calibri" pitchFamily="34" charset="-122"/>
                <a:cs typeface="Calibri" pitchFamily="34" charset="-120"/>
              </a:rPr>
              <a:t>Không làm phiền</a:t>
            </a:r>
            <a:endParaRPr lang="en-US" sz="1650" dirty="0"/>
          </a:p>
        </p:txBody>
      </p:sp>
      <p:sp>
        <p:nvSpPr>
          <p:cNvPr id="19" name="Text 14"/>
          <p:cNvSpPr txBox="1"/>
          <p:nvPr/>
        </p:nvSpPr>
        <p:spPr>
          <a:xfrm>
            <a:off x="3657600" y="3429000"/>
            <a:ext cx="2148840" cy="1737360"/>
          </a:xfrm>
          <a:prstGeom prst="rect">
            <a:avLst/>
          </a:prstGeom>
          <a:noFill/>
          <a:ln/>
        </p:spPr>
        <p:txBody>
          <a:bodyPr wrap="square" lIns="0" tIns="0" rIns="0" bIns="0" rtlCol="0" anchor="t"/>
          <a:lstStyle/>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Im lặng khi họp, trình chiếu, tập trung, DND</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Tối đa 3 lời nhắc/giờ, 10 lời/ngày</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Việc chưa kịp nói xếp hàng chờ, không chen ngang</a:t>
            </a:r>
            <a:endParaRPr lang="en-US" sz="1300" dirty="0"/>
          </a:p>
        </p:txBody>
      </p:sp>
      <p:sp>
        <p:nvSpPr>
          <p:cNvPr id="20" name="Shape 15"/>
          <p:cNvSpPr/>
          <p:nvPr/>
        </p:nvSpPr>
        <p:spPr>
          <a:xfrm>
            <a:off x="6172200" y="1828800"/>
            <a:ext cx="2606040" cy="3429000"/>
          </a:xfrm>
          <a:prstGeom prst="roundRect">
            <a:avLst>
              <a:gd name="adj" fmla="val 3509"/>
            </a:avLst>
          </a:prstGeom>
          <a:solidFill>
            <a:srgbClr val="FFFFFF"/>
          </a:solidFill>
          <a:ln w="12700">
            <a:solidFill>
              <a:srgbClr val="D9DFE6"/>
            </a:solidFill>
            <a:prstDash val="solid"/>
          </a:ln>
        </p:spPr>
      </p:sp>
      <p:sp>
        <p:nvSpPr>
          <p:cNvPr id="21" name="Shape 16"/>
          <p:cNvSpPr/>
          <p:nvPr/>
        </p:nvSpPr>
        <p:spPr>
          <a:xfrm>
            <a:off x="6446520" y="2103120"/>
            <a:ext cx="685800" cy="685800"/>
          </a:xfrm>
          <a:prstGeom prst="ellipse">
            <a:avLst/>
          </a:prstGeom>
          <a:solidFill>
            <a:srgbClr val="00884A"/>
          </a:solidFill>
          <a:ln/>
        </p:spPr>
      </p:sp>
      <p:pic>
        <p:nvPicPr>
          <p:cNvPr id="22" name="Image 3" descr="preencoded.png">    </p:cNvPr>
          <p:cNvPicPr>
            <a:picLocks noChangeAspect="1"/>
          </p:cNvPicPr>
          <p:nvPr/>
        </p:nvPicPr>
        <p:blipFill>
          <a:blip r:embed="rId4"/>
          <a:stretch>
            <a:fillRect/>
          </a:stretch>
        </p:blipFill>
        <p:spPr>
          <a:xfrm>
            <a:off x="6631686" y="2288286"/>
            <a:ext cx="315468" cy="315468"/>
          </a:xfrm>
          <a:prstGeom prst="rect">
            <a:avLst/>
          </a:prstGeom>
        </p:spPr>
      </p:pic>
      <p:sp>
        <p:nvSpPr>
          <p:cNvPr id="23" name="Text 17"/>
          <p:cNvSpPr txBox="1"/>
          <p:nvPr/>
        </p:nvSpPr>
        <p:spPr>
          <a:xfrm>
            <a:off x="6446520" y="2944368"/>
            <a:ext cx="2148840" cy="320040"/>
          </a:xfrm>
          <a:prstGeom prst="rect">
            <a:avLst/>
          </a:prstGeom>
          <a:noFill/>
          <a:ln/>
        </p:spPr>
        <p:txBody>
          <a:bodyPr wrap="square" lIns="0" tIns="0" rIns="0" bIns="0" rtlCol="0" anchor="t"/>
          <a:lstStyle/>
          <a:p>
            <a:pPr indent="0" marL="0">
              <a:buNone/>
            </a:pPr>
            <a:r>
              <a:rPr lang="en-US" sz="1650" b="1" dirty="0">
                <a:solidFill>
                  <a:srgbClr val="1B2733"/>
                </a:solidFill>
                <a:latin typeface="Calibri" pitchFamily="34" charset="0"/>
                <a:ea typeface="Calibri" pitchFamily="34" charset="-122"/>
                <a:cs typeface="Calibri" pitchFamily="34" charset="-120"/>
              </a:rPr>
              <a:t>Animation dễ chịu</a:t>
            </a:r>
            <a:endParaRPr lang="en-US" sz="1650" dirty="0"/>
          </a:p>
        </p:txBody>
      </p:sp>
      <p:sp>
        <p:nvSpPr>
          <p:cNvPr id="24" name="Text 18"/>
          <p:cNvSpPr txBox="1"/>
          <p:nvPr/>
        </p:nvSpPr>
        <p:spPr>
          <a:xfrm>
            <a:off x="6446520" y="3429000"/>
            <a:ext cx="2148840" cy="1737360"/>
          </a:xfrm>
          <a:prstGeom prst="rect">
            <a:avLst/>
          </a:prstGeom>
          <a:noFill/>
          <a:ln/>
        </p:spPr>
        <p:txBody>
          <a:bodyPr wrap="square" lIns="0" tIns="0" rIns="0" bIns="0" rtlCol="0" anchor="t"/>
          <a:lstStyle/>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Chỉ ló chóp đuôi ở góc màn hình</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Rê chuột 0,6 giây mới ló đầu</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Cửa sổ trong suốt, click-through, nhẹ CPU</a:t>
            </a:r>
            <a:endParaRPr lang="en-US" sz="1300" dirty="0"/>
          </a:p>
        </p:txBody>
      </p:sp>
      <p:sp>
        <p:nvSpPr>
          <p:cNvPr id="25" name="Shape 19"/>
          <p:cNvSpPr/>
          <p:nvPr/>
        </p:nvSpPr>
        <p:spPr>
          <a:xfrm>
            <a:off x="8961120" y="1828800"/>
            <a:ext cx="2606040" cy="3429000"/>
          </a:xfrm>
          <a:prstGeom prst="roundRect">
            <a:avLst>
              <a:gd name="adj" fmla="val 3509"/>
            </a:avLst>
          </a:prstGeom>
          <a:solidFill>
            <a:srgbClr val="FFFFFF"/>
          </a:solidFill>
          <a:ln w="12700">
            <a:solidFill>
              <a:srgbClr val="D9DFE6"/>
            </a:solidFill>
            <a:prstDash val="solid"/>
          </a:ln>
        </p:spPr>
      </p:sp>
      <p:sp>
        <p:nvSpPr>
          <p:cNvPr id="26" name="Shape 20"/>
          <p:cNvSpPr/>
          <p:nvPr/>
        </p:nvSpPr>
        <p:spPr>
          <a:xfrm>
            <a:off x="9235440" y="2103120"/>
            <a:ext cx="685800" cy="685800"/>
          </a:xfrm>
          <a:prstGeom prst="ellipse">
            <a:avLst/>
          </a:prstGeom>
          <a:solidFill>
            <a:srgbClr val="007BC0"/>
          </a:solidFill>
          <a:ln/>
        </p:spPr>
      </p:sp>
      <p:pic>
        <p:nvPicPr>
          <p:cNvPr id="27" name="Image 4" descr="preencoded.png">    </p:cNvPr>
          <p:cNvPicPr>
            <a:picLocks noChangeAspect="1"/>
          </p:cNvPicPr>
          <p:nvPr/>
        </p:nvPicPr>
        <p:blipFill>
          <a:blip r:embed="rId5"/>
          <a:stretch>
            <a:fillRect/>
          </a:stretch>
        </p:blipFill>
        <p:spPr>
          <a:xfrm>
            <a:off x="9420606" y="2288286"/>
            <a:ext cx="315468" cy="315468"/>
          </a:xfrm>
          <a:prstGeom prst="rect">
            <a:avLst/>
          </a:prstGeom>
        </p:spPr>
      </p:pic>
      <p:sp>
        <p:nvSpPr>
          <p:cNvPr id="28" name="Text 21"/>
          <p:cNvSpPr txBox="1"/>
          <p:nvPr/>
        </p:nvSpPr>
        <p:spPr>
          <a:xfrm>
            <a:off x="9235440" y="2944368"/>
            <a:ext cx="2148840" cy="320040"/>
          </a:xfrm>
          <a:prstGeom prst="rect">
            <a:avLst/>
          </a:prstGeom>
          <a:noFill/>
          <a:ln/>
        </p:spPr>
        <p:txBody>
          <a:bodyPr wrap="square" lIns="0" tIns="0" rIns="0" bIns="0" rtlCol="0" anchor="t"/>
          <a:lstStyle/>
          <a:p>
            <a:pPr indent="0" marL="0">
              <a:buNone/>
            </a:pPr>
            <a:r>
              <a:rPr lang="en-US" sz="1650" b="1" dirty="0">
                <a:solidFill>
                  <a:srgbClr val="1B2733"/>
                </a:solidFill>
                <a:latin typeface="Calibri" pitchFamily="34" charset="0"/>
                <a:ea typeface="Calibri" pitchFamily="34" charset="-122"/>
                <a:cs typeface="Calibri" pitchFamily="34" charset="-120"/>
              </a:rPr>
              <a:t>Chăm sóc có cơ sở</a:t>
            </a:r>
            <a:endParaRPr lang="en-US" sz="1650" dirty="0"/>
          </a:p>
        </p:txBody>
      </p:sp>
      <p:sp>
        <p:nvSpPr>
          <p:cNvPr id="29" name="Text 22"/>
          <p:cNvSpPr txBox="1"/>
          <p:nvPr/>
        </p:nvSpPr>
        <p:spPr>
          <a:xfrm>
            <a:off x="9235440" y="3429000"/>
            <a:ext cx="2148840" cy="1737360"/>
          </a:xfrm>
          <a:prstGeom prst="rect">
            <a:avLst/>
          </a:prstGeom>
          <a:noFill/>
          <a:ln/>
        </p:spPr>
        <p:txBody>
          <a:bodyPr wrap="square" lIns="0" tIns="0" rIns="0" bIns="0" rtlCol="0" anchor="t"/>
          <a:lstStyle/>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Điểm mood 0–100 theo mô hình JD-R</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Một chạm: giữ chỗ nghỉ, khoá tập trung, bật DND</a:t>
            </a:r>
            <a:endParaRPr lang="en-US" sz="1300" dirty="0"/>
          </a:p>
          <a:p>
            <a:pPr marL="165100" indent="-165100">
              <a:spcAft>
                <a:spcPts val="800"/>
              </a:spcAft>
              <a:buSzPct val="100000"/>
              <a:buChar char="•"/>
            </a:pPr>
            <a:r>
              <a:rPr lang="en-US" sz="1300" dirty="0">
                <a:solidFill>
                  <a:srgbClr val="3D4B59"/>
                </a:solidFill>
                <a:latin typeface="Calibri" pitchFamily="34" charset="0"/>
                <a:ea typeface="Calibri" pitchFamily="34" charset="-122"/>
                <a:cs typeface="Calibri" pitchFamily="34" charset="-120"/>
              </a:rPr>
              <a:t>Claude viết câu thoại tự nhiên (tuỳ chọn)</a:t>
            </a:r>
            <a:endParaRPr lang="en-US" sz="1300" dirty="0"/>
          </a:p>
        </p:txBody>
      </p:sp>
      <p:sp>
        <p:nvSpPr>
          <p:cNvPr id="30" name="Shape 23"/>
          <p:cNvSpPr/>
          <p:nvPr/>
        </p:nvSpPr>
        <p:spPr>
          <a:xfrm>
            <a:off x="594360" y="5440680"/>
            <a:ext cx="11000232" cy="685800"/>
          </a:xfrm>
          <a:prstGeom prst="roundRect">
            <a:avLst>
              <a:gd name="adj" fmla="val 13333"/>
            </a:avLst>
          </a:prstGeom>
          <a:solidFill>
            <a:srgbClr val="E4F1F9"/>
          </a:solidFill>
          <a:ln w="12700">
            <a:solidFill>
              <a:srgbClr val="E4F1F9"/>
            </a:solidFill>
            <a:prstDash val="solid"/>
          </a:ln>
        </p:spPr>
      </p:sp>
      <p:pic>
        <p:nvPicPr>
          <p:cNvPr id="31" name="Image 5" descr="preencoded.png">    </p:cNvPr>
          <p:cNvPicPr>
            <a:picLocks noChangeAspect="1"/>
          </p:cNvPicPr>
          <p:nvPr/>
        </p:nvPicPr>
        <p:blipFill>
          <a:blip r:embed="rId6"/>
          <a:stretch>
            <a:fillRect/>
          </a:stretch>
        </p:blipFill>
        <p:spPr>
          <a:xfrm>
            <a:off x="822960" y="5596128"/>
            <a:ext cx="365760" cy="365760"/>
          </a:xfrm>
          <a:prstGeom prst="rect">
            <a:avLst/>
          </a:prstGeom>
        </p:spPr>
      </p:pic>
      <p:sp>
        <p:nvSpPr>
          <p:cNvPr id="32" name="Text 24"/>
          <p:cNvSpPr txBox="1"/>
          <p:nvPr/>
        </p:nvSpPr>
        <p:spPr>
          <a:xfrm>
            <a:off x="1371600" y="5440680"/>
            <a:ext cx="9966960" cy="685800"/>
          </a:xfrm>
          <a:prstGeom prst="rect">
            <a:avLst/>
          </a:prstGeom>
          <a:noFill/>
          <a:ln/>
        </p:spPr>
        <p:txBody>
          <a:bodyPr wrap="square" lIns="0" tIns="0" rIns="0" bIns="0" rtlCol="0" anchor="ctr"/>
          <a:lstStyle/>
          <a:p>
            <a:pPr indent="0" marL="0">
              <a:buNone/>
            </a:pPr>
            <a:r>
              <a:rPr lang="en-US" sz="1350" b="1" dirty="0">
                <a:solidFill>
                  <a:srgbClr val="007BC0"/>
                </a:solidFill>
                <a:latin typeface="Calibri" pitchFamily="34" charset="0"/>
                <a:ea typeface="Calibri" pitchFamily="34" charset="-122"/>
                <a:cs typeface="Calibri" pitchFamily="34" charset="-120"/>
              </a:rPr>
              <a:t>Riêng tư mặc định: </a:t>
            </a:r>
            <a:pPr indent="0" marL="0">
              <a:buNone/>
            </a:pPr>
            <a:r>
              <a:rPr lang="en-US" sz="1350" dirty="0">
                <a:solidFill>
                  <a:srgbClr val="1B2733"/>
                </a:solidFill>
                <a:latin typeface="Calibri" pitchFamily="34" charset="0"/>
                <a:ea typeface="Calibri" pitchFamily="34" charset="-122"/>
                <a:cs typeface="Calibri" pitchFamily="34" charset="-120"/>
              </a:rPr>
              <a:t>không đọc phím bấm, không đọc tiêu đề cửa sổ; nội dung email, cuộc họp, task không rời khỏi máy; không có server riêng.</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7BC0"/>
                </a:solidFill>
                <a:latin typeface="Calibri" pitchFamily="34" charset="0"/>
                <a:ea typeface="Calibri" pitchFamily="34" charset="-122"/>
                <a:cs typeface="Calibri" pitchFamily="34" charset="-120"/>
              </a:rPr>
              <a:t>02 · GIẢI PHÁP · KHÁC BIỆT</a:t>
            </a:r>
            <a:endParaRPr lang="en-US" sz="1200" dirty="0"/>
          </a:p>
        </p:txBody>
      </p:sp>
      <p:sp>
        <p:nvSpPr>
          <p:cNvPr id="3" name="Text 1"/>
          <p:cNvSpPr txBox="1"/>
          <p:nvPr/>
        </p:nvSpPr>
        <p:spPr>
          <a:xfrm>
            <a:off x="594360" y="713232"/>
            <a:ext cx="10881360" cy="64008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Từ đồng hồ đếm giờ đến người bạn hiểu ngữ cảnh</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6</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1000232" cy="914400"/>
        </p:xfrm>
        <a:graphic>
          <a:graphicData uri="http://schemas.openxmlformats.org/drawingml/2006/table">
            <a:tbl>
              <a:tblPr/>
              <a:tblGrid>
                <a:gridCol w="2194560"/>
                <a:gridCol w="3657600"/>
                <a:gridCol w="5148072"/>
              </a:tblGrid>
              <a:tr h="457200">
                <a:tc>
                  <a:txBody>
                    <a:bodyPr/>
                    <a:lstStyle/>
                    <a:p>
                      <a:pPr algn="l" indent="0" marL="0">
                        <a:buNone/>
                      </a:pPr>
                      <a:endParaRPr lang="en-US" sz="15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667584"/>
                          </a:solidFill>
                          <a:latin typeface="Calibri" pitchFamily="34" charset="0"/>
                          <a:ea typeface="Calibri" pitchFamily="34" charset="-122"/>
                          <a:cs typeface="Calibri" pitchFamily="34" charset="-120"/>
                        </a:rPr>
                        <a:t>Nhắc nghỉ thông thường</a:t>
                      </a:r>
                      <a:endParaRPr lang="en-US" sz="15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E7EBF0"/>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Milo</a:t>
                      </a:r>
                      <a:endParaRPr lang="en-US" sz="15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007BC0"/>
                    </a:solidFill>
                  </a:tcPr>
                </a:tc>
              </a:tr>
              <a:tr h="749808">
                <a:tc>
                  <a:txBody>
                    <a:bodyPr/>
                    <a:lstStyle/>
                    <a:p>
                      <a:pPr indent="0" marL="0">
                        <a:buNone/>
                      </a:pPr>
                      <a:r>
                        <a:rPr lang="en-US" sz="1400" b="1" dirty="0">
                          <a:solidFill>
                            <a:srgbClr val="1B2733"/>
                          </a:solidFill>
                          <a:latin typeface="Calibri" pitchFamily="34" charset="0"/>
                          <a:ea typeface="Calibri" pitchFamily="34" charset="-122"/>
                          <a:cs typeface="Calibri" pitchFamily="34" charset="-120"/>
                        </a:rPr>
                        <a:t>Thời điểm nhắc</a:t>
                      </a:r>
                      <a:endParaRPr lang="en-US" sz="14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667584"/>
                          </a:solidFill>
                          <a:latin typeface="Calibri" pitchFamily="34" charset="0"/>
                          <a:ea typeface="Calibri" pitchFamily="34" charset="-122"/>
                          <a:cs typeface="Calibri" pitchFamily="34" charset="-120"/>
                        </a:rPr>
                        <a:t>Theo giờ cố định (mỗi 25 hoặc 50 phút)</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Calibri" pitchFamily="34" charset="0"/>
                          <a:ea typeface="Calibri" pitchFamily="34" charset="-122"/>
                          <a:cs typeface="Calibri" pitchFamily="34" charset="-120"/>
                        </a:rPr>
                        <a:t>Theo dữ liệu thật: họp liền 3h20, làm liền 120 phút, task kẹt nhiều ngày</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E4F1F9"/>
                    </a:solidFill>
                  </a:tcPr>
                </a:tc>
              </a:tr>
              <a:tr h="749808">
                <a:tc>
                  <a:txBody>
                    <a:bodyPr/>
                    <a:lstStyle/>
                    <a:p>
                      <a:pPr indent="0" marL="0">
                        <a:buNone/>
                      </a:pPr>
                      <a:r>
                        <a:rPr lang="en-US" sz="1400" b="1" dirty="0">
                          <a:solidFill>
                            <a:srgbClr val="1B2733"/>
                          </a:solidFill>
                          <a:latin typeface="Calibri" pitchFamily="34" charset="0"/>
                          <a:ea typeface="Calibri" pitchFamily="34" charset="-122"/>
                          <a:cs typeface="Calibri" pitchFamily="34" charset="-120"/>
                        </a:rPr>
                        <a:t>Đang họp, trình chiếu</a:t>
                      </a:r>
                      <a:endParaRPr lang="en-US" sz="14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667584"/>
                          </a:solidFill>
                          <a:latin typeface="Calibri" pitchFamily="34" charset="0"/>
                          <a:ea typeface="Calibri" pitchFamily="34" charset="-122"/>
                          <a:cs typeface="Calibri" pitchFamily="34" charset="-120"/>
                        </a:rPr>
                        <a:t>Vẫn bật thông báo</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Calibri" pitchFamily="34" charset="0"/>
                          <a:ea typeface="Calibri" pitchFamily="34" charset="-122"/>
                          <a:cs typeface="Calibri" pitchFamily="34" charset="-120"/>
                        </a:rPr>
                        <a:t>Im lặng; tự ẩn khi chia sẻ màn hình</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E4F1F9"/>
                    </a:solidFill>
                  </a:tcPr>
                </a:tc>
              </a:tr>
              <a:tr h="749808">
                <a:tc>
                  <a:txBody>
                    <a:bodyPr/>
                    <a:lstStyle/>
                    <a:p>
                      <a:pPr indent="0" marL="0">
                        <a:buNone/>
                      </a:pPr>
                      <a:r>
                        <a:rPr lang="en-US" sz="1400" b="1" dirty="0">
                          <a:solidFill>
                            <a:srgbClr val="1B2733"/>
                          </a:solidFill>
                          <a:latin typeface="Calibri" pitchFamily="34" charset="0"/>
                          <a:ea typeface="Calibri" pitchFamily="34" charset="-122"/>
                          <a:cs typeface="Calibri" pitchFamily="34" charset="-120"/>
                        </a:rPr>
                        <a:t>Mức độ làm phiền</a:t>
                      </a:r>
                      <a:endParaRPr lang="en-US" sz="14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667584"/>
                          </a:solidFill>
                          <a:latin typeface="Calibri" pitchFamily="34" charset="0"/>
                          <a:ea typeface="Calibri" pitchFamily="34" charset="-122"/>
                          <a:cs typeface="Calibri" pitchFamily="34" charset="-120"/>
                        </a:rPr>
                        <a:t>Lặp lại đều đặn</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Calibri" pitchFamily="34" charset="0"/>
                          <a:ea typeface="Calibri" pitchFamily="34" charset="-122"/>
                          <a:cs typeface="Calibri" pitchFamily="34" charset="-120"/>
                        </a:rPr>
                        <a:t>Ngân sách: cách nhau ≥ 15 phút, ≤ 3 lời/giờ, ≤ 10 lời/ngày</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E4F1F9"/>
                    </a:solidFill>
                  </a:tcPr>
                </a:tc>
              </a:tr>
              <a:tr h="749808">
                <a:tc>
                  <a:txBody>
                    <a:bodyPr/>
                    <a:lstStyle/>
                    <a:p>
                      <a:pPr indent="0" marL="0">
                        <a:buNone/>
                      </a:pPr>
                      <a:r>
                        <a:rPr lang="en-US" sz="1400" b="1" dirty="0">
                          <a:solidFill>
                            <a:srgbClr val="1B2733"/>
                          </a:solidFill>
                          <a:latin typeface="Calibri" pitchFamily="34" charset="0"/>
                          <a:ea typeface="Calibri" pitchFamily="34" charset="-122"/>
                          <a:cs typeface="Calibri" pitchFamily="34" charset="-120"/>
                        </a:rPr>
                        <a:t>Sau khi nhắc</a:t>
                      </a:r>
                      <a:endParaRPr lang="en-US" sz="14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667584"/>
                          </a:solidFill>
                          <a:latin typeface="Calibri" pitchFamily="34" charset="0"/>
                          <a:ea typeface="Calibri" pitchFamily="34" charset="-122"/>
                          <a:cs typeface="Calibri" pitchFamily="34" charset="-120"/>
                        </a:rPr>
                        <a:t>Người dùng tự xoay xở</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Calibri" pitchFamily="34" charset="0"/>
                          <a:ea typeface="Calibri" pitchFamily="34" charset="-122"/>
                          <a:cs typeface="Calibri" pitchFamily="34" charset="-120"/>
                        </a:rPr>
                        <a:t>Một chạm: giữ chỗ nghỉ trên Outlook, khoá giờ tập trung, bật Teams DND</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E4F1F9"/>
                    </a:solidFill>
                  </a:tcPr>
                </a:tc>
              </a:tr>
              <a:tr h="749808">
                <a:tc>
                  <a:txBody>
                    <a:bodyPr/>
                    <a:lstStyle/>
                    <a:p>
                      <a:pPr indent="0" marL="0">
                        <a:buNone/>
                      </a:pPr>
                      <a:r>
                        <a:rPr lang="en-US" sz="1400" b="1" dirty="0">
                          <a:solidFill>
                            <a:srgbClr val="1B2733"/>
                          </a:solidFill>
                          <a:latin typeface="Calibri" pitchFamily="34" charset="0"/>
                          <a:ea typeface="Calibri" pitchFamily="34" charset="-122"/>
                          <a:cs typeface="Calibri" pitchFamily="34" charset="-120"/>
                        </a:rPr>
                        <a:t>Hiểu người dùng</a:t>
                      </a:r>
                      <a:endParaRPr lang="en-US" sz="140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667584"/>
                          </a:solidFill>
                          <a:latin typeface="Calibri" pitchFamily="34" charset="0"/>
                          <a:ea typeface="Calibri" pitchFamily="34" charset="-122"/>
                          <a:cs typeface="Calibri" pitchFamily="34" charset="-120"/>
                        </a:rPr>
                        <a:t>Không</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FFFFFF"/>
                    </a:solidFill>
                  </a:tcPr>
                </a:tc>
                <a:tc>
                  <a:txBody>
                    <a:bodyPr/>
                    <a:lstStyle/>
                    <a:p>
                      <a:pPr indent="0" marL="0">
                        <a:buNone/>
                      </a:pPr>
                      <a:r>
                        <a:rPr lang="en-US" sz="1350" dirty="0">
                          <a:solidFill>
                            <a:srgbClr val="1B2733"/>
                          </a:solidFill>
                          <a:latin typeface="Calibri" pitchFamily="34" charset="0"/>
                          <a:ea typeface="Calibri" pitchFamily="34" charset="-122"/>
                          <a:cs typeface="Calibri" pitchFamily="34" charset="-120"/>
                        </a:rPr>
                        <a:t>Điểm mood 0–100 mỗi ngày, dashboard trái cây, cá nhân hoá theo 7 ngày gần nhất</a:t>
                      </a:r>
                      <a:endParaRPr lang="en-US" sz="1350" dirty="0">
                        <a:latin typeface="Calibri" charset="0"/>
                        <a:ea typeface="Calibri" charset="0"/>
                        <a:cs typeface="Calibri" charset="0"/>
                      </a:endParaRPr>
                    </a:p>
                  </a:txBody>
                  <a:tcPr marL="137160" marR="137160" marT="0" marB="0" anchor="ctr">
                    <a:lnL w="12700" cap="flat" cmpd="sng" algn="ctr">
                      <a:solidFill>
                        <a:srgbClr val="D9DFE6"/>
                      </a:solidFill>
                      <a:prstDash val="solid"/>
                      <a:round/>
                      <a:headEnd type="none" w="med" len="med"/>
                      <a:tailEnd type="none" w="med" len="med"/>
                    </a:lnL>
                    <a:lnR w="12700" cap="flat" cmpd="sng" algn="ctr">
                      <a:solidFill>
                        <a:srgbClr val="D9DFE6"/>
                      </a:solidFill>
                      <a:prstDash val="solid"/>
                      <a:round/>
                      <a:headEnd type="none" w="med" len="med"/>
                      <a:tailEnd type="none" w="med" len="med"/>
                    </a:lnR>
                    <a:lnT w="12700" cap="flat" cmpd="sng" algn="ctr">
                      <a:solidFill>
                        <a:srgbClr val="D9DFE6"/>
                      </a:solidFill>
                      <a:prstDash val="solid"/>
                      <a:round/>
                      <a:headEnd type="none" w="med" len="med"/>
                      <a:tailEnd type="none" w="med" len="med"/>
                    </a:lnT>
                    <a:lnB w="12700" cap="flat" cmpd="sng" algn="ctr">
                      <a:solidFill>
                        <a:srgbClr val="D9DFE6"/>
                      </a:solidFill>
                      <a:prstDash val="solid"/>
                      <a:round/>
                      <a:headEnd type="none" w="med" len="med"/>
                      <a:tailEnd type="none" w="med" len="med"/>
                    </a:lnB>
                    <a:solidFill>
                      <a:srgbClr val="E4F1F9"/>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7BC0"/>
                </a:solidFill>
                <a:latin typeface="Calibri" pitchFamily="34" charset="0"/>
                <a:ea typeface="Calibri" pitchFamily="34" charset="-122"/>
                <a:cs typeface="Calibri" pitchFamily="34" charset="-120"/>
              </a:rPr>
              <a:t>03 · KIẾN TRÚC</a:t>
            </a:r>
            <a:endParaRPr lang="en-US" sz="1200" dirty="0"/>
          </a:p>
        </p:txBody>
      </p:sp>
      <p:sp>
        <p:nvSpPr>
          <p:cNvPr id="3" name="Text 1"/>
          <p:cNvSpPr txBox="1"/>
          <p:nvPr/>
        </p:nvSpPr>
        <p:spPr>
          <a:xfrm>
            <a:off x="594360" y="713232"/>
            <a:ext cx="10881360" cy="54864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Ba project, một bộ não</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7</a:t>
            </a:r>
            <a:endParaRPr lang="en-US" sz="950" dirty="0"/>
          </a:p>
        </p:txBody>
      </p:sp>
      <p:sp>
        <p:nvSpPr>
          <p:cNvPr id="9" name="Text 7"/>
          <p:cNvSpPr txBox="1"/>
          <p:nvPr/>
        </p:nvSpPr>
        <p:spPr>
          <a:xfrm>
            <a:off x="594360" y="1353312"/>
            <a:ext cx="2148840" cy="237744"/>
          </a:xfrm>
          <a:prstGeom prst="rect">
            <a:avLst/>
          </a:prstGeom>
          <a:noFill/>
          <a:ln/>
        </p:spPr>
        <p:txBody>
          <a:bodyPr wrap="square" lIns="0" tIns="0" rIns="0" bIns="0" rtlCol="0" anchor="t"/>
          <a:lstStyle/>
          <a:p>
            <a:pPr indent="0" marL="0">
              <a:buNone/>
            </a:pPr>
            <a:r>
              <a:rPr lang="en-US" sz="1000" b="1" spc="200" kern="0" dirty="0">
                <a:solidFill>
                  <a:srgbClr val="667584"/>
                </a:solidFill>
                <a:latin typeface="Calibri" pitchFamily="34" charset="0"/>
                <a:ea typeface="Calibri" pitchFamily="34" charset="-122"/>
                <a:cs typeface="Calibri" pitchFamily="34" charset="-120"/>
              </a:rPr>
              <a:t>BÊN NGOÀI</a:t>
            </a:r>
            <a:endParaRPr lang="en-US" sz="1000" dirty="0"/>
          </a:p>
        </p:txBody>
      </p:sp>
      <p:sp>
        <p:nvSpPr>
          <p:cNvPr id="10" name="Text 8"/>
          <p:cNvSpPr txBox="1"/>
          <p:nvPr/>
        </p:nvSpPr>
        <p:spPr>
          <a:xfrm>
            <a:off x="3200400" y="1353312"/>
            <a:ext cx="2514600" cy="237744"/>
          </a:xfrm>
          <a:prstGeom prst="rect">
            <a:avLst/>
          </a:prstGeom>
          <a:noFill/>
          <a:ln/>
        </p:spPr>
        <p:txBody>
          <a:bodyPr wrap="square" lIns="0" tIns="0" rIns="0" bIns="0" rtlCol="0" anchor="t"/>
          <a:lstStyle/>
          <a:p>
            <a:pPr indent="0" marL="0">
              <a:buNone/>
            </a:pPr>
            <a:r>
              <a:rPr lang="en-US" sz="1000" b="1" spc="200" kern="0" dirty="0">
                <a:solidFill>
                  <a:srgbClr val="667584"/>
                </a:solidFill>
                <a:latin typeface="Calibri" pitchFamily="34" charset="0"/>
                <a:ea typeface="Calibri" pitchFamily="34" charset="-122"/>
                <a:cs typeface="Calibri" pitchFamily="34" charset="-120"/>
              </a:rPr>
              <a:t>INTEGRATIONS</a:t>
            </a:r>
            <a:endParaRPr lang="en-US" sz="1000" dirty="0"/>
          </a:p>
        </p:txBody>
      </p:sp>
      <p:sp>
        <p:nvSpPr>
          <p:cNvPr id="11" name="Text 9"/>
          <p:cNvSpPr txBox="1"/>
          <p:nvPr/>
        </p:nvSpPr>
        <p:spPr>
          <a:xfrm>
            <a:off x="6172200" y="1353312"/>
            <a:ext cx="2743200" cy="237744"/>
          </a:xfrm>
          <a:prstGeom prst="rect">
            <a:avLst/>
          </a:prstGeom>
          <a:noFill/>
          <a:ln/>
        </p:spPr>
        <p:txBody>
          <a:bodyPr wrap="square" lIns="0" tIns="0" rIns="0" bIns="0" rtlCol="0" anchor="t"/>
          <a:lstStyle/>
          <a:p>
            <a:pPr indent="0" marL="0">
              <a:buNone/>
            </a:pPr>
            <a:r>
              <a:rPr lang="en-US" sz="1000" b="1" spc="200" kern="0" dirty="0">
                <a:solidFill>
                  <a:srgbClr val="667584"/>
                </a:solidFill>
                <a:latin typeface="Calibri" pitchFamily="34" charset="0"/>
                <a:ea typeface="Calibri" pitchFamily="34" charset="-122"/>
                <a:cs typeface="Calibri" pitchFamily="34" charset="-120"/>
              </a:rPr>
              <a:t>CORE</a:t>
            </a:r>
            <a:endParaRPr lang="en-US" sz="1000" dirty="0"/>
          </a:p>
        </p:txBody>
      </p:sp>
      <p:sp>
        <p:nvSpPr>
          <p:cNvPr id="12" name="Text 10"/>
          <p:cNvSpPr txBox="1"/>
          <p:nvPr/>
        </p:nvSpPr>
        <p:spPr>
          <a:xfrm>
            <a:off x="9372600" y="1353312"/>
            <a:ext cx="2221992" cy="237744"/>
          </a:xfrm>
          <a:prstGeom prst="rect">
            <a:avLst/>
          </a:prstGeom>
          <a:noFill/>
          <a:ln/>
        </p:spPr>
        <p:txBody>
          <a:bodyPr wrap="square" lIns="0" tIns="0" rIns="0" bIns="0" rtlCol="0" anchor="t"/>
          <a:lstStyle/>
          <a:p>
            <a:pPr indent="0" marL="0">
              <a:buNone/>
            </a:pPr>
            <a:r>
              <a:rPr lang="en-US" sz="1000" b="1" spc="200" kern="0" dirty="0">
                <a:solidFill>
                  <a:srgbClr val="667584"/>
                </a:solidFill>
                <a:latin typeface="Calibri" pitchFamily="34" charset="0"/>
                <a:ea typeface="Calibri" pitchFamily="34" charset="-122"/>
                <a:cs typeface="Calibri" pitchFamily="34" charset="-120"/>
              </a:rPr>
              <a:t>APP</a:t>
            </a:r>
            <a:endParaRPr lang="en-US" sz="1000" dirty="0"/>
          </a:p>
        </p:txBody>
      </p:sp>
      <p:sp>
        <p:nvSpPr>
          <p:cNvPr id="13" name="Shape 11"/>
          <p:cNvSpPr/>
          <p:nvPr/>
        </p:nvSpPr>
        <p:spPr>
          <a:xfrm>
            <a:off x="594360" y="1691640"/>
            <a:ext cx="2148840" cy="1188720"/>
          </a:xfrm>
          <a:prstGeom prst="roundRect">
            <a:avLst>
              <a:gd name="adj" fmla="val 7692"/>
            </a:avLst>
          </a:prstGeom>
          <a:solidFill>
            <a:srgbClr val="FFFFFF"/>
          </a:solidFill>
          <a:ln w="12700">
            <a:solidFill>
              <a:srgbClr val="D9DFE6"/>
            </a:solidFill>
            <a:prstDash val="solid"/>
          </a:ln>
        </p:spPr>
      </p:sp>
      <p:sp>
        <p:nvSpPr>
          <p:cNvPr id="14" name="Text 12"/>
          <p:cNvSpPr txBox="1"/>
          <p:nvPr/>
        </p:nvSpPr>
        <p:spPr>
          <a:xfrm>
            <a:off x="758952" y="1892808"/>
            <a:ext cx="1828800" cy="320040"/>
          </a:xfrm>
          <a:prstGeom prst="rect">
            <a:avLst/>
          </a:prstGeom>
          <a:noFill/>
          <a:ln/>
        </p:spPr>
        <p:txBody>
          <a:bodyPr wrap="square" lIns="0" tIns="0" rIns="0" bIns="0" rtlCol="0" anchor="t"/>
          <a:lstStyle/>
          <a:p>
            <a:pPr indent="0" marL="0">
              <a:buNone/>
            </a:pPr>
            <a:r>
              <a:rPr lang="en-US" sz="1500" b="1" dirty="0">
                <a:solidFill>
                  <a:srgbClr val="1B2733"/>
                </a:solidFill>
                <a:latin typeface="Calibri" pitchFamily="34" charset="0"/>
                <a:ea typeface="Calibri" pitchFamily="34" charset="-122"/>
                <a:cs typeface="Calibri" pitchFamily="34" charset="-120"/>
              </a:rPr>
              <a:t>Microsoft Graph</a:t>
            </a:r>
            <a:endParaRPr lang="en-US" sz="1500" dirty="0"/>
          </a:p>
        </p:txBody>
      </p:sp>
      <p:sp>
        <p:nvSpPr>
          <p:cNvPr id="15" name="Text 13"/>
          <p:cNvSpPr txBox="1"/>
          <p:nvPr/>
        </p:nvSpPr>
        <p:spPr>
          <a:xfrm>
            <a:off x="758952" y="2258568"/>
            <a:ext cx="1828800" cy="548640"/>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Teams presence · Outlook · Mail</a:t>
            </a:r>
            <a:endParaRPr lang="en-US" sz="1150" dirty="0"/>
          </a:p>
        </p:txBody>
      </p:sp>
      <p:sp>
        <p:nvSpPr>
          <p:cNvPr id="16" name="Shape 14"/>
          <p:cNvSpPr/>
          <p:nvPr/>
        </p:nvSpPr>
        <p:spPr>
          <a:xfrm>
            <a:off x="2743200" y="2286000"/>
            <a:ext cx="457200" cy="0"/>
          </a:xfrm>
          <a:prstGeom prst="line">
            <a:avLst/>
          </a:prstGeom>
          <a:noFill/>
          <a:ln w="25400">
            <a:solidFill>
              <a:srgbClr val="667584"/>
            </a:solidFill>
            <a:prstDash val="solid"/>
            <a:headEnd type="triangle"/>
            <a:tailEnd type="triangle"/>
          </a:ln>
        </p:spPr>
      </p:sp>
      <p:sp>
        <p:nvSpPr>
          <p:cNvPr id="17" name="Shape 15"/>
          <p:cNvSpPr/>
          <p:nvPr/>
        </p:nvSpPr>
        <p:spPr>
          <a:xfrm>
            <a:off x="594360" y="3063240"/>
            <a:ext cx="2148840" cy="1188720"/>
          </a:xfrm>
          <a:prstGeom prst="roundRect">
            <a:avLst>
              <a:gd name="adj" fmla="val 7692"/>
            </a:avLst>
          </a:prstGeom>
          <a:solidFill>
            <a:srgbClr val="FFFFFF"/>
          </a:solidFill>
          <a:ln w="12700">
            <a:solidFill>
              <a:srgbClr val="D9DFE6"/>
            </a:solidFill>
            <a:prstDash val="solid"/>
          </a:ln>
        </p:spPr>
      </p:sp>
      <p:sp>
        <p:nvSpPr>
          <p:cNvPr id="18" name="Text 16"/>
          <p:cNvSpPr txBox="1"/>
          <p:nvPr/>
        </p:nvSpPr>
        <p:spPr>
          <a:xfrm>
            <a:off x="758952" y="3264408"/>
            <a:ext cx="1828800" cy="320040"/>
          </a:xfrm>
          <a:prstGeom prst="rect">
            <a:avLst/>
          </a:prstGeom>
          <a:noFill/>
          <a:ln/>
        </p:spPr>
        <p:txBody>
          <a:bodyPr wrap="square" lIns="0" tIns="0" rIns="0" bIns="0" rtlCol="0" anchor="t"/>
          <a:lstStyle/>
          <a:p>
            <a:pPr indent="0" marL="0">
              <a:buNone/>
            </a:pPr>
            <a:r>
              <a:rPr lang="en-US" sz="1500" b="1" dirty="0">
                <a:solidFill>
                  <a:srgbClr val="1B2733"/>
                </a:solidFill>
                <a:latin typeface="Calibri" pitchFamily="34" charset="0"/>
                <a:ea typeface="Calibri" pitchFamily="34" charset="-122"/>
                <a:cs typeface="Calibri" pitchFamily="34" charset="-120"/>
              </a:rPr>
              <a:t>Azure DevOps</a:t>
            </a:r>
            <a:endParaRPr lang="en-US" sz="1500" dirty="0"/>
          </a:p>
        </p:txBody>
      </p:sp>
      <p:sp>
        <p:nvSpPr>
          <p:cNvPr id="19" name="Text 17"/>
          <p:cNvSpPr txBox="1"/>
          <p:nvPr/>
        </p:nvSpPr>
        <p:spPr>
          <a:xfrm>
            <a:off x="758952" y="3630168"/>
            <a:ext cx="1828800" cy="548640"/>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Azure Boards (WIQL)</a:t>
            </a:r>
            <a:endParaRPr lang="en-US" sz="1150" dirty="0"/>
          </a:p>
        </p:txBody>
      </p:sp>
      <p:sp>
        <p:nvSpPr>
          <p:cNvPr id="20" name="Shape 18"/>
          <p:cNvSpPr/>
          <p:nvPr/>
        </p:nvSpPr>
        <p:spPr>
          <a:xfrm>
            <a:off x="2743200" y="3657600"/>
            <a:ext cx="457200" cy="0"/>
          </a:xfrm>
          <a:prstGeom prst="line">
            <a:avLst/>
          </a:prstGeom>
          <a:noFill/>
          <a:ln w="25400">
            <a:solidFill>
              <a:srgbClr val="667584"/>
            </a:solidFill>
            <a:prstDash val="solid"/>
            <a:headEnd type="triangle"/>
            <a:tailEnd type="triangle"/>
          </a:ln>
        </p:spPr>
      </p:sp>
      <p:sp>
        <p:nvSpPr>
          <p:cNvPr id="21" name="Shape 19"/>
          <p:cNvSpPr/>
          <p:nvPr/>
        </p:nvSpPr>
        <p:spPr>
          <a:xfrm>
            <a:off x="594360" y="4434840"/>
            <a:ext cx="2148840" cy="1188720"/>
          </a:xfrm>
          <a:prstGeom prst="roundRect">
            <a:avLst>
              <a:gd name="adj" fmla="val 7692"/>
            </a:avLst>
          </a:prstGeom>
          <a:solidFill>
            <a:srgbClr val="FFFFFF"/>
          </a:solidFill>
          <a:ln w="12700">
            <a:solidFill>
              <a:srgbClr val="D9DFE6"/>
            </a:solidFill>
            <a:prstDash val="solid"/>
          </a:ln>
        </p:spPr>
      </p:sp>
      <p:sp>
        <p:nvSpPr>
          <p:cNvPr id="22" name="Text 20"/>
          <p:cNvSpPr txBox="1"/>
          <p:nvPr/>
        </p:nvSpPr>
        <p:spPr>
          <a:xfrm>
            <a:off x="758952" y="4636008"/>
            <a:ext cx="1828800" cy="320040"/>
          </a:xfrm>
          <a:prstGeom prst="rect">
            <a:avLst/>
          </a:prstGeom>
          <a:noFill/>
          <a:ln/>
        </p:spPr>
        <p:txBody>
          <a:bodyPr wrap="square" lIns="0" tIns="0" rIns="0" bIns="0" rtlCol="0" anchor="t"/>
          <a:lstStyle/>
          <a:p>
            <a:pPr indent="0" marL="0">
              <a:buNone/>
            </a:pPr>
            <a:r>
              <a:rPr lang="en-US" sz="1500" b="1" dirty="0">
                <a:solidFill>
                  <a:srgbClr val="1B2733"/>
                </a:solidFill>
                <a:latin typeface="Calibri" pitchFamily="34" charset="0"/>
                <a:ea typeface="Calibri" pitchFamily="34" charset="-122"/>
                <a:cs typeface="Calibri" pitchFamily="34" charset="-120"/>
              </a:rPr>
              <a:t>Claude API</a:t>
            </a:r>
            <a:endParaRPr lang="en-US" sz="1500" dirty="0"/>
          </a:p>
        </p:txBody>
      </p:sp>
      <p:sp>
        <p:nvSpPr>
          <p:cNvPr id="23" name="Text 21"/>
          <p:cNvSpPr txBox="1"/>
          <p:nvPr/>
        </p:nvSpPr>
        <p:spPr>
          <a:xfrm>
            <a:off x="758952" y="5001768"/>
            <a:ext cx="1828800" cy="548640"/>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Câu thoại · mood · họp (tuỳ chọn)</a:t>
            </a:r>
            <a:endParaRPr lang="en-US" sz="1150" dirty="0"/>
          </a:p>
        </p:txBody>
      </p:sp>
      <p:sp>
        <p:nvSpPr>
          <p:cNvPr id="24" name="Shape 22"/>
          <p:cNvSpPr/>
          <p:nvPr/>
        </p:nvSpPr>
        <p:spPr>
          <a:xfrm>
            <a:off x="2743200" y="5029200"/>
            <a:ext cx="457200" cy="0"/>
          </a:xfrm>
          <a:prstGeom prst="line">
            <a:avLst/>
          </a:prstGeom>
          <a:noFill/>
          <a:ln w="25400">
            <a:solidFill>
              <a:srgbClr val="667584"/>
            </a:solidFill>
            <a:prstDash val="solid"/>
            <a:headEnd type="triangle"/>
            <a:tailEnd type="triangle"/>
          </a:ln>
        </p:spPr>
      </p:sp>
      <p:sp>
        <p:nvSpPr>
          <p:cNvPr id="25" name="Shape 23"/>
          <p:cNvSpPr/>
          <p:nvPr/>
        </p:nvSpPr>
        <p:spPr>
          <a:xfrm>
            <a:off x="3200400" y="1691640"/>
            <a:ext cx="2514600" cy="3931920"/>
          </a:xfrm>
          <a:prstGeom prst="roundRect">
            <a:avLst>
              <a:gd name="adj" fmla="val 3636"/>
            </a:avLst>
          </a:prstGeom>
          <a:solidFill>
            <a:srgbClr val="E2F3EA"/>
          </a:solidFill>
          <a:ln w="19050">
            <a:solidFill>
              <a:srgbClr val="00884A"/>
            </a:solidFill>
            <a:prstDash val="solid"/>
          </a:ln>
        </p:spPr>
      </p:sp>
      <p:sp>
        <p:nvSpPr>
          <p:cNvPr id="26" name="Text 24"/>
          <p:cNvSpPr txBox="1"/>
          <p:nvPr/>
        </p:nvSpPr>
        <p:spPr>
          <a:xfrm>
            <a:off x="3383280" y="1828800"/>
            <a:ext cx="2194560" cy="320040"/>
          </a:xfrm>
          <a:prstGeom prst="rect">
            <a:avLst/>
          </a:prstGeom>
          <a:noFill/>
          <a:ln/>
        </p:spPr>
        <p:txBody>
          <a:bodyPr wrap="square" lIns="0" tIns="0" rIns="0" bIns="0" rtlCol="0" anchor="t"/>
          <a:lstStyle/>
          <a:p>
            <a:pPr indent="0" marL="0">
              <a:buNone/>
            </a:pPr>
            <a:r>
              <a:rPr lang="en-US" sz="1500" b="1" dirty="0">
                <a:solidFill>
                  <a:srgbClr val="00884A"/>
                </a:solidFill>
                <a:latin typeface="Calibri" pitchFamily="34" charset="0"/>
                <a:ea typeface="Calibri" pitchFamily="34" charset="-122"/>
                <a:cs typeface="Calibri" pitchFamily="34" charset="-120"/>
              </a:rPr>
              <a:t>Minditful.Integrations</a:t>
            </a:r>
            <a:endParaRPr lang="en-US" sz="1500" dirty="0"/>
          </a:p>
        </p:txBody>
      </p:sp>
      <p:sp>
        <p:nvSpPr>
          <p:cNvPr id="27" name="Text 25"/>
          <p:cNvSpPr txBox="1"/>
          <p:nvPr/>
        </p:nvSpPr>
        <p:spPr>
          <a:xfrm>
            <a:off x="3383280" y="2176272"/>
            <a:ext cx="2194560" cy="457200"/>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Nói chuyện với thế giới bên ngoài</a:t>
            </a:r>
            <a:endParaRPr lang="en-US" sz="1150" dirty="0"/>
          </a:p>
        </p:txBody>
      </p:sp>
      <p:sp>
        <p:nvSpPr>
          <p:cNvPr id="28" name="Text 26"/>
          <p:cNvSpPr txBox="1"/>
          <p:nvPr/>
        </p:nvSpPr>
        <p:spPr>
          <a:xfrm>
            <a:off x="3383280" y="2743200"/>
            <a:ext cx="2194560" cy="2743200"/>
          </a:xfrm>
          <a:prstGeom prst="rect">
            <a:avLst/>
          </a:prstGeom>
          <a:noFill/>
          <a:ln/>
        </p:spPr>
        <p:txBody>
          <a:bodyPr wrap="square" lIns="0" tIns="0" rIns="0" bIns="0" rtlCol="0" anchor="t"/>
          <a:lstStyle/>
          <a:p>
            <a:pPr marL="165100" indent="-1651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MSAL · đăng nhập Entra ID</a:t>
            </a:r>
            <a:endParaRPr lang="en-US" sz="1250" dirty="0"/>
          </a:p>
          <a:p>
            <a:pPr marL="165100" indent="-1651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GraphClient</a:t>
            </a:r>
            <a:endParaRPr lang="en-US" sz="1250" dirty="0"/>
          </a:p>
          <a:p>
            <a:pPr marL="165100" indent="-1651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AzureBoardsClient</a:t>
            </a:r>
            <a:endParaRPr lang="en-US" sz="1250" dirty="0"/>
          </a:p>
          <a:p>
            <a:pPr marL="165100" indent="-1651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ClaudeLineWriter</a:t>
            </a:r>
            <a:endParaRPr lang="en-US" sz="1250" dirty="0"/>
          </a:p>
          <a:p>
            <a:pPr marL="165100" indent="-1651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LocalStore · SQLite</a:t>
            </a:r>
            <a:endParaRPr lang="en-US" sz="1250" dirty="0"/>
          </a:p>
          <a:p>
            <a:pPr marL="165100" indent="-165100">
              <a:spcAft>
                <a:spcPts val="600"/>
              </a:spcAft>
              <a:buSzPct val="100000"/>
              <a:buChar char="•"/>
            </a:pPr>
            <a:r>
              <a:rPr lang="en-US" sz="1250" dirty="0">
                <a:solidFill>
                  <a:srgbClr val="1B2733"/>
                </a:solidFill>
                <a:latin typeface="Calibri" pitchFamily="34" charset="0"/>
                <a:ea typeface="Calibri" pitchFamily="34" charset="-122"/>
                <a:cs typeface="Calibri" pitchFamily="34" charset="-120"/>
              </a:rPr>
              <a:t>LiveWorkDataProvider, LiveActionSink</a:t>
            </a:r>
            <a:endParaRPr lang="en-US" sz="1250" dirty="0"/>
          </a:p>
        </p:txBody>
      </p:sp>
      <p:sp>
        <p:nvSpPr>
          <p:cNvPr id="29" name="Shape 27"/>
          <p:cNvSpPr/>
          <p:nvPr/>
        </p:nvSpPr>
        <p:spPr>
          <a:xfrm>
            <a:off x="5715000" y="3429000"/>
            <a:ext cx="457200" cy="0"/>
          </a:xfrm>
          <a:prstGeom prst="line">
            <a:avLst/>
          </a:prstGeom>
          <a:noFill/>
          <a:ln w="25400">
            <a:solidFill>
              <a:srgbClr val="667584"/>
            </a:solidFill>
            <a:prstDash val="solid"/>
            <a:headEnd type="triangle"/>
            <a:tailEnd type="triangle"/>
          </a:ln>
        </p:spPr>
      </p:sp>
      <p:sp>
        <p:nvSpPr>
          <p:cNvPr id="30" name="Shape 28"/>
          <p:cNvSpPr/>
          <p:nvPr/>
        </p:nvSpPr>
        <p:spPr>
          <a:xfrm>
            <a:off x="6172200" y="1691640"/>
            <a:ext cx="2743200" cy="3931920"/>
          </a:xfrm>
          <a:prstGeom prst="roundRect">
            <a:avLst>
              <a:gd name="adj" fmla="val 3333"/>
            </a:avLst>
          </a:prstGeom>
          <a:solidFill>
            <a:srgbClr val="007BC0"/>
          </a:solidFill>
          <a:ln/>
        </p:spPr>
      </p:sp>
      <p:sp>
        <p:nvSpPr>
          <p:cNvPr id="31" name="Text 29"/>
          <p:cNvSpPr txBox="1"/>
          <p:nvPr/>
        </p:nvSpPr>
        <p:spPr>
          <a:xfrm>
            <a:off x="6382512" y="1828800"/>
            <a:ext cx="2377440"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Minditful.Core</a:t>
            </a:r>
            <a:endParaRPr lang="en-US" sz="1600" dirty="0"/>
          </a:p>
        </p:txBody>
      </p:sp>
      <p:sp>
        <p:nvSpPr>
          <p:cNvPr id="32" name="Text 30"/>
          <p:cNvSpPr txBox="1"/>
          <p:nvPr/>
        </p:nvSpPr>
        <p:spPr>
          <a:xfrm>
            <a:off x="6382512" y="2194560"/>
            <a:ext cx="2377440" cy="320040"/>
          </a:xfrm>
          <a:prstGeom prst="rect">
            <a:avLst/>
          </a:prstGeom>
          <a:noFill/>
          <a:ln/>
        </p:spPr>
        <p:txBody>
          <a:bodyPr wrap="square" lIns="0" tIns="0" rIns="0" bIns="0" rtlCol="0" anchor="t"/>
          <a:lstStyle/>
          <a:p>
            <a:pPr indent="0" marL="0">
              <a:buNone/>
            </a:pPr>
            <a:r>
              <a:rPr lang="en-US" sz="1150" dirty="0">
                <a:solidFill>
                  <a:srgbClr val="D5EAF6"/>
                </a:solidFill>
                <a:latin typeface="Calibri" pitchFamily="34" charset="0"/>
                <a:ea typeface="Calibri" pitchFamily="34" charset="-122"/>
                <a:cs typeface="Calibri" pitchFamily="34" charset="-120"/>
              </a:rPr>
              <a:t>Bộ não · không phụ thuộc Windows</a:t>
            </a:r>
            <a:endParaRPr lang="en-US" sz="1150" dirty="0"/>
          </a:p>
        </p:txBody>
      </p:sp>
      <p:sp>
        <p:nvSpPr>
          <p:cNvPr id="33" name="Text 31"/>
          <p:cNvSpPr txBox="1"/>
          <p:nvPr/>
        </p:nvSpPr>
        <p:spPr>
          <a:xfrm>
            <a:off x="6382512" y="2697480"/>
            <a:ext cx="2377440" cy="2103120"/>
          </a:xfrm>
          <a:prstGeom prst="rect">
            <a:avLst/>
          </a:prstGeom>
          <a:noFill/>
          <a:ln/>
        </p:spPr>
        <p:txBody>
          <a:bodyPr wrap="square" lIns="0" tIns="0" rIns="0" bIns="0" rtlCol="0" anchor="t"/>
          <a:lstStyle/>
          <a:p>
            <a:pPr marL="165100" indent="-1651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MiloEngine: Rule Engine (16 + 3 case)</a:t>
            </a:r>
            <a:endParaRPr lang="en-US" sz="1250" dirty="0"/>
          </a:p>
          <a:p>
            <a:pPr marL="165100" indent="-1651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Điều phối 8 bước</a:t>
            </a:r>
            <a:endParaRPr lang="en-US" sz="1250" dirty="0"/>
          </a:p>
          <a:p>
            <a:pPr marL="165100" indent="-1651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Episode: Vào → Ở lại → Ra</a:t>
            </a:r>
            <a:endParaRPr lang="en-US" sz="1250" dirty="0"/>
          </a:p>
          <a:p>
            <a:pPr marL="165100" indent="-1651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Mood Engine</a:t>
            </a:r>
            <a:endParaRPr lang="en-US" sz="1250" dirty="0"/>
          </a:p>
          <a:p>
            <a:pPr marL="165100" indent="-165100">
              <a:spcAft>
                <a:spcPts val="600"/>
              </a:spcAft>
              <a:buSzPct val="100000"/>
              <a:buChar char="•"/>
            </a:pPr>
            <a:r>
              <a:rPr lang="en-US" sz="1250" dirty="0">
                <a:solidFill>
                  <a:srgbClr val="FFFFFF"/>
                </a:solidFill>
                <a:latin typeface="Calibri" pitchFamily="34" charset="0"/>
                <a:ea typeface="Calibri" pitchFamily="34" charset="-122"/>
                <a:cs typeface="Calibri" pitchFamily="34" charset="-120"/>
              </a:rPr>
              <a:t>Personalizer, DemoScenario</a:t>
            </a:r>
            <a:endParaRPr lang="en-US" sz="1250" dirty="0"/>
          </a:p>
        </p:txBody>
      </p:sp>
      <p:sp>
        <p:nvSpPr>
          <p:cNvPr id="34" name="Shape 32"/>
          <p:cNvSpPr/>
          <p:nvPr/>
        </p:nvSpPr>
        <p:spPr>
          <a:xfrm>
            <a:off x="6382512" y="4937760"/>
            <a:ext cx="2331720" cy="457200"/>
          </a:xfrm>
          <a:prstGeom prst="roundRect">
            <a:avLst>
              <a:gd name="adj" fmla="val 50000"/>
            </a:avLst>
          </a:prstGeom>
          <a:solidFill>
            <a:srgbClr val="FFFFFF"/>
          </a:solidFill>
          <a:ln/>
        </p:spPr>
      </p:sp>
      <p:sp>
        <p:nvSpPr>
          <p:cNvPr id="35" name="Text 33"/>
          <p:cNvSpPr txBox="1"/>
          <p:nvPr/>
        </p:nvSpPr>
        <p:spPr>
          <a:xfrm>
            <a:off x="6382512" y="4937760"/>
            <a:ext cx="2331720" cy="457200"/>
          </a:xfrm>
          <a:prstGeom prst="rect">
            <a:avLst/>
          </a:prstGeom>
          <a:noFill/>
          <a:ln/>
        </p:spPr>
        <p:txBody>
          <a:bodyPr wrap="square" lIns="0" tIns="0" rIns="0" bIns="0" rtlCol="0" anchor="ctr"/>
          <a:lstStyle/>
          <a:p>
            <a:pPr algn="ctr" indent="0" marL="0">
              <a:buNone/>
            </a:pPr>
            <a:r>
              <a:rPr lang="en-US" sz="1400" b="1" dirty="0">
                <a:solidFill>
                  <a:srgbClr val="007BC0"/>
                </a:solidFill>
                <a:latin typeface="Calibri" pitchFamily="34" charset="0"/>
                <a:ea typeface="Calibri" pitchFamily="34" charset="-122"/>
                <a:cs typeface="Calibri" pitchFamily="34" charset="-120"/>
              </a:rPr>
              <a:t>160 unit test</a:t>
            </a:r>
            <a:endParaRPr lang="en-US" sz="1400" dirty="0"/>
          </a:p>
        </p:txBody>
      </p:sp>
      <p:sp>
        <p:nvSpPr>
          <p:cNvPr id="36" name="Shape 34"/>
          <p:cNvSpPr/>
          <p:nvPr/>
        </p:nvSpPr>
        <p:spPr>
          <a:xfrm>
            <a:off x="8915400" y="3429000"/>
            <a:ext cx="457200" cy="0"/>
          </a:xfrm>
          <a:prstGeom prst="line">
            <a:avLst/>
          </a:prstGeom>
          <a:noFill/>
          <a:ln w="25400">
            <a:solidFill>
              <a:srgbClr val="667584"/>
            </a:solidFill>
            <a:prstDash val="solid"/>
            <a:headEnd type="triangle"/>
            <a:tailEnd type="triangle"/>
          </a:ln>
        </p:spPr>
      </p:sp>
      <p:sp>
        <p:nvSpPr>
          <p:cNvPr id="37" name="Shape 35"/>
          <p:cNvSpPr/>
          <p:nvPr/>
        </p:nvSpPr>
        <p:spPr>
          <a:xfrm>
            <a:off x="9372600" y="1691640"/>
            <a:ext cx="2221992" cy="2743200"/>
          </a:xfrm>
          <a:prstGeom prst="roundRect">
            <a:avLst>
              <a:gd name="adj" fmla="val 4115"/>
            </a:avLst>
          </a:prstGeom>
          <a:solidFill>
            <a:srgbClr val="FDECEE"/>
          </a:solidFill>
          <a:ln w="19050">
            <a:solidFill>
              <a:srgbClr val="E20015"/>
            </a:solidFill>
            <a:prstDash val="solid"/>
          </a:ln>
        </p:spPr>
      </p:sp>
      <p:sp>
        <p:nvSpPr>
          <p:cNvPr id="38" name="Text 36"/>
          <p:cNvSpPr txBox="1"/>
          <p:nvPr/>
        </p:nvSpPr>
        <p:spPr>
          <a:xfrm>
            <a:off x="9528048" y="1828800"/>
            <a:ext cx="1920240" cy="320040"/>
          </a:xfrm>
          <a:prstGeom prst="rect">
            <a:avLst/>
          </a:prstGeom>
          <a:noFill/>
          <a:ln/>
        </p:spPr>
        <p:txBody>
          <a:bodyPr wrap="square" lIns="0" tIns="0" rIns="0" bIns="0" rtlCol="0" anchor="t"/>
          <a:lstStyle/>
          <a:p>
            <a:pPr indent="0" marL="0">
              <a:buNone/>
            </a:pPr>
            <a:r>
              <a:rPr lang="en-US" sz="1500" b="1" dirty="0">
                <a:solidFill>
                  <a:srgbClr val="E20015"/>
                </a:solidFill>
                <a:latin typeface="Calibri" pitchFamily="34" charset="0"/>
                <a:ea typeface="Calibri" pitchFamily="34" charset="-122"/>
                <a:cs typeface="Calibri" pitchFamily="34" charset="-120"/>
              </a:rPr>
              <a:t>Minditful.App</a:t>
            </a:r>
            <a:endParaRPr lang="en-US" sz="1500" dirty="0"/>
          </a:p>
        </p:txBody>
      </p:sp>
      <p:sp>
        <p:nvSpPr>
          <p:cNvPr id="39" name="Text 37"/>
          <p:cNvSpPr txBox="1"/>
          <p:nvPr/>
        </p:nvSpPr>
        <p:spPr>
          <a:xfrm>
            <a:off x="9528048" y="2157984"/>
            <a:ext cx="1920240" cy="274320"/>
          </a:xfrm>
          <a:prstGeom prst="rect">
            <a:avLst/>
          </a:prstGeom>
          <a:noFill/>
          <a:ln/>
        </p:spPr>
        <p:txBody>
          <a:bodyPr wrap="square" lIns="0" tIns="0" rIns="0" bIns="0" rtlCol="0" anchor="t"/>
          <a:lstStyle/>
          <a:p>
            <a:pPr indent="0" marL="0">
              <a:buNone/>
            </a:pPr>
            <a:r>
              <a:rPr lang="en-US" sz="1150" dirty="0">
                <a:solidFill>
                  <a:srgbClr val="667584"/>
                </a:solidFill>
                <a:latin typeface="Calibri" pitchFamily="34" charset="0"/>
                <a:ea typeface="Calibri" pitchFamily="34" charset="-122"/>
                <a:cs typeface="Calibri" pitchFamily="34" charset="-120"/>
              </a:rPr>
              <a:t>WPF · .NET 8</a:t>
            </a:r>
            <a:endParaRPr lang="en-US" sz="1150" dirty="0"/>
          </a:p>
        </p:txBody>
      </p:sp>
      <p:sp>
        <p:nvSpPr>
          <p:cNvPr id="40" name="Text 38"/>
          <p:cNvSpPr txBox="1"/>
          <p:nvPr/>
        </p:nvSpPr>
        <p:spPr>
          <a:xfrm>
            <a:off x="9528048" y="2560320"/>
            <a:ext cx="1965960" cy="1783080"/>
          </a:xfrm>
          <a:prstGeom prst="rect">
            <a:avLst/>
          </a:prstGeom>
          <a:noFill/>
          <a:ln/>
        </p:spPr>
        <p:txBody>
          <a:bodyPr wrap="square" lIns="0" tIns="0" rIns="0" bIns="0" rtlCol="0" anchor="t"/>
          <a:lstStyle/>
          <a:p>
            <a:pPr marL="165100" indent="-165100">
              <a:spcAft>
                <a:spcPts val="600"/>
              </a:spcAft>
              <a:buSzPct val="100000"/>
              <a:buChar char="•"/>
            </a:pPr>
            <a:r>
              <a:rPr lang="en-US" sz="1200" dirty="0">
                <a:solidFill>
                  <a:srgbClr val="1B2733"/>
                </a:solidFill>
                <a:latin typeface="Calibri" pitchFamily="34" charset="0"/>
                <a:ea typeface="Calibri" pitchFamily="34" charset="-122"/>
                <a:cs typeface="Calibri" pitchFamily="34" charset="-120"/>
              </a:rPr>
              <a:t>CompanionWindow: overlay trong suốt</a:t>
            </a:r>
            <a:endParaRPr lang="en-US" sz="1200" dirty="0"/>
          </a:p>
          <a:p>
            <a:pPr marL="165100" indent="-165100">
              <a:spcAft>
                <a:spcPts val="600"/>
              </a:spcAft>
              <a:buSzPct val="100000"/>
              <a:buChar char="•"/>
            </a:pPr>
            <a:r>
              <a:rPr lang="en-US" sz="1200" dirty="0">
                <a:solidFill>
                  <a:srgbClr val="1B2733"/>
                </a:solidFill>
                <a:latin typeface="Calibri" pitchFamily="34" charset="0"/>
                <a:ea typeface="Calibri" pitchFamily="34" charset="-122"/>
                <a:cs typeface="Calibri" pitchFamily="34" charset="-120"/>
              </a:rPr>
              <a:t>MiloLayer · MiloRig: animation</a:t>
            </a:r>
            <a:endParaRPr lang="en-US" sz="1200" dirty="0"/>
          </a:p>
          <a:p>
            <a:pPr marL="165100" indent="-165100">
              <a:spcAft>
                <a:spcPts val="600"/>
              </a:spcAft>
              <a:buSzPct val="100000"/>
              <a:buChar char="•"/>
            </a:pPr>
            <a:r>
              <a:rPr lang="en-US" sz="1200" dirty="0">
                <a:solidFill>
                  <a:srgbClr val="1B2733"/>
                </a:solidFill>
                <a:latin typeface="Calibri" pitchFamily="34" charset="0"/>
                <a:ea typeface="Calibri" pitchFamily="34" charset="-122"/>
                <a:cs typeface="Calibri" pitchFamily="34" charset="-120"/>
              </a:rPr>
              <a:t>ControlCenter, khay hệ thống</a:t>
            </a:r>
            <a:endParaRPr lang="en-US" sz="1200" dirty="0"/>
          </a:p>
        </p:txBody>
      </p:sp>
      <p:sp>
        <p:nvSpPr>
          <p:cNvPr id="41" name="Shape 39"/>
          <p:cNvSpPr/>
          <p:nvPr/>
        </p:nvSpPr>
        <p:spPr>
          <a:xfrm>
            <a:off x="9372600" y="4754880"/>
            <a:ext cx="2221992" cy="868680"/>
          </a:xfrm>
          <a:prstGeom prst="roundRect">
            <a:avLst>
              <a:gd name="adj" fmla="val 10526"/>
            </a:avLst>
          </a:prstGeom>
          <a:solidFill>
            <a:srgbClr val="FFFFFF"/>
          </a:solidFill>
          <a:ln w="12700">
            <a:solidFill>
              <a:srgbClr val="D9DFE6"/>
            </a:solidFill>
            <a:prstDash val="solid"/>
          </a:ln>
        </p:spPr>
      </p:sp>
      <p:sp>
        <p:nvSpPr>
          <p:cNvPr id="42" name="Text 40"/>
          <p:cNvSpPr txBox="1"/>
          <p:nvPr/>
        </p:nvSpPr>
        <p:spPr>
          <a:xfrm>
            <a:off x="9528048" y="4846320"/>
            <a:ext cx="1920240" cy="27432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Windows (Win32)</a:t>
            </a:r>
            <a:endParaRPr lang="en-US" sz="1400" dirty="0"/>
          </a:p>
        </p:txBody>
      </p:sp>
      <p:sp>
        <p:nvSpPr>
          <p:cNvPr id="43" name="Text 41"/>
          <p:cNvSpPr txBox="1"/>
          <p:nvPr/>
        </p:nvSpPr>
        <p:spPr>
          <a:xfrm>
            <a:off x="9528048" y="5138928"/>
            <a:ext cx="1965960" cy="411480"/>
          </a:xfrm>
          <a:prstGeom prst="rect">
            <a:avLst/>
          </a:prstGeom>
          <a:noFill/>
          <a:ln/>
        </p:spPr>
        <p:txBody>
          <a:bodyPr wrap="square" lIns="0" tIns="0" rIns="0" bIns="0" rtlCol="0" anchor="t"/>
          <a:lstStyle/>
          <a:p>
            <a:pPr indent="0" marL="0">
              <a:buNone/>
            </a:pPr>
            <a:r>
              <a:rPr lang="en-US" sz="1100" dirty="0">
                <a:solidFill>
                  <a:srgbClr val="667584"/>
                </a:solidFill>
                <a:latin typeface="Calibri" pitchFamily="34" charset="0"/>
                <a:ea typeface="Calibri" pitchFamily="34" charset="-122"/>
                <a:cs typeface="Calibri" pitchFamily="34" charset="-120"/>
              </a:rPr>
              <a:t>idle · toàn màn hình · khoá máy</a:t>
            </a:r>
            <a:endParaRPr lang="en-US" sz="1100" dirty="0"/>
          </a:p>
        </p:txBody>
      </p:sp>
      <p:sp>
        <p:nvSpPr>
          <p:cNvPr id="44" name="Shape 42"/>
          <p:cNvSpPr/>
          <p:nvPr/>
        </p:nvSpPr>
        <p:spPr>
          <a:xfrm>
            <a:off x="10469880" y="4434840"/>
            <a:ext cx="0" cy="320040"/>
          </a:xfrm>
          <a:prstGeom prst="line">
            <a:avLst/>
          </a:prstGeom>
          <a:noFill/>
          <a:ln w="25400">
            <a:solidFill>
              <a:srgbClr val="667584"/>
            </a:solidFill>
            <a:prstDash val="solid"/>
            <a:headEnd type="triangle"/>
            <a:tailEnd type="triangle"/>
          </a:ln>
        </p:spPr>
      </p:sp>
      <p:sp>
        <p:nvSpPr>
          <p:cNvPr id="45" name="Shape 43"/>
          <p:cNvSpPr/>
          <p:nvPr/>
        </p:nvSpPr>
        <p:spPr>
          <a:xfrm>
            <a:off x="594360" y="5788152"/>
            <a:ext cx="2651760" cy="438912"/>
          </a:xfrm>
          <a:prstGeom prst="roundRect">
            <a:avLst>
              <a:gd name="adj" fmla="val 50000"/>
            </a:avLst>
          </a:prstGeom>
          <a:solidFill>
            <a:srgbClr val="F3F5F8"/>
          </a:solidFill>
          <a:ln/>
        </p:spPr>
      </p:sp>
      <p:sp>
        <p:nvSpPr>
          <p:cNvPr id="46" name="Text 44"/>
          <p:cNvSpPr txBox="1"/>
          <p:nvPr/>
        </p:nvSpPr>
        <p:spPr>
          <a:xfrm>
            <a:off x="594360" y="5788152"/>
            <a:ext cx="2651760" cy="438912"/>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Một bộ não · nhiều nguồn dữ liệu</a:t>
            </a:r>
            <a:endParaRPr lang="en-US" sz="1100" dirty="0"/>
          </a:p>
        </p:txBody>
      </p:sp>
      <p:sp>
        <p:nvSpPr>
          <p:cNvPr id="47" name="Shape 45"/>
          <p:cNvSpPr/>
          <p:nvPr/>
        </p:nvSpPr>
        <p:spPr>
          <a:xfrm>
            <a:off x="3374136" y="5788152"/>
            <a:ext cx="2651760" cy="438912"/>
          </a:xfrm>
          <a:prstGeom prst="roundRect">
            <a:avLst>
              <a:gd name="adj" fmla="val 50000"/>
            </a:avLst>
          </a:prstGeom>
          <a:solidFill>
            <a:srgbClr val="F3F5F8"/>
          </a:solidFill>
          <a:ln/>
        </p:spPr>
      </p:sp>
      <p:sp>
        <p:nvSpPr>
          <p:cNvPr id="48" name="Text 46"/>
          <p:cNvSpPr txBox="1"/>
          <p:nvPr/>
        </p:nvSpPr>
        <p:spPr>
          <a:xfrm>
            <a:off x="3374136" y="5788152"/>
            <a:ext cx="2651760" cy="438912"/>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Engine đồng bộ · thế giới bất đồng bộ</a:t>
            </a:r>
            <a:endParaRPr lang="en-US" sz="1100" dirty="0"/>
          </a:p>
        </p:txBody>
      </p:sp>
      <p:sp>
        <p:nvSpPr>
          <p:cNvPr id="49" name="Shape 47"/>
          <p:cNvSpPr/>
          <p:nvPr/>
        </p:nvSpPr>
        <p:spPr>
          <a:xfrm>
            <a:off x="6153912" y="5788152"/>
            <a:ext cx="2651760" cy="438912"/>
          </a:xfrm>
          <a:prstGeom prst="roundRect">
            <a:avLst>
              <a:gd name="adj" fmla="val 50000"/>
            </a:avLst>
          </a:prstGeom>
          <a:solidFill>
            <a:srgbClr val="F3F5F8"/>
          </a:solidFill>
          <a:ln/>
        </p:spPr>
      </p:sp>
      <p:sp>
        <p:nvSpPr>
          <p:cNvPr id="50" name="Text 48"/>
          <p:cNvSpPr txBox="1"/>
          <p:nvPr/>
        </p:nvSpPr>
        <p:spPr>
          <a:xfrm>
            <a:off x="6153912" y="5788152"/>
            <a:ext cx="2651760" cy="438912"/>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Thiếu quyền → tự hạ cấp</a:t>
            </a:r>
            <a:endParaRPr lang="en-US" sz="1100" dirty="0"/>
          </a:p>
        </p:txBody>
      </p:sp>
      <p:sp>
        <p:nvSpPr>
          <p:cNvPr id="51" name="Shape 49"/>
          <p:cNvSpPr/>
          <p:nvPr/>
        </p:nvSpPr>
        <p:spPr>
          <a:xfrm>
            <a:off x="8933688" y="5788152"/>
            <a:ext cx="2651760" cy="438912"/>
          </a:xfrm>
          <a:prstGeom prst="roundRect">
            <a:avLst>
              <a:gd name="adj" fmla="val 50000"/>
            </a:avLst>
          </a:prstGeom>
          <a:solidFill>
            <a:srgbClr val="F3F5F8"/>
          </a:solidFill>
          <a:ln/>
        </p:spPr>
      </p:sp>
      <p:sp>
        <p:nvSpPr>
          <p:cNvPr id="52" name="Text 50"/>
          <p:cNvSpPr txBox="1"/>
          <p:nvPr/>
        </p:nvSpPr>
        <p:spPr>
          <a:xfrm>
            <a:off x="8933688" y="5788152"/>
            <a:ext cx="2651760" cy="438912"/>
          </a:xfrm>
          <a:prstGeom prst="rect">
            <a:avLst/>
          </a:prstGeom>
          <a:noFill/>
          <a:ln/>
        </p:spPr>
        <p:txBody>
          <a:bodyPr wrap="square" lIns="0" tIns="0" rIns="0" bIns="0" rtlCol="0" anchor="ctr"/>
          <a:lstStyle/>
          <a:p>
            <a:pPr algn="ctr" indent="0" marL="0">
              <a:buNone/>
            </a:pPr>
            <a:r>
              <a:rPr lang="en-US" sz="1100" b="1" dirty="0">
                <a:solidFill>
                  <a:srgbClr val="1B2733"/>
                </a:solidFill>
                <a:latin typeface="Calibri" pitchFamily="34" charset="0"/>
                <a:ea typeface="Calibri" pitchFamily="34" charset="-122"/>
                <a:cs typeface="Calibri" pitchFamily="34" charset="-120"/>
              </a:rPr>
              <a:t>Riêng tư mặc định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7BC0"/>
                </a:solidFill>
                <a:latin typeface="Calibri" pitchFamily="34" charset="0"/>
                <a:ea typeface="Calibri" pitchFamily="34" charset="-122"/>
                <a:cs typeface="Calibri" pitchFamily="34" charset="-120"/>
              </a:rPr>
              <a:t>03 · KIẾN TRÚC · BỘ NÃO</a:t>
            </a:r>
            <a:endParaRPr lang="en-US" sz="1200" dirty="0"/>
          </a:p>
        </p:txBody>
      </p:sp>
      <p:sp>
        <p:nvSpPr>
          <p:cNvPr id="3" name="Text 1"/>
          <p:cNvSpPr txBox="1"/>
          <p:nvPr/>
        </p:nvSpPr>
        <p:spPr>
          <a:xfrm>
            <a:off x="594360" y="713232"/>
            <a:ext cx="10881360" cy="548640"/>
          </a:xfrm>
          <a:prstGeom prst="rect">
            <a:avLst/>
          </a:prstGeom>
          <a:noFill/>
          <a:ln/>
        </p:spPr>
        <p:txBody>
          <a:bodyPr wrap="square" lIns="0" tIns="0" rIns="0" bIns="0" rtlCol="0" anchor="t"/>
          <a:lstStyle/>
          <a:p>
            <a:pPr indent="0" marL="0">
              <a:buNone/>
            </a:pPr>
            <a:r>
              <a:rPr lang="en-US" sz="2800" b="1" dirty="0">
                <a:solidFill>
                  <a:srgbClr val="1B2733"/>
                </a:solidFill>
                <a:latin typeface="Calibri" pitchFamily="34" charset="0"/>
                <a:ea typeface="Calibri" pitchFamily="34" charset="-122"/>
                <a:cs typeface="Calibri" pitchFamily="34" charset="-120"/>
              </a:rPr>
              <a:t>Bên trong bộ não: từ tín hiệu đến một lời nhắc đúng lúc</a:t>
            </a:r>
            <a:endParaRPr lang="en-US" sz="28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8</a:t>
            </a:r>
            <a:endParaRPr lang="en-US" sz="950" dirty="0"/>
          </a:p>
        </p:txBody>
      </p:sp>
      <p:sp>
        <p:nvSpPr>
          <p:cNvPr id="9" name="Shape 7"/>
          <p:cNvSpPr/>
          <p:nvPr/>
        </p:nvSpPr>
        <p:spPr>
          <a:xfrm>
            <a:off x="594360" y="1600200"/>
            <a:ext cx="2011680" cy="2286000"/>
          </a:xfrm>
          <a:prstGeom prst="roundRect">
            <a:avLst>
              <a:gd name="adj" fmla="val 4545"/>
            </a:avLst>
          </a:prstGeom>
          <a:solidFill>
            <a:srgbClr val="FFFFFF"/>
          </a:solidFill>
          <a:ln w="12700">
            <a:solidFill>
              <a:srgbClr val="D9DFE6"/>
            </a:solidFill>
            <a:prstDash val="solid"/>
          </a:ln>
        </p:spPr>
      </p:sp>
      <p:sp>
        <p:nvSpPr>
          <p:cNvPr id="10" name="Shape 8"/>
          <p:cNvSpPr/>
          <p:nvPr/>
        </p:nvSpPr>
        <p:spPr>
          <a:xfrm>
            <a:off x="777240" y="1783080"/>
            <a:ext cx="411480" cy="411480"/>
          </a:xfrm>
          <a:prstGeom prst="ellipse">
            <a:avLst/>
          </a:prstGeom>
          <a:solidFill>
            <a:srgbClr val="007BC0"/>
          </a:solidFill>
          <a:ln/>
        </p:spPr>
      </p:sp>
      <p:sp>
        <p:nvSpPr>
          <p:cNvPr id="11" name="Text 9"/>
          <p:cNvSpPr txBox="1"/>
          <p:nvPr/>
        </p:nvSpPr>
        <p:spPr>
          <a:xfrm>
            <a:off x="777240" y="17830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txBox="1"/>
          <p:nvPr/>
        </p:nvSpPr>
        <p:spPr>
          <a:xfrm>
            <a:off x="1280160" y="1783080"/>
            <a:ext cx="1234440" cy="4114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Tín hiệu</a:t>
            </a:r>
            <a:endParaRPr lang="en-US" sz="1550" dirty="0"/>
          </a:p>
        </p:txBody>
      </p:sp>
      <p:sp>
        <p:nvSpPr>
          <p:cNvPr id="13" name="Text 11"/>
          <p:cNvSpPr txBox="1"/>
          <p:nvPr/>
        </p:nvSpPr>
        <p:spPr>
          <a:xfrm>
            <a:off x="777240" y="2313432"/>
            <a:ext cx="1645920" cy="274320"/>
          </a:xfrm>
          <a:prstGeom prst="rect">
            <a:avLst/>
          </a:prstGeom>
          <a:noFill/>
          <a:ln/>
        </p:spPr>
        <p:txBody>
          <a:bodyPr wrap="square" lIns="0" tIns="0" rIns="0" bIns="0" rtlCol="0" anchor="t"/>
          <a:lstStyle/>
          <a:p>
            <a:pPr indent="0" marL="0">
              <a:buNone/>
            </a:pPr>
            <a:r>
              <a:rPr lang="en-US" sz="1150" b="1" dirty="0">
                <a:solidFill>
                  <a:srgbClr val="E20015"/>
                </a:solidFill>
                <a:latin typeface="Calibri" pitchFamily="34" charset="0"/>
                <a:ea typeface="Calibri" pitchFamily="34" charset="-122"/>
                <a:cs typeface="Calibri" pitchFamily="34" charset="-120"/>
              </a:rPr>
              <a:t>30 giây – 5 phút</a:t>
            </a:r>
            <a:endParaRPr lang="en-US" sz="1150" dirty="0"/>
          </a:p>
        </p:txBody>
      </p:sp>
      <p:sp>
        <p:nvSpPr>
          <p:cNvPr id="14" name="Text 12"/>
          <p:cNvSpPr txBox="1"/>
          <p:nvPr/>
        </p:nvSpPr>
        <p:spPr>
          <a:xfrm>
            <a:off x="777240" y="2651760"/>
            <a:ext cx="1645920" cy="118872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Lịch, presence, email, task, hoạt động máy gom vào một WorkSnapshot</a:t>
            </a:r>
            <a:endParaRPr lang="en-US" sz="1300" dirty="0"/>
          </a:p>
        </p:txBody>
      </p:sp>
      <p:sp>
        <p:nvSpPr>
          <p:cNvPr id="15" name="Shape 13"/>
          <p:cNvSpPr/>
          <p:nvPr/>
        </p:nvSpPr>
        <p:spPr>
          <a:xfrm>
            <a:off x="2633472" y="2606040"/>
            <a:ext cx="128016" cy="274320"/>
          </a:xfrm>
          <a:prstGeom prst="chevron">
            <a:avLst/>
          </a:prstGeom>
          <a:solidFill>
            <a:srgbClr val="667584"/>
          </a:solidFill>
          <a:ln/>
        </p:spPr>
      </p:sp>
      <p:sp>
        <p:nvSpPr>
          <p:cNvPr id="16" name="Shape 14"/>
          <p:cNvSpPr/>
          <p:nvPr/>
        </p:nvSpPr>
        <p:spPr>
          <a:xfrm>
            <a:off x="2788920" y="1600200"/>
            <a:ext cx="2011680" cy="2286000"/>
          </a:xfrm>
          <a:prstGeom prst="roundRect">
            <a:avLst>
              <a:gd name="adj" fmla="val 4545"/>
            </a:avLst>
          </a:prstGeom>
          <a:solidFill>
            <a:srgbClr val="FFFFFF"/>
          </a:solidFill>
          <a:ln w="12700">
            <a:solidFill>
              <a:srgbClr val="D9DFE6"/>
            </a:solidFill>
            <a:prstDash val="solid"/>
          </a:ln>
        </p:spPr>
      </p:sp>
      <p:sp>
        <p:nvSpPr>
          <p:cNvPr id="17" name="Shape 15"/>
          <p:cNvSpPr/>
          <p:nvPr/>
        </p:nvSpPr>
        <p:spPr>
          <a:xfrm>
            <a:off x="2971800" y="1783080"/>
            <a:ext cx="411480" cy="411480"/>
          </a:xfrm>
          <a:prstGeom prst="ellipse">
            <a:avLst/>
          </a:prstGeom>
          <a:solidFill>
            <a:srgbClr val="007BC0"/>
          </a:solidFill>
          <a:ln/>
        </p:spPr>
      </p:sp>
      <p:sp>
        <p:nvSpPr>
          <p:cNvPr id="18" name="Text 16"/>
          <p:cNvSpPr txBox="1"/>
          <p:nvPr/>
        </p:nvSpPr>
        <p:spPr>
          <a:xfrm>
            <a:off x="2971800" y="17830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9" name="Text 17"/>
          <p:cNvSpPr txBox="1"/>
          <p:nvPr/>
        </p:nvSpPr>
        <p:spPr>
          <a:xfrm>
            <a:off x="3474720" y="1783080"/>
            <a:ext cx="1234440" cy="4114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Rule Engine</a:t>
            </a:r>
            <a:endParaRPr lang="en-US" sz="1550" dirty="0"/>
          </a:p>
        </p:txBody>
      </p:sp>
      <p:sp>
        <p:nvSpPr>
          <p:cNvPr id="20" name="Text 18"/>
          <p:cNvSpPr txBox="1"/>
          <p:nvPr/>
        </p:nvSpPr>
        <p:spPr>
          <a:xfrm>
            <a:off x="2971800" y="2313432"/>
            <a:ext cx="1645920" cy="274320"/>
          </a:xfrm>
          <a:prstGeom prst="rect">
            <a:avLst/>
          </a:prstGeom>
          <a:noFill/>
          <a:ln/>
        </p:spPr>
        <p:txBody>
          <a:bodyPr wrap="square" lIns="0" tIns="0" rIns="0" bIns="0" rtlCol="0" anchor="t"/>
          <a:lstStyle/>
          <a:p>
            <a:pPr indent="0" marL="0">
              <a:buNone/>
            </a:pPr>
            <a:r>
              <a:rPr lang="en-US" sz="1150" b="1" dirty="0">
                <a:solidFill>
                  <a:srgbClr val="E20015"/>
                </a:solidFill>
                <a:latin typeface="Calibri" pitchFamily="34" charset="0"/>
                <a:ea typeface="Calibri" pitchFamily="34" charset="-122"/>
                <a:cs typeface="Calibri" pitchFamily="34" charset="-120"/>
              </a:rPr>
              <a:t>mỗi phút</a:t>
            </a:r>
            <a:endParaRPr lang="en-US" sz="1150" dirty="0"/>
          </a:p>
        </p:txBody>
      </p:sp>
      <p:sp>
        <p:nvSpPr>
          <p:cNvPr id="21" name="Text 19"/>
          <p:cNvSpPr txBox="1"/>
          <p:nvPr/>
        </p:nvSpPr>
        <p:spPr>
          <a:xfrm>
            <a:off x="2971800" y="2651760"/>
            <a:ext cx="1645920" cy="118872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16 case (+3 mở rộng): đủ điều kiện thì vào hàng đợi ưu tiên P0–P5</a:t>
            </a:r>
            <a:endParaRPr lang="en-US" sz="1300" dirty="0"/>
          </a:p>
        </p:txBody>
      </p:sp>
      <p:sp>
        <p:nvSpPr>
          <p:cNvPr id="22" name="Shape 20"/>
          <p:cNvSpPr/>
          <p:nvPr/>
        </p:nvSpPr>
        <p:spPr>
          <a:xfrm>
            <a:off x="4828032" y="2606040"/>
            <a:ext cx="128016" cy="274320"/>
          </a:xfrm>
          <a:prstGeom prst="chevron">
            <a:avLst/>
          </a:prstGeom>
          <a:solidFill>
            <a:srgbClr val="667584"/>
          </a:solidFill>
          <a:ln/>
        </p:spPr>
      </p:sp>
      <p:sp>
        <p:nvSpPr>
          <p:cNvPr id="23" name="Shape 21"/>
          <p:cNvSpPr/>
          <p:nvPr/>
        </p:nvSpPr>
        <p:spPr>
          <a:xfrm>
            <a:off x="4983480" y="1600200"/>
            <a:ext cx="2011680" cy="2286000"/>
          </a:xfrm>
          <a:prstGeom prst="roundRect">
            <a:avLst>
              <a:gd name="adj" fmla="val 4545"/>
            </a:avLst>
          </a:prstGeom>
          <a:solidFill>
            <a:srgbClr val="FFFFFF"/>
          </a:solidFill>
          <a:ln w="12700">
            <a:solidFill>
              <a:srgbClr val="D9DFE6"/>
            </a:solidFill>
            <a:prstDash val="solid"/>
          </a:ln>
        </p:spPr>
      </p:sp>
      <p:sp>
        <p:nvSpPr>
          <p:cNvPr id="24" name="Shape 22"/>
          <p:cNvSpPr/>
          <p:nvPr/>
        </p:nvSpPr>
        <p:spPr>
          <a:xfrm>
            <a:off x="5166360" y="1783080"/>
            <a:ext cx="411480" cy="411480"/>
          </a:xfrm>
          <a:prstGeom prst="ellipse">
            <a:avLst/>
          </a:prstGeom>
          <a:solidFill>
            <a:srgbClr val="007BC0"/>
          </a:solidFill>
          <a:ln/>
        </p:spPr>
      </p:sp>
      <p:sp>
        <p:nvSpPr>
          <p:cNvPr id="25" name="Text 23"/>
          <p:cNvSpPr txBox="1"/>
          <p:nvPr/>
        </p:nvSpPr>
        <p:spPr>
          <a:xfrm>
            <a:off x="5166360" y="17830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txBox="1"/>
          <p:nvPr/>
        </p:nvSpPr>
        <p:spPr>
          <a:xfrm>
            <a:off x="5669280" y="1783080"/>
            <a:ext cx="1234440" cy="4114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Điều phối</a:t>
            </a:r>
            <a:endParaRPr lang="en-US" sz="1550" dirty="0"/>
          </a:p>
        </p:txBody>
      </p:sp>
      <p:sp>
        <p:nvSpPr>
          <p:cNvPr id="27" name="Text 25"/>
          <p:cNvSpPr txBox="1"/>
          <p:nvPr/>
        </p:nvSpPr>
        <p:spPr>
          <a:xfrm>
            <a:off x="5166360" y="2313432"/>
            <a:ext cx="1645920" cy="274320"/>
          </a:xfrm>
          <a:prstGeom prst="rect">
            <a:avLst/>
          </a:prstGeom>
          <a:noFill/>
          <a:ln/>
        </p:spPr>
        <p:txBody>
          <a:bodyPr wrap="square" lIns="0" tIns="0" rIns="0" bIns="0" rtlCol="0" anchor="t"/>
          <a:lstStyle/>
          <a:p>
            <a:pPr indent="0" marL="0">
              <a:buNone/>
            </a:pPr>
            <a:r>
              <a:rPr lang="en-US" sz="1150" b="1" dirty="0">
                <a:solidFill>
                  <a:srgbClr val="E20015"/>
                </a:solidFill>
                <a:latin typeface="Calibri" pitchFamily="34" charset="0"/>
                <a:ea typeface="Calibri" pitchFamily="34" charset="-122"/>
                <a:cs typeface="Calibri" pitchFamily="34" charset="-120"/>
              </a:rPr>
              <a:t>mỗi giây</a:t>
            </a:r>
            <a:endParaRPr lang="en-US" sz="1150" dirty="0"/>
          </a:p>
        </p:txBody>
      </p:sp>
      <p:sp>
        <p:nvSpPr>
          <p:cNvPr id="28" name="Text 26"/>
          <p:cNvSpPr txBox="1"/>
          <p:nvPr/>
        </p:nvSpPr>
        <p:spPr>
          <a:xfrm>
            <a:off x="5166360" y="2651760"/>
            <a:ext cx="1645920" cy="118872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8 bước: kiểm tra cổng im lặng, ngân sách, khoảng trống lịch → chọn 1 case</a:t>
            </a:r>
            <a:endParaRPr lang="en-US" sz="1300" dirty="0"/>
          </a:p>
        </p:txBody>
      </p:sp>
      <p:sp>
        <p:nvSpPr>
          <p:cNvPr id="29" name="Shape 27"/>
          <p:cNvSpPr/>
          <p:nvPr/>
        </p:nvSpPr>
        <p:spPr>
          <a:xfrm>
            <a:off x="7022592" y="2606040"/>
            <a:ext cx="128016" cy="274320"/>
          </a:xfrm>
          <a:prstGeom prst="chevron">
            <a:avLst/>
          </a:prstGeom>
          <a:solidFill>
            <a:srgbClr val="667584"/>
          </a:solidFill>
          <a:ln/>
        </p:spPr>
      </p:sp>
      <p:sp>
        <p:nvSpPr>
          <p:cNvPr id="30" name="Shape 28"/>
          <p:cNvSpPr/>
          <p:nvPr/>
        </p:nvSpPr>
        <p:spPr>
          <a:xfrm>
            <a:off x="7178040" y="1600200"/>
            <a:ext cx="2011680" cy="2286000"/>
          </a:xfrm>
          <a:prstGeom prst="roundRect">
            <a:avLst>
              <a:gd name="adj" fmla="val 4545"/>
            </a:avLst>
          </a:prstGeom>
          <a:solidFill>
            <a:srgbClr val="FFFFFF"/>
          </a:solidFill>
          <a:ln w="12700">
            <a:solidFill>
              <a:srgbClr val="D9DFE6"/>
            </a:solidFill>
            <a:prstDash val="solid"/>
          </a:ln>
        </p:spPr>
      </p:sp>
      <p:sp>
        <p:nvSpPr>
          <p:cNvPr id="31" name="Shape 29"/>
          <p:cNvSpPr/>
          <p:nvPr/>
        </p:nvSpPr>
        <p:spPr>
          <a:xfrm>
            <a:off x="7360920" y="1783080"/>
            <a:ext cx="411480" cy="411480"/>
          </a:xfrm>
          <a:prstGeom prst="ellipse">
            <a:avLst/>
          </a:prstGeom>
          <a:solidFill>
            <a:srgbClr val="007BC0"/>
          </a:solidFill>
          <a:ln/>
        </p:spPr>
      </p:sp>
      <p:sp>
        <p:nvSpPr>
          <p:cNvPr id="32" name="Text 30"/>
          <p:cNvSpPr txBox="1"/>
          <p:nvPr/>
        </p:nvSpPr>
        <p:spPr>
          <a:xfrm>
            <a:off x="7360920" y="17830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3" name="Text 31"/>
          <p:cNvSpPr txBox="1"/>
          <p:nvPr/>
        </p:nvSpPr>
        <p:spPr>
          <a:xfrm>
            <a:off x="7863840" y="1783080"/>
            <a:ext cx="1234440" cy="4114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Episode</a:t>
            </a:r>
            <a:endParaRPr lang="en-US" sz="1550" dirty="0"/>
          </a:p>
        </p:txBody>
      </p:sp>
      <p:sp>
        <p:nvSpPr>
          <p:cNvPr id="34" name="Text 32"/>
          <p:cNvSpPr txBox="1"/>
          <p:nvPr/>
        </p:nvSpPr>
        <p:spPr>
          <a:xfrm>
            <a:off x="7360920" y="2313432"/>
            <a:ext cx="1645920" cy="274320"/>
          </a:xfrm>
          <a:prstGeom prst="rect">
            <a:avLst/>
          </a:prstGeom>
          <a:noFill/>
          <a:ln/>
        </p:spPr>
        <p:txBody>
          <a:bodyPr wrap="square" lIns="0" tIns="0" rIns="0" bIns="0" rtlCol="0" anchor="t"/>
          <a:lstStyle/>
          <a:p>
            <a:pPr indent="0" marL="0">
              <a:buNone/>
            </a:pPr>
            <a:r>
              <a:rPr lang="en-US" sz="1150" b="1" dirty="0">
                <a:solidFill>
                  <a:srgbClr val="E20015"/>
                </a:solidFill>
                <a:latin typeface="Calibri" pitchFamily="34" charset="0"/>
                <a:ea typeface="Calibri" pitchFamily="34" charset="-122"/>
                <a:cs typeface="Calibri" pitchFamily="34" charset="-120"/>
              </a:rPr>
              <a:t>Vào → Ở lại → Ra</a:t>
            </a:r>
            <a:endParaRPr lang="en-US" sz="1150" dirty="0"/>
          </a:p>
        </p:txBody>
      </p:sp>
      <p:sp>
        <p:nvSpPr>
          <p:cNvPr id="35" name="Text 33"/>
          <p:cNvSpPr txBox="1"/>
          <p:nvPr/>
        </p:nvSpPr>
        <p:spPr>
          <a:xfrm>
            <a:off x="7360920" y="2651760"/>
            <a:ext cx="1645920" cy="118872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Milo ló ra, hiện thẻ và animation; bạn trả lời bằng một chạm</a:t>
            </a:r>
            <a:endParaRPr lang="en-US" sz="1300" dirty="0"/>
          </a:p>
        </p:txBody>
      </p:sp>
      <p:sp>
        <p:nvSpPr>
          <p:cNvPr id="36" name="Shape 34"/>
          <p:cNvSpPr/>
          <p:nvPr/>
        </p:nvSpPr>
        <p:spPr>
          <a:xfrm>
            <a:off x="9217152" y="2606040"/>
            <a:ext cx="128016" cy="274320"/>
          </a:xfrm>
          <a:prstGeom prst="chevron">
            <a:avLst/>
          </a:prstGeom>
          <a:solidFill>
            <a:srgbClr val="667584"/>
          </a:solidFill>
          <a:ln/>
        </p:spPr>
      </p:sp>
      <p:sp>
        <p:nvSpPr>
          <p:cNvPr id="37" name="Shape 35"/>
          <p:cNvSpPr/>
          <p:nvPr/>
        </p:nvSpPr>
        <p:spPr>
          <a:xfrm>
            <a:off x="9372600" y="1600200"/>
            <a:ext cx="2011680" cy="2286000"/>
          </a:xfrm>
          <a:prstGeom prst="roundRect">
            <a:avLst>
              <a:gd name="adj" fmla="val 4545"/>
            </a:avLst>
          </a:prstGeom>
          <a:solidFill>
            <a:srgbClr val="FFFFFF"/>
          </a:solidFill>
          <a:ln w="12700">
            <a:solidFill>
              <a:srgbClr val="D9DFE6"/>
            </a:solidFill>
            <a:prstDash val="solid"/>
          </a:ln>
        </p:spPr>
      </p:sp>
      <p:sp>
        <p:nvSpPr>
          <p:cNvPr id="38" name="Shape 36"/>
          <p:cNvSpPr/>
          <p:nvPr/>
        </p:nvSpPr>
        <p:spPr>
          <a:xfrm>
            <a:off x="9555480" y="1783080"/>
            <a:ext cx="411480" cy="411480"/>
          </a:xfrm>
          <a:prstGeom prst="ellipse">
            <a:avLst/>
          </a:prstGeom>
          <a:solidFill>
            <a:srgbClr val="007BC0"/>
          </a:solidFill>
          <a:ln/>
        </p:spPr>
      </p:sp>
      <p:sp>
        <p:nvSpPr>
          <p:cNvPr id="39" name="Text 37"/>
          <p:cNvSpPr txBox="1"/>
          <p:nvPr/>
        </p:nvSpPr>
        <p:spPr>
          <a:xfrm>
            <a:off x="9555480" y="17830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0" name="Text 38"/>
          <p:cNvSpPr txBox="1"/>
          <p:nvPr/>
        </p:nvSpPr>
        <p:spPr>
          <a:xfrm>
            <a:off x="10058400" y="1783080"/>
            <a:ext cx="1234440" cy="411480"/>
          </a:xfrm>
          <a:prstGeom prst="rect">
            <a:avLst/>
          </a:prstGeom>
          <a:noFill/>
          <a:ln/>
        </p:spPr>
        <p:txBody>
          <a:bodyPr wrap="square" lIns="0" tIns="0" rIns="0" bIns="0" rtlCol="0" anchor="ctr"/>
          <a:lstStyle/>
          <a:p>
            <a:pPr indent="0" marL="0">
              <a:buNone/>
            </a:pPr>
            <a:r>
              <a:rPr lang="en-US" sz="1550" b="1" dirty="0">
                <a:solidFill>
                  <a:srgbClr val="1B2733"/>
                </a:solidFill>
                <a:latin typeface="Calibri" pitchFamily="34" charset="0"/>
                <a:ea typeface="Calibri" pitchFamily="34" charset="-122"/>
                <a:cs typeface="Calibri" pitchFamily="34" charset="-120"/>
              </a:rPr>
              <a:t>Hành động</a:t>
            </a:r>
            <a:endParaRPr lang="en-US" sz="1550" dirty="0"/>
          </a:p>
        </p:txBody>
      </p:sp>
      <p:sp>
        <p:nvSpPr>
          <p:cNvPr id="41" name="Text 39"/>
          <p:cNvSpPr txBox="1"/>
          <p:nvPr/>
        </p:nvSpPr>
        <p:spPr>
          <a:xfrm>
            <a:off x="9555480" y="2313432"/>
            <a:ext cx="1645920" cy="274320"/>
          </a:xfrm>
          <a:prstGeom prst="rect">
            <a:avLst/>
          </a:prstGeom>
          <a:noFill/>
          <a:ln/>
        </p:spPr>
        <p:txBody>
          <a:bodyPr wrap="square" lIns="0" tIns="0" rIns="0" bIns="0" rtlCol="0" anchor="t"/>
          <a:lstStyle/>
          <a:p>
            <a:pPr indent="0" marL="0">
              <a:buNone/>
            </a:pPr>
            <a:r>
              <a:rPr lang="en-US" sz="1150" b="1" dirty="0">
                <a:solidFill>
                  <a:srgbClr val="E20015"/>
                </a:solidFill>
                <a:latin typeface="Calibri" pitchFamily="34" charset="0"/>
                <a:ea typeface="Calibri" pitchFamily="34" charset="-122"/>
                <a:cs typeface="Calibri" pitchFamily="34" charset="-120"/>
              </a:rPr>
              <a:t>khi bạn đồng ý</a:t>
            </a:r>
            <a:endParaRPr lang="en-US" sz="1150" dirty="0"/>
          </a:p>
        </p:txBody>
      </p:sp>
      <p:sp>
        <p:nvSpPr>
          <p:cNvPr id="42" name="Text 40"/>
          <p:cNvSpPr txBox="1"/>
          <p:nvPr/>
        </p:nvSpPr>
        <p:spPr>
          <a:xfrm>
            <a:off x="9555480" y="2651760"/>
            <a:ext cx="1645920" cy="1188720"/>
          </a:xfrm>
          <a:prstGeom prst="rect">
            <a:avLst/>
          </a:prstGeom>
          <a:noFill/>
          <a:ln/>
        </p:spPr>
        <p:txBody>
          <a:bodyPr wrap="square" lIns="0" tIns="0" rIns="0" bIns="0" rtlCol="0" anchor="t"/>
          <a:lstStyle/>
          <a:p>
            <a:pPr indent="0" marL="0">
              <a:buNone/>
            </a:pPr>
            <a:r>
              <a:rPr lang="en-US" sz="1300" dirty="0">
                <a:solidFill>
                  <a:srgbClr val="3D4B59"/>
                </a:solidFill>
                <a:latin typeface="Calibri" pitchFamily="34" charset="0"/>
                <a:ea typeface="Calibri" pitchFamily="34" charset="-122"/>
                <a:cs typeface="Calibri" pitchFamily="34" charset="-120"/>
              </a:rPr>
              <a:t>Giữ chỗ nghỉ trên Outlook, khoá giờ tập trung, bật Teams DND</a:t>
            </a:r>
            <a:endParaRPr lang="en-US" sz="1300" dirty="0"/>
          </a:p>
        </p:txBody>
      </p:sp>
      <p:sp>
        <p:nvSpPr>
          <p:cNvPr id="43" name="Shape 41"/>
          <p:cNvSpPr/>
          <p:nvPr/>
        </p:nvSpPr>
        <p:spPr>
          <a:xfrm>
            <a:off x="594360" y="4114800"/>
            <a:ext cx="6309360" cy="2011680"/>
          </a:xfrm>
          <a:prstGeom prst="roundRect">
            <a:avLst>
              <a:gd name="adj" fmla="val 4545"/>
            </a:avLst>
          </a:prstGeom>
          <a:solidFill>
            <a:srgbClr val="FFFFFF"/>
          </a:solidFill>
          <a:ln w="12700">
            <a:solidFill>
              <a:srgbClr val="D9DFE6"/>
            </a:solidFill>
            <a:prstDash val="solid"/>
          </a:ln>
        </p:spPr>
      </p:sp>
      <p:sp>
        <p:nvSpPr>
          <p:cNvPr id="44" name="Text 42"/>
          <p:cNvSpPr txBox="1"/>
          <p:nvPr/>
        </p:nvSpPr>
        <p:spPr>
          <a:xfrm>
            <a:off x="868680" y="4224528"/>
            <a:ext cx="5760720" cy="320040"/>
          </a:xfrm>
          <a:prstGeom prst="rect">
            <a:avLst/>
          </a:prstGeom>
          <a:noFill/>
          <a:ln/>
        </p:spPr>
        <p:txBody>
          <a:bodyPr wrap="square" lIns="0" tIns="0" rIns="0" bIns="0" rtlCol="0" anchor="t"/>
          <a:lstStyle/>
          <a:p>
            <a:pPr indent="0" marL="0">
              <a:buNone/>
            </a:pPr>
            <a:r>
              <a:rPr lang="en-US" sz="1600" b="1" dirty="0">
                <a:solidFill>
                  <a:srgbClr val="1B2733"/>
                </a:solidFill>
                <a:latin typeface="Calibri" pitchFamily="34" charset="0"/>
                <a:ea typeface="Calibri" pitchFamily="34" charset="-122"/>
                <a:cs typeface="Calibri" pitchFamily="34" charset="-120"/>
              </a:rPr>
              <a:t>Mood Engine — điểm 0–100</a:t>
            </a:r>
            <a:endParaRPr lang="en-US" sz="1600" dirty="0"/>
          </a:p>
        </p:txBody>
      </p:sp>
      <p:sp>
        <p:nvSpPr>
          <p:cNvPr id="45" name="Shape 43"/>
          <p:cNvSpPr/>
          <p:nvPr/>
        </p:nvSpPr>
        <p:spPr>
          <a:xfrm>
            <a:off x="868680" y="4617720"/>
            <a:ext cx="5760720" cy="457200"/>
          </a:xfrm>
          <a:prstGeom prst="roundRect">
            <a:avLst>
              <a:gd name="adj" fmla="val 16000"/>
            </a:avLst>
          </a:prstGeom>
          <a:solidFill>
            <a:srgbClr val="F3F5F8"/>
          </a:solidFill>
          <a:ln/>
        </p:spPr>
      </p:sp>
      <p:sp>
        <p:nvSpPr>
          <p:cNvPr id="46" name="Text 44"/>
          <p:cNvSpPr txBox="1"/>
          <p:nvPr/>
        </p:nvSpPr>
        <p:spPr>
          <a:xfrm>
            <a:off x="868680" y="4617720"/>
            <a:ext cx="5760720" cy="457200"/>
          </a:xfrm>
          <a:prstGeom prst="rect">
            <a:avLst/>
          </a:prstGeom>
          <a:noFill/>
          <a:ln/>
        </p:spPr>
        <p:txBody>
          <a:bodyPr wrap="square" lIns="0" tIns="0" rIns="0" bIns="0" rtlCol="0" anchor="ctr"/>
          <a:lstStyle/>
          <a:p>
            <a:pPr algn="ctr" indent="0" marL="0">
              <a:buNone/>
            </a:pPr>
            <a:r>
              <a:rPr lang="en-US" sz="1400" b="1" dirty="0">
                <a:solidFill>
                  <a:srgbClr val="007BC0"/>
                </a:solidFill>
                <a:latin typeface="Calibri" pitchFamily="34" charset="0"/>
                <a:ea typeface="Calibri" pitchFamily="34" charset="-122"/>
                <a:cs typeface="Calibri" pitchFamily="34" charset="-120"/>
              </a:rPr>
              <a:t>điểm = 92 − Σ điểm phạt + Σ điểm thưởng (giới hạn 0–100)</a:t>
            </a:r>
            <a:endParaRPr lang="en-US" sz="1400" dirty="0"/>
          </a:p>
        </p:txBody>
      </p:sp>
      <p:sp>
        <p:nvSpPr>
          <p:cNvPr id="47" name="Shape 45"/>
          <p:cNvSpPr/>
          <p:nvPr/>
        </p:nvSpPr>
        <p:spPr>
          <a:xfrm>
            <a:off x="868680" y="5193792"/>
            <a:ext cx="1371600" cy="329184"/>
          </a:xfrm>
          <a:prstGeom prst="roundRect">
            <a:avLst>
              <a:gd name="adj" fmla="val 50000"/>
            </a:avLst>
          </a:prstGeom>
          <a:solidFill>
            <a:srgbClr val="00884A"/>
          </a:solidFill>
          <a:ln/>
        </p:spPr>
      </p:sp>
      <p:sp>
        <p:nvSpPr>
          <p:cNvPr id="48" name="Text 46"/>
          <p:cNvSpPr txBox="1"/>
          <p:nvPr/>
        </p:nvSpPr>
        <p:spPr>
          <a:xfrm>
            <a:off x="868680" y="5193792"/>
            <a:ext cx="13716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80  Mọng</a:t>
            </a:r>
            <a:endParaRPr lang="en-US" sz="1100" dirty="0"/>
          </a:p>
        </p:txBody>
      </p:sp>
      <p:sp>
        <p:nvSpPr>
          <p:cNvPr id="49" name="Shape 47"/>
          <p:cNvSpPr/>
          <p:nvPr/>
        </p:nvSpPr>
        <p:spPr>
          <a:xfrm>
            <a:off x="2331720" y="5193792"/>
            <a:ext cx="1371600" cy="329184"/>
          </a:xfrm>
          <a:prstGeom prst="roundRect">
            <a:avLst>
              <a:gd name="adj" fmla="val 50000"/>
            </a:avLst>
          </a:prstGeom>
          <a:solidFill>
            <a:srgbClr val="007BC0"/>
          </a:solidFill>
          <a:ln/>
        </p:spPr>
      </p:sp>
      <p:sp>
        <p:nvSpPr>
          <p:cNvPr id="50" name="Text 48"/>
          <p:cNvSpPr txBox="1"/>
          <p:nvPr/>
        </p:nvSpPr>
        <p:spPr>
          <a:xfrm>
            <a:off x="2331720" y="5193792"/>
            <a:ext cx="13716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60–79  Cân bằng</a:t>
            </a:r>
            <a:endParaRPr lang="en-US" sz="1100" dirty="0"/>
          </a:p>
        </p:txBody>
      </p:sp>
      <p:sp>
        <p:nvSpPr>
          <p:cNvPr id="51" name="Shape 49"/>
          <p:cNvSpPr/>
          <p:nvPr/>
        </p:nvSpPr>
        <p:spPr>
          <a:xfrm>
            <a:off x="3794760" y="5193792"/>
            <a:ext cx="1371600" cy="329184"/>
          </a:xfrm>
          <a:prstGeom prst="roundRect">
            <a:avLst>
              <a:gd name="adj" fmla="val 50000"/>
            </a:avLst>
          </a:prstGeom>
          <a:solidFill>
            <a:srgbClr val="FF8A1F"/>
          </a:solidFill>
          <a:ln/>
        </p:spPr>
      </p:sp>
      <p:sp>
        <p:nvSpPr>
          <p:cNvPr id="52" name="Text 50"/>
          <p:cNvSpPr txBox="1"/>
          <p:nvPr/>
        </p:nvSpPr>
        <p:spPr>
          <a:xfrm>
            <a:off x="3794760" y="5193792"/>
            <a:ext cx="13716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40–59  Mệt dần</a:t>
            </a:r>
            <a:endParaRPr lang="en-US" sz="1100" dirty="0"/>
          </a:p>
        </p:txBody>
      </p:sp>
      <p:sp>
        <p:nvSpPr>
          <p:cNvPr id="53" name="Shape 51"/>
          <p:cNvSpPr/>
          <p:nvPr/>
        </p:nvSpPr>
        <p:spPr>
          <a:xfrm>
            <a:off x="5257800" y="5193792"/>
            <a:ext cx="1371600" cy="329184"/>
          </a:xfrm>
          <a:prstGeom prst="roundRect">
            <a:avLst>
              <a:gd name="adj" fmla="val 50000"/>
            </a:avLst>
          </a:prstGeom>
          <a:solidFill>
            <a:srgbClr val="E20015"/>
          </a:solidFill>
          <a:ln/>
        </p:spPr>
      </p:sp>
      <p:sp>
        <p:nvSpPr>
          <p:cNvPr id="54" name="Text 52"/>
          <p:cNvSpPr txBox="1"/>
          <p:nvPr/>
        </p:nvSpPr>
        <p:spPr>
          <a:xfrm>
            <a:off x="5257800" y="5193792"/>
            <a:ext cx="13716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&lt; 40  Kiệt sức</a:t>
            </a:r>
            <a:endParaRPr lang="en-US" sz="1100" dirty="0"/>
          </a:p>
        </p:txBody>
      </p:sp>
      <p:sp>
        <p:nvSpPr>
          <p:cNvPr id="55" name="Text 53"/>
          <p:cNvSpPr txBox="1"/>
          <p:nvPr/>
        </p:nvSpPr>
        <p:spPr>
          <a:xfrm>
            <a:off x="868680" y="5669280"/>
            <a:ext cx="5760720" cy="274320"/>
          </a:xfrm>
          <a:prstGeom prst="rect">
            <a:avLst/>
          </a:prstGeom>
          <a:noFill/>
          <a:ln/>
        </p:spPr>
        <p:txBody>
          <a:bodyPr wrap="square" lIns="0" tIns="0" rIns="0" bIns="0" rtlCol="0" anchor="t"/>
          <a:lstStyle/>
          <a:p>
            <a:pPr indent="0" marL="0">
              <a:buNone/>
            </a:pPr>
            <a:r>
              <a:rPr lang="en-US" sz="1200" dirty="0">
                <a:solidFill>
                  <a:srgbClr val="667584"/>
                </a:solidFill>
                <a:latin typeface="Calibri" pitchFamily="34" charset="0"/>
                <a:ea typeface="Calibri" pitchFamily="34" charset="-122"/>
                <a:cs typeface="Calibri" pitchFamily="34" charset="-120"/>
              </a:rPr>
              <a:t>Ba chế độ: Rules (mặc định) · Hybrid (Claude chỉnh ±10) · Llm</a:t>
            </a:r>
            <a:endParaRPr lang="en-US" sz="1200" dirty="0"/>
          </a:p>
        </p:txBody>
      </p:sp>
      <p:sp>
        <p:nvSpPr>
          <p:cNvPr id="56" name="Shape 54"/>
          <p:cNvSpPr/>
          <p:nvPr/>
        </p:nvSpPr>
        <p:spPr>
          <a:xfrm>
            <a:off x="7086600" y="4114800"/>
            <a:ext cx="4507992" cy="2011680"/>
          </a:xfrm>
          <a:prstGeom prst="roundRect">
            <a:avLst>
              <a:gd name="adj" fmla="val 4545"/>
            </a:avLst>
          </a:prstGeom>
          <a:solidFill>
            <a:srgbClr val="FFFFFF"/>
          </a:solidFill>
          <a:ln w="12700">
            <a:solidFill>
              <a:srgbClr val="D9DFE6"/>
            </a:solidFill>
            <a:prstDash val="solid"/>
          </a:ln>
        </p:spPr>
      </p:sp>
      <p:sp>
        <p:nvSpPr>
          <p:cNvPr id="57" name="Text 55"/>
          <p:cNvSpPr txBox="1"/>
          <p:nvPr/>
        </p:nvSpPr>
        <p:spPr>
          <a:xfrm>
            <a:off x="7360920" y="4224528"/>
            <a:ext cx="4023360" cy="320040"/>
          </a:xfrm>
          <a:prstGeom prst="rect">
            <a:avLst/>
          </a:prstGeom>
          <a:noFill/>
          <a:ln/>
        </p:spPr>
        <p:txBody>
          <a:bodyPr wrap="square" lIns="0" tIns="0" rIns="0" bIns="0" rtlCol="0" anchor="t"/>
          <a:lstStyle/>
          <a:p>
            <a:pPr indent="0" marL="0">
              <a:buNone/>
            </a:pPr>
            <a:r>
              <a:rPr lang="en-US" sz="1600" b="1" dirty="0">
                <a:solidFill>
                  <a:srgbClr val="1B2733"/>
                </a:solidFill>
                <a:latin typeface="Calibri" pitchFamily="34" charset="0"/>
                <a:ea typeface="Calibri" pitchFamily="34" charset="-122"/>
                <a:cs typeface="Calibri" pitchFamily="34" charset="-120"/>
              </a:rPr>
              <a:t>Lớp 2 — Claude (tuỳ chọn)</a:t>
            </a:r>
            <a:endParaRPr lang="en-US" sz="1600" dirty="0"/>
          </a:p>
        </p:txBody>
      </p:sp>
      <p:sp>
        <p:nvSpPr>
          <p:cNvPr id="58" name="Text 56"/>
          <p:cNvSpPr txBox="1"/>
          <p:nvPr/>
        </p:nvSpPr>
        <p:spPr>
          <a:xfrm>
            <a:off x="7360920" y="4663440"/>
            <a:ext cx="4023360" cy="1371600"/>
          </a:xfrm>
          <a:prstGeom prst="rect">
            <a:avLst/>
          </a:prstGeom>
          <a:noFill/>
          <a:ln/>
        </p:spPr>
        <p:txBody>
          <a:bodyPr wrap="square" lIns="0" tIns="0" rIns="0" bIns="0" rtlCol="0" anchor="t"/>
          <a:lstStyle/>
          <a:p>
            <a:pPr marL="165100" indent="-165100">
              <a:spcAft>
                <a:spcPts val="600"/>
              </a:spcAft>
              <a:buSzPct val="100000"/>
              <a:buChar char="•"/>
            </a:pPr>
            <a:r>
              <a:rPr lang="en-US" sz="1300" dirty="0">
                <a:solidFill>
                  <a:srgbClr val="3D4B59"/>
                </a:solidFill>
                <a:latin typeface="Calibri" pitchFamily="34" charset="0"/>
                <a:ea typeface="Calibri" pitchFamily="34" charset="-122"/>
                <a:cs typeface="Calibri" pitchFamily="34" charset="-120"/>
              </a:rPr>
              <a:t>Viết câu thoại ≤ 25 từ theo số liệu thật của ngày</a:t>
            </a:r>
            <a:endParaRPr lang="en-US" sz="1300" dirty="0"/>
          </a:p>
          <a:p>
            <a:pPr marL="165100" indent="-165100">
              <a:spcAft>
                <a:spcPts val="600"/>
              </a:spcAft>
              <a:buSzPct val="100000"/>
              <a:buChar char="•"/>
            </a:pPr>
            <a:r>
              <a:rPr lang="en-US" sz="1300" dirty="0">
                <a:solidFill>
                  <a:srgbClr val="3D4B59"/>
                </a:solidFill>
                <a:latin typeface="Calibri" pitchFamily="34" charset="0"/>
                <a:ea typeface="Calibri" pitchFamily="34" charset="-122"/>
                <a:cs typeface="Calibri" pitchFamily="34" charset="-120"/>
              </a:rPr>
              <a:t>Timeout 2,5 giây; lỗi hoặc hết giờ → dùng câu mẫu</a:t>
            </a:r>
            <a:endParaRPr lang="en-US" sz="1300" dirty="0"/>
          </a:p>
          <a:p>
            <a:pPr marL="165100" indent="-165100">
              <a:spcAft>
                <a:spcPts val="600"/>
              </a:spcAft>
              <a:buSzPct val="100000"/>
              <a:buChar char="•"/>
            </a:pPr>
            <a:r>
              <a:rPr lang="en-US" sz="1300" dirty="0">
                <a:solidFill>
                  <a:srgbClr val="3D4B59"/>
                </a:solidFill>
                <a:latin typeface="Calibri" pitchFamily="34" charset="0"/>
                <a:ea typeface="Calibri" pitchFamily="34" charset="-122"/>
                <a:cs typeface="Calibri" pitchFamily="34" charset="-120"/>
              </a:rPr>
              <a:t>Không có API key, app vẫn chạy đủ bằng luật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7BC0"/>
                </a:solidFill>
                <a:latin typeface="Calibri" pitchFamily="34" charset="0"/>
                <a:ea typeface="Calibri" pitchFamily="34" charset="-122"/>
                <a:cs typeface="Calibri" pitchFamily="34" charset="-120"/>
              </a:rPr>
              <a:t>03 · KIẾN TRÚC · MÔI TRƯỜNG</a:t>
            </a:r>
            <a:endParaRPr lang="en-US" sz="1200" dirty="0"/>
          </a:p>
        </p:txBody>
      </p:sp>
      <p:sp>
        <p:nvSpPr>
          <p:cNvPr id="3" name="Text 1"/>
          <p:cNvSpPr txBox="1"/>
          <p:nvPr/>
        </p:nvSpPr>
        <p:spPr>
          <a:xfrm>
            <a:off x="594360" y="713232"/>
            <a:ext cx="10881360" cy="54864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Một bộ não, ba môi trường</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9</a:t>
            </a:r>
            <a:endParaRPr lang="en-US" sz="950" dirty="0"/>
          </a:p>
        </p:txBody>
      </p:sp>
      <p:sp>
        <p:nvSpPr>
          <p:cNvPr id="9" name="Shape 7"/>
          <p:cNvSpPr/>
          <p:nvPr/>
        </p:nvSpPr>
        <p:spPr>
          <a:xfrm>
            <a:off x="594360" y="1554480"/>
            <a:ext cx="11000232" cy="685800"/>
          </a:xfrm>
          <a:prstGeom prst="roundRect">
            <a:avLst>
              <a:gd name="adj" fmla="val 13333"/>
            </a:avLst>
          </a:prstGeom>
          <a:solidFill>
            <a:srgbClr val="0F2437"/>
          </a:solidFill>
          <a:ln/>
        </p:spPr>
      </p:sp>
      <p:sp>
        <p:nvSpPr>
          <p:cNvPr id="10" name="Text 8"/>
          <p:cNvSpPr txBox="1"/>
          <p:nvPr/>
        </p:nvSpPr>
        <p:spPr>
          <a:xfrm>
            <a:off x="594360" y="1554480"/>
            <a:ext cx="11000232"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MiloEngine — cùng một bộ não, cùng một app</a:t>
            </a:r>
            <a:endParaRPr lang="en-US" sz="1800" dirty="0"/>
          </a:p>
        </p:txBody>
      </p:sp>
      <p:sp>
        <p:nvSpPr>
          <p:cNvPr id="11" name="Shape 9"/>
          <p:cNvSpPr/>
          <p:nvPr/>
        </p:nvSpPr>
        <p:spPr>
          <a:xfrm>
            <a:off x="594360" y="2514600"/>
            <a:ext cx="3520440" cy="3200400"/>
          </a:xfrm>
          <a:prstGeom prst="roundRect">
            <a:avLst>
              <a:gd name="adj" fmla="val 2857"/>
            </a:avLst>
          </a:prstGeom>
          <a:solidFill>
            <a:srgbClr val="FFFFFF"/>
          </a:solidFill>
          <a:ln w="12700">
            <a:solidFill>
              <a:srgbClr val="D9DFE6"/>
            </a:solidFill>
            <a:prstDash val="solid"/>
          </a:ln>
        </p:spPr>
      </p:sp>
      <p:sp>
        <p:nvSpPr>
          <p:cNvPr id="12" name="Shape 10"/>
          <p:cNvSpPr/>
          <p:nvPr/>
        </p:nvSpPr>
        <p:spPr>
          <a:xfrm>
            <a:off x="603504" y="2523744"/>
            <a:ext cx="3502152" cy="548640"/>
          </a:xfrm>
          <a:prstGeom prst="rect">
            <a:avLst/>
          </a:prstGeom>
          <a:solidFill>
            <a:srgbClr val="007BC0"/>
          </a:solidFill>
          <a:ln/>
        </p:spPr>
      </p:sp>
      <p:sp>
        <p:nvSpPr>
          <p:cNvPr id="13" name="Text 11"/>
          <p:cNvSpPr txBox="1"/>
          <p:nvPr/>
        </p:nvSpPr>
        <p:spPr>
          <a:xfrm>
            <a:off x="822960" y="2523744"/>
            <a:ext cx="306324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DEMO</a:t>
            </a:r>
            <a:endParaRPr lang="en-US" sz="1600" dirty="0"/>
          </a:p>
        </p:txBody>
      </p:sp>
      <p:sp>
        <p:nvSpPr>
          <p:cNvPr id="14" name="Text 12"/>
          <p:cNvSpPr txBox="1"/>
          <p:nvPr/>
        </p:nvSpPr>
        <p:spPr>
          <a:xfrm>
            <a:off x="822960" y="3246120"/>
            <a:ext cx="3063240" cy="201168"/>
          </a:xfrm>
          <a:prstGeom prst="rect">
            <a:avLst/>
          </a:prstGeom>
          <a:noFill/>
          <a:ln/>
        </p:spPr>
        <p:txBody>
          <a:bodyPr wrap="square" lIns="0" tIns="0" rIns="0" bIns="0" rtlCol="0" anchor="t"/>
          <a:lstStyle/>
          <a:p>
            <a:pPr indent="0" marL="0">
              <a:buNone/>
            </a:pPr>
            <a:r>
              <a:rPr lang="en-US" sz="1000" b="1" spc="150" kern="0" dirty="0">
                <a:solidFill>
                  <a:srgbClr val="007BC0"/>
                </a:solidFill>
                <a:latin typeface="Calibri" pitchFamily="34" charset="0"/>
                <a:ea typeface="Calibri" pitchFamily="34" charset="-122"/>
                <a:cs typeface="Calibri" pitchFamily="34" charset="-120"/>
              </a:rPr>
              <a:t>DỮ LIỆU</a:t>
            </a:r>
            <a:endParaRPr lang="en-US" sz="1000" dirty="0"/>
          </a:p>
        </p:txBody>
      </p:sp>
      <p:sp>
        <p:nvSpPr>
          <p:cNvPr id="15" name="Text 13"/>
          <p:cNvSpPr txBox="1"/>
          <p:nvPr/>
        </p:nvSpPr>
        <p:spPr>
          <a:xfrm>
            <a:off x="822960" y="3465576"/>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DemoSession: ngày mẫu Thứ Năm 24/9</a:t>
            </a:r>
            <a:endParaRPr lang="en-US" sz="1250" dirty="0"/>
          </a:p>
        </p:txBody>
      </p:sp>
      <p:sp>
        <p:nvSpPr>
          <p:cNvPr id="16" name="Text 14"/>
          <p:cNvSpPr txBox="1"/>
          <p:nvPr/>
        </p:nvSpPr>
        <p:spPr>
          <a:xfrm>
            <a:off x="822960" y="4050792"/>
            <a:ext cx="3063240" cy="201168"/>
          </a:xfrm>
          <a:prstGeom prst="rect">
            <a:avLst/>
          </a:prstGeom>
          <a:noFill/>
          <a:ln/>
        </p:spPr>
        <p:txBody>
          <a:bodyPr wrap="square" lIns="0" tIns="0" rIns="0" bIns="0" rtlCol="0" anchor="t"/>
          <a:lstStyle/>
          <a:p>
            <a:pPr indent="0" marL="0">
              <a:buNone/>
            </a:pPr>
            <a:r>
              <a:rPr lang="en-US" sz="1000" b="1" spc="150" kern="0" dirty="0">
                <a:solidFill>
                  <a:srgbClr val="007BC0"/>
                </a:solidFill>
                <a:latin typeface="Calibri" pitchFamily="34" charset="0"/>
                <a:ea typeface="Calibri" pitchFamily="34" charset="-122"/>
                <a:cs typeface="Calibri" pitchFamily="34" charset="-120"/>
              </a:rPr>
              <a:t>ĐỒNG HỒ</a:t>
            </a:r>
            <a:endParaRPr lang="en-US" sz="1000" dirty="0"/>
          </a:p>
        </p:txBody>
      </p:sp>
      <p:sp>
        <p:nvSpPr>
          <p:cNvPr id="17" name="Text 15"/>
          <p:cNvSpPr txBox="1"/>
          <p:nvPr/>
        </p:nvSpPr>
        <p:spPr>
          <a:xfrm>
            <a:off x="822960" y="4270248"/>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Theo kịch bản, tua 60×–300×, nhảy 17 mốc</a:t>
            </a:r>
            <a:endParaRPr lang="en-US" sz="1250" dirty="0"/>
          </a:p>
        </p:txBody>
      </p:sp>
      <p:sp>
        <p:nvSpPr>
          <p:cNvPr id="18" name="Text 16"/>
          <p:cNvSpPr txBox="1"/>
          <p:nvPr/>
        </p:nvSpPr>
        <p:spPr>
          <a:xfrm>
            <a:off x="822960" y="4855464"/>
            <a:ext cx="3063240" cy="201168"/>
          </a:xfrm>
          <a:prstGeom prst="rect">
            <a:avLst/>
          </a:prstGeom>
          <a:noFill/>
          <a:ln/>
        </p:spPr>
        <p:txBody>
          <a:bodyPr wrap="square" lIns="0" tIns="0" rIns="0" bIns="0" rtlCol="0" anchor="t"/>
          <a:lstStyle/>
          <a:p>
            <a:pPr indent="0" marL="0">
              <a:buNone/>
            </a:pPr>
            <a:r>
              <a:rPr lang="en-US" sz="1000" b="1" spc="150" kern="0" dirty="0">
                <a:solidFill>
                  <a:srgbClr val="007BC0"/>
                </a:solidFill>
                <a:latin typeface="Calibri" pitchFamily="34" charset="0"/>
                <a:ea typeface="Calibri" pitchFamily="34" charset="-122"/>
                <a:cs typeface="Calibri" pitchFamily="34" charset="-120"/>
              </a:rPr>
              <a:t>DÙNG ĐỂ</a:t>
            </a:r>
            <a:endParaRPr lang="en-US" sz="1000" dirty="0"/>
          </a:p>
        </p:txBody>
      </p:sp>
      <p:sp>
        <p:nvSpPr>
          <p:cNvPr id="19" name="Text 17"/>
          <p:cNvSpPr txBox="1"/>
          <p:nvPr/>
        </p:nvSpPr>
        <p:spPr>
          <a:xfrm>
            <a:off x="822960" y="5074920"/>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Trình diễn đủ 19 tình huống trong khoảng 15 phút</a:t>
            </a:r>
            <a:endParaRPr lang="en-US" sz="1250" dirty="0"/>
          </a:p>
        </p:txBody>
      </p:sp>
      <p:sp>
        <p:nvSpPr>
          <p:cNvPr id="20" name="Shape 18"/>
          <p:cNvSpPr/>
          <p:nvPr/>
        </p:nvSpPr>
        <p:spPr>
          <a:xfrm>
            <a:off x="4334256" y="2514600"/>
            <a:ext cx="3520440" cy="3200400"/>
          </a:xfrm>
          <a:prstGeom prst="roundRect">
            <a:avLst>
              <a:gd name="adj" fmla="val 2857"/>
            </a:avLst>
          </a:prstGeom>
          <a:solidFill>
            <a:srgbClr val="FFFFFF"/>
          </a:solidFill>
          <a:ln w="12700">
            <a:solidFill>
              <a:srgbClr val="D9DFE6"/>
            </a:solidFill>
            <a:prstDash val="solid"/>
          </a:ln>
        </p:spPr>
      </p:sp>
      <p:sp>
        <p:nvSpPr>
          <p:cNvPr id="21" name="Shape 19"/>
          <p:cNvSpPr/>
          <p:nvPr/>
        </p:nvSpPr>
        <p:spPr>
          <a:xfrm>
            <a:off x="4343400" y="2523744"/>
            <a:ext cx="3502152" cy="548640"/>
          </a:xfrm>
          <a:prstGeom prst="rect">
            <a:avLst/>
          </a:prstGeom>
          <a:solidFill>
            <a:srgbClr val="00884A"/>
          </a:solidFill>
          <a:ln/>
        </p:spPr>
      </p:sp>
      <p:sp>
        <p:nvSpPr>
          <p:cNvPr id="22" name="Text 20"/>
          <p:cNvSpPr txBox="1"/>
          <p:nvPr/>
        </p:nvSpPr>
        <p:spPr>
          <a:xfrm>
            <a:off x="4562856" y="2523744"/>
            <a:ext cx="306324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SANDBOX</a:t>
            </a:r>
            <a:endParaRPr lang="en-US" sz="1600" dirty="0"/>
          </a:p>
        </p:txBody>
      </p:sp>
      <p:sp>
        <p:nvSpPr>
          <p:cNvPr id="23" name="Text 21"/>
          <p:cNvSpPr txBox="1"/>
          <p:nvPr/>
        </p:nvSpPr>
        <p:spPr>
          <a:xfrm>
            <a:off x="4562856" y="3246120"/>
            <a:ext cx="3063240" cy="201168"/>
          </a:xfrm>
          <a:prstGeom prst="rect">
            <a:avLst/>
          </a:prstGeom>
          <a:noFill/>
          <a:ln/>
        </p:spPr>
        <p:txBody>
          <a:bodyPr wrap="square" lIns="0" tIns="0" rIns="0" bIns="0" rtlCol="0" anchor="t"/>
          <a:lstStyle/>
          <a:p>
            <a:pPr indent="0" marL="0">
              <a:buNone/>
            </a:pPr>
            <a:r>
              <a:rPr lang="en-US" sz="1000" b="1" spc="150" kern="0" dirty="0">
                <a:solidFill>
                  <a:srgbClr val="00884A"/>
                </a:solidFill>
                <a:latin typeface="Calibri" pitchFamily="34" charset="0"/>
                <a:ea typeface="Calibri" pitchFamily="34" charset="-122"/>
                <a:cs typeface="Calibri" pitchFamily="34" charset="-120"/>
              </a:rPr>
              <a:t>DỮ LIỆU</a:t>
            </a:r>
            <a:endParaRPr lang="en-US" sz="1000" dirty="0"/>
          </a:p>
        </p:txBody>
      </p:sp>
      <p:sp>
        <p:nvSpPr>
          <p:cNvPr id="24" name="Text 22"/>
          <p:cNvSpPr txBox="1"/>
          <p:nvPr/>
        </p:nvSpPr>
        <p:spPr>
          <a:xfrm>
            <a:off x="4562856" y="3465576"/>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LiveSession: tenant thử + Azure DevOps sandbox, API thật</a:t>
            </a:r>
            <a:endParaRPr lang="en-US" sz="1250" dirty="0"/>
          </a:p>
        </p:txBody>
      </p:sp>
      <p:sp>
        <p:nvSpPr>
          <p:cNvPr id="25" name="Text 23"/>
          <p:cNvSpPr txBox="1"/>
          <p:nvPr/>
        </p:nvSpPr>
        <p:spPr>
          <a:xfrm>
            <a:off x="4562856" y="4050792"/>
            <a:ext cx="3063240" cy="201168"/>
          </a:xfrm>
          <a:prstGeom prst="rect">
            <a:avLst/>
          </a:prstGeom>
          <a:noFill/>
          <a:ln/>
        </p:spPr>
        <p:txBody>
          <a:bodyPr wrap="square" lIns="0" tIns="0" rIns="0" bIns="0" rtlCol="0" anchor="t"/>
          <a:lstStyle/>
          <a:p>
            <a:pPr indent="0" marL="0">
              <a:buNone/>
            </a:pPr>
            <a:r>
              <a:rPr lang="en-US" sz="1000" b="1" spc="150" kern="0" dirty="0">
                <a:solidFill>
                  <a:srgbClr val="00884A"/>
                </a:solidFill>
                <a:latin typeface="Calibri" pitchFamily="34" charset="0"/>
                <a:ea typeface="Calibri" pitchFamily="34" charset="-122"/>
                <a:cs typeface="Calibri" pitchFamily="34" charset="-120"/>
              </a:rPr>
              <a:t>ĐỒNG HỒ</a:t>
            </a:r>
            <a:endParaRPr lang="en-US" sz="1000" dirty="0"/>
          </a:p>
        </p:txBody>
      </p:sp>
      <p:sp>
        <p:nvSpPr>
          <p:cNvPr id="26" name="Text 24"/>
          <p:cNvSpPr txBox="1"/>
          <p:nvPr/>
        </p:nvSpPr>
        <p:spPr>
          <a:xfrm>
            <a:off x="4562856" y="4270248"/>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Giờ thật; chế độ test dùng ngưỡng rút gọn</a:t>
            </a:r>
            <a:endParaRPr lang="en-US" sz="1250" dirty="0"/>
          </a:p>
        </p:txBody>
      </p:sp>
      <p:sp>
        <p:nvSpPr>
          <p:cNvPr id="27" name="Text 25"/>
          <p:cNvSpPr txBox="1"/>
          <p:nvPr/>
        </p:nvSpPr>
        <p:spPr>
          <a:xfrm>
            <a:off x="4562856" y="4855464"/>
            <a:ext cx="3063240" cy="201168"/>
          </a:xfrm>
          <a:prstGeom prst="rect">
            <a:avLst/>
          </a:prstGeom>
          <a:noFill/>
          <a:ln/>
        </p:spPr>
        <p:txBody>
          <a:bodyPr wrap="square" lIns="0" tIns="0" rIns="0" bIns="0" rtlCol="0" anchor="t"/>
          <a:lstStyle/>
          <a:p>
            <a:pPr indent="0" marL="0">
              <a:buNone/>
            </a:pPr>
            <a:r>
              <a:rPr lang="en-US" sz="1000" b="1" spc="150" kern="0" dirty="0">
                <a:solidFill>
                  <a:srgbClr val="00884A"/>
                </a:solidFill>
                <a:latin typeface="Calibri" pitchFamily="34" charset="0"/>
                <a:ea typeface="Calibri" pitchFamily="34" charset="-122"/>
                <a:cs typeface="Calibri" pitchFamily="34" charset="-120"/>
              </a:rPr>
              <a:t>DÙNG ĐỂ</a:t>
            </a:r>
            <a:endParaRPr lang="en-US" sz="1000" dirty="0"/>
          </a:p>
        </p:txBody>
      </p:sp>
      <p:sp>
        <p:nvSpPr>
          <p:cNvPr id="28" name="Text 26"/>
          <p:cNvSpPr txBox="1"/>
          <p:nvPr/>
        </p:nvSpPr>
        <p:spPr>
          <a:xfrm>
            <a:off x="4562856" y="5074920"/>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Kiểm thử trên Teams, Outlook thật; hoặc “chạy như Production”</a:t>
            </a:r>
            <a:endParaRPr lang="en-US" sz="1250" dirty="0"/>
          </a:p>
        </p:txBody>
      </p:sp>
      <p:sp>
        <p:nvSpPr>
          <p:cNvPr id="29" name="Shape 27"/>
          <p:cNvSpPr/>
          <p:nvPr/>
        </p:nvSpPr>
        <p:spPr>
          <a:xfrm>
            <a:off x="8074152" y="2514600"/>
            <a:ext cx="3520440" cy="3200400"/>
          </a:xfrm>
          <a:prstGeom prst="roundRect">
            <a:avLst>
              <a:gd name="adj" fmla="val 2857"/>
            </a:avLst>
          </a:prstGeom>
          <a:solidFill>
            <a:srgbClr val="FFFFFF"/>
          </a:solidFill>
          <a:ln w="12700">
            <a:solidFill>
              <a:srgbClr val="D9DFE6"/>
            </a:solidFill>
            <a:prstDash val="solid"/>
          </a:ln>
        </p:spPr>
      </p:sp>
      <p:sp>
        <p:nvSpPr>
          <p:cNvPr id="30" name="Shape 28"/>
          <p:cNvSpPr/>
          <p:nvPr/>
        </p:nvSpPr>
        <p:spPr>
          <a:xfrm>
            <a:off x="8083296" y="2523744"/>
            <a:ext cx="3502152" cy="548640"/>
          </a:xfrm>
          <a:prstGeom prst="rect">
            <a:avLst/>
          </a:prstGeom>
          <a:solidFill>
            <a:srgbClr val="E20015"/>
          </a:solidFill>
          <a:ln/>
        </p:spPr>
      </p:sp>
      <p:sp>
        <p:nvSpPr>
          <p:cNvPr id="31" name="Text 29"/>
          <p:cNvSpPr txBox="1"/>
          <p:nvPr/>
        </p:nvSpPr>
        <p:spPr>
          <a:xfrm>
            <a:off x="8302752" y="2523744"/>
            <a:ext cx="306324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PRODUCTION · BOSCH</a:t>
            </a:r>
            <a:endParaRPr lang="en-US" sz="1600" dirty="0"/>
          </a:p>
        </p:txBody>
      </p:sp>
      <p:sp>
        <p:nvSpPr>
          <p:cNvPr id="32" name="Text 30"/>
          <p:cNvSpPr txBox="1"/>
          <p:nvPr/>
        </p:nvSpPr>
        <p:spPr>
          <a:xfrm>
            <a:off x="8302752" y="3246120"/>
            <a:ext cx="3063240" cy="201168"/>
          </a:xfrm>
          <a:prstGeom prst="rect">
            <a:avLst/>
          </a:prstGeom>
          <a:noFill/>
          <a:ln/>
        </p:spPr>
        <p:txBody>
          <a:bodyPr wrap="square" lIns="0" tIns="0" rIns="0" bIns="0" rtlCol="0" anchor="t"/>
          <a:lstStyle/>
          <a:p>
            <a:pPr indent="0" marL="0">
              <a:buNone/>
            </a:pPr>
            <a:r>
              <a:rPr lang="en-US" sz="1000" b="1" spc="150" kern="0" dirty="0">
                <a:solidFill>
                  <a:srgbClr val="E20015"/>
                </a:solidFill>
                <a:latin typeface="Calibri" pitchFamily="34" charset="0"/>
                <a:ea typeface="Calibri" pitchFamily="34" charset="-122"/>
                <a:cs typeface="Calibri" pitchFamily="34" charset="-120"/>
              </a:rPr>
              <a:t>DỮ LIỆU</a:t>
            </a:r>
            <a:endParaRPr lang="en-US" sz="1000" dirty="0"/>
          </a:p>
        </p:txBody>
      </p:sp>
      <p:sp>
        <p:nvSpPr>
          <p:cNvPr id="33" name="Text 31"/>
          <p:cNvSpPr txBox="1"/>
          <p:nvPr/>
        </p:nvSpPr>
        <p:spPr>
          <a:xfrm>
            <a:off x="8302752" y="3465576"/>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LiveSession: tenant Bosch — Teams presence, Outlook, Azure Boards</a:t>
            </a:r>
            <a:endParaRPr lang="en-US" sz="1250" dirty="0"/>
          </a:p>
        </p:txBody>
      </p:sp>
      <p:sp>
        <p:nvSpPr>
          <p:cNvPr id="34" name="Text 32"/>
          <p:cNvSpPr txBox="1"/>
          <p:nvPr/>
        </p:nvSpPr>
        <p:spPr>
          <a:xfrm>
            <a:off x="8302752" y="4050792"/>
            <a:ext cx="3063240" cy="201168"/>
          </a:xfrm>
          <a:prstGeom prst="rect">
            <a:avLst/>
          </a:prstGeom>
          <a:noFill/>
          <a:ln/>
        </p:spPr>
        <p:txBody>
          <a:bodyPr wrap="square" lIns="0" tIns="0" rIns="0" bIns="0" rtlCol="0" anchor="t"/>
          <a:lstStyle/>
          <a:p>
            <a:pPr indent="0" marL="0">
              <a:buNone/>
            </a:pPr>
            <a:r>
              <a:rPr lang="en-US" sz="1000" b="1" spc="150" kern="0" dirty="0">
                <a:solidFill>
                  <a:srgbClr val="E20015"/>
                </a:solidFill>
                <a:latin typeface="Calibri" pitchFamily="34" charset="0"/>
                <a:ea typeface="Calibri" pitchFamily="34" charset="-122"/>
                <a:cs typeface="Calibri" pitchFamily="34" charset="-120"/>
              </a:rPr>
              <a:t>ĐỒNG HỒ</a:t>
            </a:r>
            <a:endParaRPr lang="en-US" sz="1000" dirty="0"/>
          </a:p>
        </p:txBody>
      </p:sp>
      <p:sp>
        <p:nvSpPr>
          <p:cNvPr id="35" name="Text 33"/>
          <p:cNvSpPr txBox="1"/>
          <p:nvPr/>
        </p:nvSpPr>
        <p:spPr>
          <a:xfrm>
            <a:off x="8302752" y="4270248"/>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Giờ thật, ngưỡng chuẩn: làm liền 120 phút, task kẹt ≥ 3 ngày</a:t>
            </a:r>
            <a:endParaRPr lang="en-US" sz="1250" dirty="0"/>
          </a:p>
        </p:txBody>
      </p:sp>
      <p:sp>
        <p:nvSpPr>
          <p:cNvPr id="36" name="Text 34"/>
          <p:cNvSpPr txBox="1"/>
          <p:nvPr/>
        </p:nvSpPr>
        <p:spPr>
          <a:xfrm>
            <a:off x="8302752" y="4855464"/>
            <a:ext cx="3063240" cy="201168"/>
          </a:xfrm>
          <a:prstGeom prst="rect">
            <a:avLst/>
          </a:prstGeom>
          <a:noFill/>
          <a:ln/>
        </p:spPr>
        <p:txBody>
          <a:bodyPr wrap="square" lIns="0" tIns="0" rIns="0" bIns="0" rtlCol="0" anchor="t"/>
          <a:lstStyle/>
          <a:p>
            <a:pPr indent="0" marL="0">
              <a:buNone/>
            </a:pPr>
            <a:r>
              <a:rPr lang="en-US" sz="1000" b="1" spc="150" kern="0" dirty="0">
                <a:solidFill>
                  <a:srgbClr val="E20015"/>
                </a:solidFill>
                <a:latin typeface="Calibri" pitchFamily="34" charset="0"/>
                <a:ea typeface="Calibri" pitchFamily="34" charset="-122"/>
                <a:cs typeface="Calibri" pitchFamily="34" charset="-120"/>
              </a:rPr>
              <a:t>DÙNG ĐỂ</a:t>
            </a:r>
            <a:endParaRPr lang="en-US" sz="1000" dirty="0"/>
          </a:p>
        </p:txBody>
      </p:sp>
      <p:sp>
        <p:nvSpPr>
          <p:cNvPr id="37" name="Text 35"/>
          <p:cNvSpPr txBox="1"/>
          <p:nvPr/>
        </p:nvSpPr>
        <p:spPr>
          <a:xfrm>
            <a:off x="8302752" y="5074920"/>
            <a:ext cx="3063240" cy="548640"/>
          </a:xfrm>
          <a:prstGeom prst="rect">
            <a:avLst/>
          </a:prstGeom>
          <a:noFill/>
          <a:ln/>
        </p:spPr>
        <p:txBody>
          <a:bodyPr wrap="square" lIns="0" tIns="0" rIns="0" bIns="0" rtlCol="0" anchor="t"/>
          <a:lstStyle/>
          <a:p>
            <a:pPr indent="0" marL="0">
              <a:buNone/>
            </a:pPr>
            <a:r>
              <a:rPr lang="en-US" sz="1250" dirty="0">
                <a:solidFill>
                  <a:srgbClr val="1B2733"/>
                </a:solidFill>
                <a:latin typeface="Calibri" pitchFamily="34" charset="0"/>
                <a:ea typeface="Calibri" pitchFamily="34" charset="-122"/>
                <a:cs typeface="Calibri" pitchFamily="34" charset="-120"/>
              </a:rPr>
              <a:t>Dùng hằng ngày; Milo ẩn khi chia sẻ màn hình</a:t>
            </a:r>
            <a:endParaRPr lang="en-US" sz="1250" dirty="0"/>
          </a:p>
        </p:txBody>
      </p:sp>
      <p:sp>
        <p:nvSpPr>
          <p:cNvPr id="38" name="Text 36"/>
          <p:cNvSpPr txBox="1"/>
          <p:nvPr/>
        </p:nvSpPr>
        <p:spPr>
          <a:xfrm>
            <a:off x="594360" y="5852160"/>
            <a:ext cx="11000232" cy="292608"/>
          </a:xfrm>
          <a:prstGeom prst="rect">
            <a:avLst/>
          </a:prstGeom>
          <a:noFill/>
          <a:ln/>
        </p:spPr>
        <p:txBody>
          <a:bodyPr wrap="square" lIns="0" tIns="0" rIns="0" bIns="0" rtlCol="0" anchor="t"/>
          <a:lstStyle/>
          <a:p>
            <a:pPr algn="ctr" indent="0" marL="0">
              <a:buNone/>
            </a:pPr>
            <a:r>
              <a:rPr lang="en-US" sz="1350" i="1" dirty="0">
                <a:solidFill>
                  <a:srgbClr val="667584"/>
                </a:solidFill>
                <a:latin typeface="Calibri" pitchFamily="34" charset="0"/>
                <a:ea typeface="Calibri" pitchFamily="34" charset="-122"/>
                <a:cs typeface="Calibri" pitchFamily="34" charset="-120"/>
              </a:rPr>
              <a:t>Chỉ khác nhau ở nguồn thời gian, dữ liệu và tín hiệu — phần bộ não không đổi.</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7BC0"/>
                </a:solidFill>
                <a:latin typeface="Calibri" pitchFamily="34" charset="0"/>
                <a:ea typeface="Calibri" pitchFamily="34" charset="-122"/>
                <a:cs typeface="Calibri" pitchFamily="34" charset="-120"/>
              </a:rPr>
              <a:t>04 · FLOW</a:t>
            </a:r>
            <a:endParaRPr lang="en-US" sz="1200" dirty="0"/>
          </a:p>
        </p:txBody>
      </p:sp>
      <p:sp>
        <p:nvSpPr>
          <p:cNvPr id="3" name="Text 1"/>
          <p:cNvSpPr txBox="1"/>
          <p:nvPr/>
        </p:nvSpPr>
        <p:spPr>
          <a:xfrm>
            <a:off x="594360" y="713232"/>
            <a:ext cx="10881360" cy="54864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Flow một ngày làm việc cùng Milo</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10</a:t>
            </a:r>
            <a:endParaRPr lang="en-US" sz="950" dirty="0"/>
          </a:p>
        </p:txBody>
      </p:sp>
      <p:sp>
        <p:nvSpPr>
          <p:cNvPr id="9" name="Text 7"/>
          <p:cNvSpPr txBox="1"/>
          <p:nvPr/>
        </p:nvSpPr>
        <p:spPr>
          <a:xfrm>
            <a:off x="594360" y="1280160"/>
            <a:ext cx="5486400" cy="274320"/>
          </a:xfrm>
          <a:prstGeom prst="rect">
            <a:avLst/>
          </a:prstGeom>
          <a:noFill/>
          <a:ln/>
        </p:spPr>
        <p:txBody>
          <a:bodyPr wrap="square" lIns="0" tIns="0" rIns="0" bIns="0" rtlCol="0" anchor="t"/>
          <a:lstStyle/>
          <a:p>
            <a:pPr indent="0" marL="0">
              <a:buNone/>
            </a:pPr>
            <a:r>
              <a:rPr lang="en-US" sz="1300" i="1" dirty="0">
                <a:solidFill>
                  <a:srgbClr val="667584"/>
                </a:solidFill>
                <a:latin typeface="Calibri" pitchFamily="34" charset="0"/>
                <a:ea typeface="Calibri" pitchFamily="34" charset="-122"/>
                <a:cs typeface="Calibri" pitchFamily="34" charset="-120"/>
              </a:rPr>
              <a:t>Lướt qua — chi tiết xem ở phần demo</a:t>
            </a:r>
            <a:endParaRPr lang="en-US" sz="1300" dirty="0"/>
          </a:p>
        </p:txBody>
      </p:sp>
      <p:sp>
        <p:nvSpPr>
          <p:cNvPr id="10" name="Shape 8"/>
          <p:cNvSpPr/>
          <p:nvPr/>
        </p:nvSpPr>
        <p:spPr>
          <a:xfrm>
            <a:off x="594360" y="1691640"/>
            <a:ext cx="822960" cy="292608"/>
          </a:xfrm>
          <a:prstGeom prst="roundRect">
            <a:avLst>
              <a:gd name="adj" fmla="val 50000"/>
            </a:avLst>
          </a:prstGeom>
          <a:solidFill>
            <a:srgbClr val="E20015"/>
          </a:solidFill>
          <a:ln/>
        </p:spPr>
      </p:sp>
      <p:sp>
        <p:nvSpPr>
          <p:cNvPr id="11" name="Text 9"/>
          <p:cNvSpPr txBox="1"/>
          <p:nvPr/>
        </p:nvSpPr>
        <p:spPr>
          <a:xfrm>
            <a:off x="594360" y="1691640"/>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08:58</a:t>
            </a:r>
            <a:endParaRPr lang="en-US" sz="1200" dirty="0"/>
          </a:p>
        </p:txBody>
      </p:sp>
      <p:sp>
        <p:nvSpPr>
          <p:cNvPr id="12" name="Shape 10"/>
          <p:cNvSpPr/>
          <p:nvPr/>
        </p:nvSpPr>
        <p:spPr>
          <a:xfrm>
            <a:off x="557784" y="2066544"/>
            <a:ext cx="1764792" cy="2193002"/>
          </a:xfrm>
          <a:prstGeom prst="roundRect">
            <a:avLst>
              <a:gd name="adj" fmla="val 4145"/>
            </a:avLst>
          </a:prstGeom>
          <a:solidFill>
            <a:srgbClr val="FFFFFF"/>
          </a:solidFill>
          <a:ln w="12700">
            <a:solidFill>
              <a:srgbClr val="D9DFE6"/>
            </a:solidFill>
            <a:prstDash val="solid"/>
          </a:ln>
        </p:spPr>
      </p:sp>
      <p:pic>
        <p:nvPicPr>
          <p:cNvPr id="13" name="Image 0" descr="img/f_0858.png">    </p:cNvPr>
          <p:cNvPicPr>
            <a:picLocks noChangeAspect="1"/>
          </p:cNvPicPr>
          <p:nvPr/>
        </p:nvPicPr>
        <p:blipFill>
          <a:blip r:embed="rId1"/>
          <a:stretch>
            <a:fillRect/>
          </a:stretch>
        </p:blipFill>
        <p:spPr>
          <a:xfrm>
            <a:off x="594360" y="2103120"/>
            <a:ext cx="1691640" cy="2119850"/>
          </a:xfrm>
          <a:prstGeom prst="rect">
            <a:avLst/>
          </a:prstGeom>
        </p:spPr>
      </p:pic>
      <p:sp>
        <p:nvSpPr>
          <p:cNvPr id="14" name="Text 11"/>
          <p:cNvSpPr txBox="1"/>
          <p:nvPr/>
        </p:nvSpPr>
        <p:spPr>
          <a:xfrm>
            <a:off x="594360" y="4360130"/>
            <a:ext cx="1691640" cy="292608"/>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Chào sáng</a:t>
            </a:r>
            <a:endParaRPr lang="en-US" sz="1400" dirty="0"/>
          </a:p>
        </p:txBody>
      </p:sp>
      <p:sp>
        <p:nvSpPr>
          <p:cNvPr id="15" name="Text 12"/>
          <p:cNvSpPr txBox="1"/>
          <p:nvPr/>
        </p:nvSpPr>
        <p:spPr>
          <a:xfrm>
            <a:off x="594360" y="4680170"/>
            <a:ext cx="1691640" cy="548640"/>
          </a:xfrm>
          <a:prstGeom prst="rect">
            <a:avLst/>
          </a:prstGeom>
          <a:noFill/>
          <a:ln/>
        </p:spPr>
        <p:txBody>
          <a:bodyPr wrap="square" lIns="0" tIns="0" rIns="0" bIns="0" rtlCol="0" anchor="t"/>
          <a:lstStyle/>
          <a:p>
            <a:pPr indent="0" marL="0">
              <a:buNone/>
            </a:pPr>
            <a:r>
              <a:rPr lang="en-US" sz="1100" dirty="0">
                <a:solidFill>
                  <a:srgbClr val="667584"/>
                </a:solidFill>
                <a:latin typeface="Calibri" pitchFamily="34" charset="0"/>
                <a:ea typeface="Calibri" pitchFamily="34" charset="-122"/>
                <a:cs typeface="Calibri" pitchFamily="34" charset="-120"/>
              </a:rPr>
              <a:t>Bản tin: họp, email, task</a:t>
            </a:r>
            <a:endParaRPr lang="en-US" sz="1100" dirty="0"/>
          </a:p>
        </p:txBody>
      </p:sp>
      <p:sp>
        <p:nvSpPr>
          <p:cNvPr id="16" name="Shape 13"/>
          <p:cNvSpPr/>
          <p:nvPr/>
        </p:nvSpPr>
        <p:spPr>
          <a:xfrm>
            <a:off x="2456078" y="1691640"/>
            <a:ext cx="822960" cy="292608"/>
          </a:xfrm>
          <a:prstGeom prst="roundRect">
            <a:avLst>
              <a:gd name="adj" fmla="val 50000"/>
            </a:avLst>
          </a:prstGeom>
          <a:solidFill>
            <a:srgbClr val="007BC0"/>
          </a:solidFill>
          <a:ln/>
        </p:spPr>
      </p:sp>
      <p:sp>
        <p:nvSpPr>
          <p:cNvPr id="17" name="Text 14"/>
          <p:cNvSpPr txBox="1"/>
          <p:nvPr/>
        </p:nvSpPr>
        <p:spPr>
          <a:xfrm>
            <a:off x="2456078" y="1691640"/>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09:25</a:t>
            </a:r>
            <a:endParaRPr lang="en-US" sz="1200" dirty="0"/>
          </a:p>
        </p:txBody>
      </p:sp>
      <p:sp>
        <p:nvSpPr>
          <p:cNvPr id="18" name="Shape 15"/>
          <p:cNvSpPr/>
          <p:nvPr/>
        </p:nvSpPr>
        <p:spPr>
          <a:xfrm>
            <a:off x="2419502" y="2066544"/>
            <a:ext cx="1764792" cy="2193002"/>
          </a:xfrm>
          <a:prstGeom prst="roundRect">
            <a:avLst>
              <a:gd name="adj" fmla="val 4145"/>
            </a:avLst>
          </a:prstGeom>
          <a:solidFill>
            <a:srgbClr val="FFFFFF"/>
          </a:solidFill>
          <a:ln w="12700">
            <a:solidFill>
              <a:srgbClr val="D9DFE6"/>
            </a:solidFill>
            <a:prstDash val="solid"/>
          </a:ln>
        </p:spPr>
      </p:sp>
      <p:pic>
        <p:nvPicPr>
          <p:cNvPr id="19" name="Image 1" descr="img/f_0925.png">    </p:cNvPr>
          <p:cNvPicPr>
            <a:picLocks noChangeAspect="1"/>
          </p:cNvPicPr>
          <p:nvPr/>
        </p:nvPicPr>
        <p:blipFill>
          <a:blip r:embed="rId2"/>
          <a:stretch>
            <a:fillRect/>
          </a:stretch>
        </p:blipFill>
        <p:spPr>
          <a:xfrm>
            <a:off x="2456078" y="2103120"/>
            <a:ext cx="1691640" cy="2119850"/>
          </a:xfrm>
          <a:prstGeom prst="rect">
            <a:avLst/>
          </a:prstGeom>
        </p:spPr>
      </p:pic>
      <p:sp>
        <p:nvSpPr>
          <p:cNvPr id="20" name="Text 16"/>
          <p:cNvSpPr txBox="1"/>
          <p:nvPr/>
        </p:nvSpPr>
        <p:spPr>
          <a:xfrm>
            <a:off x="2456078" y="4360130"/>
            <a:ext cx="1691640" cy="292608"/>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Sắp họp</a:t>
            </a:r>
            <a:endParaRPr lang="en-US" sz="1400" dirty="0"/>
          </a:p>
        </p:txBody>
      </p:sp>
      <p:sp>
        <p:nvSpPr>
          <p:cNvPr id="21" name="Text 17"/>
          <p:cNvSpPr txBox="1"/>
          <p:nvPr/>
        </p:nvSpPr>
        <p:spPr>
          <a:xfrm>
            <a:off x="2456078" y="4680170"/>
            <a:ext cx="1691640" cy="548640"/>
          </a:xfrm>
          <a:prstGeom prst="rect">
            <a:avLst/>
          </a:prstGeom>
          <a:noFill/>
          <a:ln/>
        </p:spPr>
        <p:txBody>
          <a:bodyPr wrap="square" lIns="0" tIns="0" rIns="0" bIns="0" rtlCol="0" anchor="t"/>
          <a:lstStyle/>
          <a:p>
            <a:pPr indent="0" marL="0">
              <a:buNone/>
            </a:pPr>
            <a:r>
              <a:rPr lang="en-US" sz="1100" dirty="0">
                <a:solidFill>
                  <a:srgbClr val="667584"/>
                </a:solidFill>
                <a:latin typeface="Calibri" pitchFamily="34" charset="0"/>
                <a:ea typeface="Calibri" pitchFamily="34" charset="-122"/>
                <a:cs typeface="Calibri" pitchFamily="34" charset="-120"/>
              </a:rPr>
              <a:t>Nhắc trước 5 phút, mở nhanh slide</a:t>
            </a:r>
            <a:endParaRPr lang="en-US" sz="1100" dirty="0"/>
          </a:p>
        </p:txBody>
      </p:sp>
      <p:sp>
        <p:nvSpPr>
          <p:cNvPr id="22" name="Shape 18"/>
          <p:cNvSpPr/>
          <p:nvPr/>
        </p:nvSpPr>
        <p:spPr>
          <a:xfrm>
            <a:off x="4317797" y="1691640"/>
            <a:ext cx="822960" cy="292608"/>
          </a:xfrm>
          <a:prstGeom prst="roundRect">
            <a:avLst>
              <a:gd name="adj" fmla="val 50000"/>
            </a:avLst>
          </a:prstGeom>
          <a:solidFill>
            <a:srgbClr val="00884A"/>
          </a:solidFill>
          <a:ln/>
        </p:spPr>
      </p:sp>
      <p:sp>
        <p:nvSpPr>
          <p:cNvPr id="23" name="Text 19"/>
          <p:cNvSpPr txBox="1"/>
          <p:nvPr/>
        </p:nvSpPr>
        <p:spPr>
          <a:xfrm>
            <a:off x="4317797" y="1691640"/>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12:35</a:t>
            </a:r>
            <a:endParaRPr lang="en-US" sz="1200" dirty="0"/>
          </a:p>
        </p:txBody>
      </p:sp>
      <p:sp>
        <p:nvSpPr>
          <p:cNvPr id="24" name="Shape 20"/>
          <p:cNvSpPr/>
          <p:nvPr/>
        </p:nvSpPr>
        <p:spPr>
          <a:xfrm>
            <a:off x="4281221" y="2066544"/>
            <a:ext cx="1764792" cy="2193002"/>
          </a:xfrm>
          <a:prstGeom prst="roundRect">
            <a:avLst>
              <a:gd name="adj" fmla="val 4145"/>
            </a:avLst>
          </a:prstGeom>
          <a:solidFill>
            <a:srgbClr val="FFFFFF"/>
          </a:solidFill>
          <a:ln w="12700">
            <a:solidFill>
              <a:srgbClr val="D9DFE6"/>
            </a:solidFill>
            <a:prstDash val="solid"/>
          </a:ln>
        </p:spPr>
      </p:sp>
      <p:pic>
        <p:nvPicPr>
          <p:cNvPr id="25" name="Image 2" descr="img/f_dash.png">    </p:cNvPr>
          <p:cNvPicPr>
            <a:picLocks noChangeAspect="1"/>
          </p:cNvPicPr>
          <p:nvPr/>
        </p:nvPicPr>
        <p:blipFill>
          <a:blip r:embed="rId3"/>
          <a:stretch>
            <a:fillRect/>
          </a:stretch>
        </p:blipFill>
        <p:spPr>
          <a:xfrm>
            <a:off x="4317797" y="2103120"/>
            <a:ext cx="1691640" cy="2119850"/>
          </a:xfrm>
          <a:prstGeom prst="rect">
            <a:avLst/>
          </a:prstGeom>
        </p:spPr>
      </p:pic>
      <p:sp>
        <p:nvSpPr>
          <p:cNvPr id="26" name="Text 21"/>
          <p:cNvSpPr txBox="1"/>
          <p:nvPr/>
        </p:nvSpPr>
        <p:spPr>
          <a:xfrm>
            <a:off x="4317797" y="4360130"/>
            <a:ext cx="1691640" cy="292608"/>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Dashboard</a:t>
            </a:r>
            <a:endParaRPr lang="en-US" sz="1400" dirty="0"/>
          </a:p>
        </p:txBody>
      </p:sp>
      <p:sp>
        <p:nvSpPr>
          <p:cNvPr id="27" name="Text 22"/>
          <p:cNvSpPr txBox="1"/>
          <p:nvPr/>
        </p:nvSpPr>
        <p:spPr>
          <a:xfrm>
            <a:off x="4317797" y="4680170"/>
            <a:ext cx="1691640" cy="548640"/>
          </a:xfrm>
          <a:prstGeom prst="rect">
            <a:avLst/>
          </a:prstGeom>
          <a:noFill/>
          <a:ln/>
        </p:spPr>
        <p:txBody>
          <a:bodyPr wrap="square" lIns="0" tIns="0" rIns="0" bIns="0" rtlCol="0" anchor="t"/>
          <a:lstStyle/>
          <a:p>
            <a:pPr indent="0" marL="0">
              <a:buNone/>
            </a:pPr>
            <a:r>
              <a:rPr lang="en-US" sz="1100" dirty="0">
                <a:solidFill>
                  <a:srgbClr val="667584"/>
                </a:solidFill>
                <a:latin typeface="Calibri" pitchFamily="34" charset="0"/>
                <a:ea typeface="Calibri" pitchFamily="34" charset="-122"/>
                <a:cs typeface="Calibri" pitchFamily="34" charset="-120"/>
              </a:rPr>
              <a:t>Điểm mood và 4 quả: họp, email, sprint</a:t>
            </a:r>
            <a:endParaRPr lang="en-US" sz="1100" dirty="0"/>
          </a:p>
        </p:txBody>
      </p:sp>
      <p:sp>
        <p:nvSpPr>
          <p:cNvPr id="28" name="Shape 23"/>
          <p:cNvSpPr/>
          <p:nvPr/>
        </p:nvSpPr>
        <p:spPr>
          <a:xfrm>
            <a:off x="6179515" y="1691640"/>
            <a:ext cx="822960" cy="292608"/>
          </a:xfrm>
          <a:prstGeom prst="roundRect">
            <a:avLst>
              <a:gd name="adj" fmla="val 50000"/>
            </a:avLst>
          </a:prstGeom>
          <a:solidFill>
            <a:srgbClr val="E20015"/>
          </a:solidFill>
          <a:ln/>
        </p:spPr>
      </p:sp>
      <p:sp>
        <p:nvSpPr>
          <p:cNvPr id="29" name="Text 24"/>
          <p:cNvSpPr txBox="1"/>
          <p:nvPr/>
        </p:nvSpPr>
        <p:spPr>
          <a:xfrm>
            <a:off x="6179515" y="1691640"/>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12:41</a:t>
            </a:r>
            <a:endParaRPr lang="en-US" sz="1200" dirty="0"/>
          </a:p>
        </p:txBody>
      </p:sp>
      <p:sp>
        <p:nvSpPr>
          <p:cNvPr id="30" name="Shape 25"/>
          <p:cNvSpPr/>
          <p:nvPr/>
        </p:nvSpPr>
        <p:spPr>
          <a:xfrm>
            <a:off x="6142939" y="2066544"/>
            <a:ext cx="1764792" cy="2193002"/>
          </a:xfrm>
          <a:prstGeom prst="roundRect">
            <a:avLst>
              <a:gd name="adj" fmla="val 4145"/>
            </a:avLst>
          </a:prstGeom>
          <a:solidFill>
            <a:srgbClr val="FFFFFF"/>
          </a:solidFill>
          <a:ln w="12700">
            <a:solidFill>
              <a:srgbClr val="D9DFE6"/>
            </a:solidFill>
            <a:prstDash val="solid"/>
          </a:ln>
        </p:spPr>
      </p:sp>
      <p:pic>
        <p:nvPicPr>
          <p:cNvPr id="31" name="Image 3" descr="img/f_1241.png">    </p:cNvPr>
          <p:cNvPicPr>
            <a:picLocks noChangeAspect="1"/>
          </p:cNvPicPr>
          <p:nvPr/>
        </p:nvPicPr>
        <p:blipFill>
          <a:blip r:embed="rId4"/>
          <a:stretch>
            <a:fillRect/>
          </a:stretch>
        </p:blipFill>
        <p:spPr>
          <a:xfrm>
            <a:off x="6179515" y="2103120"/>
            <a:ext cx="1691640" cy="2119850"/>
          </a:xfrm>
          <a:prstGeom prst="rect">
            <a:avLst/>
          </a:prstGeom>
        </p:spPr>
      </p:pic>
      <p:sp>
        <p:nvSpPr>
          <p:cNvPr id="32" name="Text 26"/>
          <p:cNvSpPr txBox="1"/>
          <p:nvPr/>
        </p:nvSpPr>
        <p:spPr>
          <a:xfrm>
            <a:off x="6179515" y="4360130"/>
            <a:ext cx="1691640" cy="292608"/>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Nghỉ giữa họp</a:t>
            </a:r>
            <a:endParaRPr lang="en-US" sz="1400" dirty="0"/>
          </a:p>
        </p:txBody>
      </p:sp>
      <p:sp>
        <p:nvSpPr>
          <p:cNvPr id="33" name="Text 27"/>
          <p:cNvSpPr txBox="1"/>
          <p:nvPr/>
        </p:nvSpPr>
        <p:spPr>
          <a:xfrm>
            <a:off x="6179515" y="4680170"/>
            <a:ext cx="1691640" cy="548640"/>
          </a:xfrm>
          <a:prstGeom prst="rect">
            <a:avLst/>
          </a:prstGeom>
          <a:noFill/>
          <a:ln/>
        </p:spPr>
        <p:txBody>
          <a:bodyPr wrap="square" lIns="0" tIns="0" rIns="0" bIns="0" rtlCol="0" anchor="t"/>
          <a:lstStyle/>
          <a:p>
            <a:pPr indent="0" marL="0">
              <a:buNone/>
            </a:pPr>
            <a:r>
              <a:rPr lang="en-US" sz="1100" dirty="0">
                <a:solidFill>
                  <a:srgbClr val="667584"/>
                </a:solidFill>
                <a:latin typeface="Calibri" pitchFamily="34" charset="0"/>
                <a:ea typeface="Calibri" pitchFamily="34" charset="-122"/>
                <a:cs typeface="Calibri" pitchFamily="34" charset="-120"/>
              </a:rPr>
              <a:t>Họp liền 3h20 → nghỉ 15 phút</a:t>
            </a:r>
            <a:endParaRPr lang="en-US" sz="1100" dirty="0"/>
          </a:p>
        </p:txBody>
      </p:sp>
      <p:sp>
        <p:nvSpPr>
          <p:cNvPr id="34" name="Shape 28"/>
          <p:cNvSpPr/>
          <p:nvPr/>
        </p:nvSpPr>
        <p:spPr>
          <a:xfrm>
            <a:off x="8041234" y="1691640"/>
            <a:ext cx="822960" cy="292608"/>
          </a:xfrm>
          <a:prstGeom prst="roundRect">
            <a:avLst>
              <a:gd name="adj" fmla="val 50000"/>
            </a:avLst>
          </a:prstGeom>
          <a:solidFill>
            <a:srgbClr val="007BC0"/>
          </a:solidFill>
          <a:ln/>
        </p:spPr>
      </p:sp>
      <p:sp>
        <p:nvSpPr>
          <p:cNvPr id="35" name="Text 29"/>
          <p:cNvSpPr txBox="1"/>
          <p:nvPr/>
        </p:nvSpPr>
        <p:spPr>
          <a:xfrm>
            <a:off x="8041234" y="1691640"/>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12:42</a:t>
            </a:r>
            <a:endParaRPr lang="en-US" sz="1200" dirty="0"/>
          </a:p>
        </p:txBody>
      </p:sp>
      <p:sp>
        <p:nvSpPr>
          <p:cNvPr id="36" name="Shape 30"/>
          <p:cNvSpPr/>
          <p:nvPr/>
        </p:nvSpPr>
        <p:spPr>
          <a:xfrm>
            <a:off x="8004658" y="2066544"/>
            <a:ext cx="1764792" cy="2193002"/>
          </a:xfrm>
          <a:prstGeom prst="roundRect">
            <a:avLst>
              <a:gd name="adj" fmla="val 4145"/>
            </a:avLst>
          </a:prstGeom>
          <a:solidFill>
            <a:srgbClr val="FFFFFF"/>
          </a:solidFill>
          <a:ln w="12700">
            <a:solidFill>
              <a:srgbClr val="D9DFE6"/>
            </a:solidFill>
            <a:prstDash val="solid"/>
          </a:ln>
        </p:spPr>
      </p:sp>
      <p:pic>
        <p:nvPicPr>
          <p:cNvPr id="37" name="Image 4" descr="img/f_1242.png">    </p:cNvPr>
          <p:cNvPicPr>
            <a:picLocks noChangeAspect="1"/>
          </p:cNvPicPr>
          <p:nvPr/>
        </p:nvPicPr>
        <p:blipFill>
          <a:blip r:embed="rId5"/>
          <a:stretch>
            <a:fillRect/>
          </a:stretch>
        </p:blipFill>
        <p:spPr>
          <a:xfrm>
            <a:off x="8041234" y="2103120"/>
            <a:ext cx="1691640" cy="2119850"/>
          </a:xfrm>
          <a:prstGeom prst="rect">
            <a:avLst/>
          </a:prstGeom>
        </p:spPr>
      </p:pic>
      <p:sp>
        <p:nvSpPr>
          <p:cNvPr id="38" name="Text 31"/>
          <p:cNvSpPr txBox="1"/>
          <p:nvPr/>
        </p:nvSpPr>
        <p:spPr>
          <a:xfrm>
            <a:off x="8041234" y="4360130"/>
            <a:ext cx="1691640" cy="292608"/>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Thở cùng Milo</a:t>
            </a:r>
            <a:endParaRPr lang="en-US" sz="1400" dirty="0"/>
          </a:p>
        </p:txBody>
      </p:sp>
      <p:sp>
        <p:nvSpPr>
          <p:cNvPr id="39" name="Text 32"/>
          <p:cNvSpPr txBox="1"/>
          <p:nvPr/>
        </p:nvSpPr>
        <p:spPr>
          <a:xfrm>
            <a:off x="8041234" y="4680170"/>
            <a:ext cx="1691640" cy="548640"/>
          </a:xfrm>
          <a:prstGeom prst="rect">
            <a:avLst/>
          </a:prstGeom>
          <a:noFill/>
          <a:ln/>
        </p:spPr>
        <p:txBody>
          <a:bodyPr wrap="square" lIns="0" tIns="0" rIns="0" bIns="0" rtlCol="0" anchor="t"/>
          <a:lstStyle/>
          <a:p>
            <a:pPr indent="0" marL="0">
              <a:buNone/>
            </a:pPr>
            <a:r>
              <a:rPr lang="en-US" sz="1100" dirty="0">
                <a:solidFill>
                  <a:srgbClr val="667584"/>
                </a:solidFill>
                <a:latin typeface="Calibri" pitchFamily="34" charset="0"/>
                <a:ea typeface="Calibri" pitchFamily="34" charset="-122"/>
                <a:cs typeface="Calibri" pitchFamily="34" charset="-120"/>
              </a:rPr>
              <a:t>Bài thở 4-4-4 ngay trên màn hình</a:t>
            </a:r>
            <a:endParaRPr lang="en-US" sz="1100" dirty="0"/>
          </a:p>
        </p:txBody>
      </p:sp>
      <p:sp>
        <p:nvSpPr>
          <p:cNvPr id="40" name="Shape 33"/>
          <p:cNvSpPr/>
          <p:nvPr/>
        </p:nvSpPr>
        <p:spPr>
          <a:xfrm>
            <a:off x="9902952" y="1691640"/>
            <a:ext cx="822960" cy="292608"/>
          </a:xfrm>
          <a:prstGeom prst="roundRect">
            <a:avLst>
              <a:gd name="adj" fmla="val 50000"/>
            </a:avLst>
          </a:prstGeom>
          <a:solidFill>
            <a:srgbClr val="00884A"/>
          </a:solidFill>
          <a:ln/>
        </p:spPr>
      </p:sp>
      <p:sp>
        <p:nvSpPr>
          <p:cNvPr id="41" name="Text 34"/>
          <p:cNvSpPr txBox="1"/>
          <p:nvPr/>
        </p:nvSpPr>
        <p:spPr>
          <a:xfrm>
            <a:off x="9902952" y="1691640"/>
            <a:ext cx="8229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18:00</a:t>
            </a:r>
            <a:endParaRPr lang="en-US" sz="1200" dirty="0"/>
          </a:p>
        </p:txBody>
      </p:sp>
      <p:sp>
        <p:nvSpPr>
          <p:cNvPr id="42" name="Shape 35"/>
          <p:cNvSpPr/>
          <p:nvPr/>
        </p:nvSpPr>
        <p:spPr>
          <a:xfrm>
            <a:off x="9866376" y="2066544"/>
            <a:ext cx="1764792" cy="2193002"/>
          </a:xfrm>
          <a:prstGeom prst="roundRect">
            <a:avLst>
              <a:gd name="adj" fmla="val 4145"/>
            </a:avLst>
          </a:prstGeom>
          <a:solidFill>
            <a:srgbClr val="FFFFFF"/>
          </a:solidFill>
          <a:ln w="12700">
            <a:solidFill>
              <a:srgbClr val="D9DFE6"/>
            </a:solidFill>
            <a:prstDash val="solid"/>
          </a:ln>
        </p:spPr>
      </p:sp>
      <p:pic>
        <p:nvPicPr>
          <p:cNvPr id="43" name="Image 5" descr="img/f_1800.png">    </p:cNvPr>
          <p:cNvPicPr>
            <a:picLocks noChangeAspect="1"/>
          </p:cNvPicPr>
          <p:nvPr/>
        </p:nvPicPr>
        <p:blipFill>
          <a:blip r:embed="rId6"/>
          <a:stretch>
            <a:fillRect/>
          </a:stretch>
        </p:blipFill>
        <p:spPr>
          <a:xfrm>
            <a:off x="9902952" y="2103120"/>
            <a:ext cx="1691640" cy="2119850"/>
          </a:xfrm>
          <a:prstGeom prst="rect">
            <a:avLst/>
          </a:prstGeom>
        </p:spPr>
      </p:pic>
      <p:sp>
        <p:nvSpPr>
          <p:cNvPr id="44" name="Text 36"/>
          <p:cNvSpPr txBox="1"/>
          <p:nvPr/>
        </p:nvSpPr>
        <p:spPr>
          <a:xfrm>
            <a:off x="9902952" y="4360130"/>
            <a:ext cx="1691640" cy="292608"/>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Tan tầm</a:t>
            </a:r>
            <a:endParaRPr lang="en-US" sz="1400" dirty="0"/>
          </a:p>
        </p:txBody>
      </p:sp>
      <p:sp>
        <p:nvSpPr>
          <p:cNvPr id="45" name="Text 37"/>
          <p:cNvSpPr txBox="1"/>
          <p:nvPr/>
        </p:nvSpPr>
        <p:spPr>
          <a:xfrm>
            <a:off x="9902952" y="4680170"/>
            <a:ext cx="1691640" cy="548640"/>
          </a:xfrm>
          <a:prstGeom prst="rect">
            <a:avLst/>
          </a:prstGeom>
          <a:noFill/>
          <a:ln/>
        </p:spPr>
        <p:txBody>
          <a:bodyPr wrap="square" lIns="0" tIns="0" rIns="0" bIns="0" rtlCol="0" anchor="t"/>
          <a:lstStyle/>
          <a:p>
            <a:pPr indent="0" marL="0">
              <a:buNone/>
            </a:pPr>
            <a:r>
              <a:rPr lang="en-US" sz="1100" dirty="0">
                <a:solidFill>
                  <a:srgbClr val="667584"/>
                </a:solidFill>
                <a:latin typeface="Calibri" pitchFamily="34" charset="0"/>
                <a:ea typeface="Calibri" pitchFamily="34" charset="-122"/>
                <a:cs typeface="Calibri" pitchFamily="34" charset="-120"/>
              </a:rPr>
              <a:t>Tổng kết ngày, “Về thôi”</a:t>
            </a:r>
            <a:endParaRPr lang="en-US" sz="1100" dirty="0"/>
          </a:p>
        </p:txBody>
      </p:sp>
      <p:sp>
        <p:nvSpPr>
          <p:cNvPr id="46" name="Shape 38"/>
          <p:cNvSpPr/>
          <p:nvPr/>
        </p:nvSpPr>
        <p:spPr>
          <a:xfrm>
            <a:off x="594360" y="5532120"/>
            <a:ext cx="2770632" cy="566928"/>
          </a:xfrm>
          <a:prstGeom prst="chevron">
            <a:avLst/>
          </a:prstGeom>
          <a:solidFill>
            <a:srgbClr val="007BC0"/>
          </a:solidFill>
          <a:ln w="25400">
            <a:solidFill>
              <a:srgbClr val="FFFFFF"/>
            </a:solidFill>
            <a:prstDash val="solid"/>
          </a:ln>
        </p:spPr>
      </p:sp>
      <p:sp>
        <p:nvSpPr>
          <p:cNvPr id="47" name="Text 39"/>
          <p:cNvSpPr txBox="1"/>
          <p:nvPr/>
        </p:nvSpPr>
        <p:spPr>
          <a:xfrm>
            <a:off x="914400" y="5532120"/>
            <a:ext cx="219456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Milo ló ra đúng lúc</a:t>
            </a:r>
            <a:endParaRPr lang="en-US" sz="1350" dirty="0"/>
          </a:p>
        </p:txBody>
      </p:sp>
      <p:sp>
        <p:nvSpPr>
          <p:cNvPr id="48" name="Shape 40"/>
          <p:cNvSpPr/>
          <p:nvPr/>
        </p:nvSpPr>
        <p:spPr>
          <a:xfrm>
            <a:off x="3337560" y="5532120"/>
            <a:ext cx="2770632" cy="566928"/>
          </a:xfrm>
          <a:prstGeom prst="chevron">
            <a:avLst/>
          </a:prstGeom>
          <a:solidFill>
            <a:srgbClr val="007BC0"/>
          </a:solidFill>
          <a:ln w="25400">
            <a:solidFill>
              <a:srgbClr val="FFFFFF"/>
            </a:solidFill>
            <a:prstDash val="solid"/>
          </a:ln>
        </p:spPr>
      </p:sp>
      <p:sp>
        <p:nvSpPr>
          <p:cNvPr id="49" name="Text 41"/>
          <p:cNvSpPr txBox="1"/>
          <p:nvPr/>
        </p:nvSpPr>
        <p:spPr>
          <a:xfrm>
            <a:off x="3657600" y="5532120"/>
            <a:ext cx="219456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Nói một câu</a:t>
            </a:r>
            <a:endParaRPr lang="en-US" sz="1350" dirty="0"/>
          </a:p>
        </p:txBody>
      </p:sp>
      <p:sp>
        <p:nvSpPr>
          <p:cNvPr id="50" name="Shape 42"/>
          <p:cNvSpPr/>
          <p:nvPr/>
        </p:nvSpPr>
        <p:spPr>
          <a:xfrm>
            <a:off x="6080760" y="5532120"/>
            <a:ext cx="2770632" cy="566928"/>
          </a:xfrm>
          <a:prstGeom prst="chevron">
            <a:avLst/>
          </a:prstGeom>
          <a:solidFill>
            <a:srgbClr val="007BC0"/>
          </a:solidFill>
          <a:ln w="25400">
            <a:solidFill>
              <a:srgbClr val="FFFFFF"/>
            </a:solidFill>
            <a:prstDash val="solid"/>
          </a:ln>
        </p:spPr>
      </p:sp>
      <p:sp>
        <p:nvSpPr>
          <p:cNvPr id="51" name="Text 43"/>
          <p:cNvSpPr txBox="1"/>
          <p:nvPr/>
        </p:nvSpPr>
        <p:spPr>
          <a:xfrm>
            <a:off x="6400800" y="5532120"/>
            <a:ext cx="219456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Bạn chọn một chạm</a:t>
            </a:r>
            <a:endParaRPr lang="en-US" sz="1350" dirty="0"/>
          </a:p>
        </p:txBody>
      </p:sp>
      <p:sp>
        <p:nvSpPr>
          <p:cNvPr id="52" name="Shape 44"/>
          <p:cNvSpPr/>
          <p:nvPr/>
        </p:nvSpPr>
        <p:spPr>
          <a:xfrm>
            <a:off x="8823960" y="5532120"/>
            <a:ext cx="2770632" cy="566928"/>
          </a:xfrm>
          <a:prstGeom prst="chevron">
            <a:avLst/>
          </a:prstGeom>
          <a:solidFill>
            <a:srgbClr val="00884A"/>
          </a:solidFill>
          <a:ln w="25400">
            <a:solidFill>
              <a:srgbClr val="FFFFFF"/>
            </a:solidFill>
            <a:prstDash val="solid"/>
          </a:ln>
        </p:spPr>
      </p:sp>
      <p:sp>
        <p:nvSpPr>
          <p:cNvPr id="53" name="Text 45"/>
          <p:cNvSpPr txBox="1"/>
          <p:nvPr/>
        </p:nvSpPr>
        <p:spPr>
          <a:xfrm>
            <a:off x="9144000" y="5532120"/>
            <a:ext cx="2194560"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Milo tự rút lui</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884A"/>
                </a:solidFill>
                <a:latin typeface="Calibri" pitchFamily="34" charset="0"/>
                <a:ea typeface="Calibri" pitchFamily="34" charset="-122"/>
                <a:cs typeface="Calibri" pitchFamily="34" charset="-120"/>
              </a:rPr>
              <a:t>05 · ĐỘI AGENTS</a:t>
            </a:r>
            <a:endParaRPr lang="en-US" sz="1200" dirty="0"/>
          </a:p>
        </p:txBody>
      </p:sp>
      <p:sp>
        <p:nvSpPr>
          <p:cNvPr id="3" name="Text 1"/>
          <p:cNvSpPr txBox="1"/>
          <p:nvPr/>
        </p:nvSpPr>
        <p:spPr>
          <a:xfrm>
            <a:off x="594360" y="713232"/>
            <a:ext cx="10881360" cy="54864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Thư điều phối, đội agents cùng xây sản phẩm</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11</a:t>
            </a:r>
            <a:endParaRPr lang="en-US" sz="950" dirty="0"/>
          </a:p>
        </p:txBody>
      </p:sp>
      <p:sp>
        <p:nvSpPr>
          <p:cNvPr id="9" name="Shape 7"/>
          <p:cNvSpPr/>
          <p:nvPr/>
        </p:nvSpPr>
        <p:spPr>
          <a:xfrm>
            <a:off x="594360" y="1508760"/>
            <a:ext cx="2926080" cy="3886200"/>
          </a:xfrm>
          <a:prstGeom prst="roundRect">
            <a:avLst>
              <a:gd name="adj" fmla="val 3125"/>
            </a:avLst>
          </a:prstGeom>
          <a:solidFill>
            <a:srgbClr val="FFFFFF"/>
          </a:solidFill>
          <a:ln w="12700">
            <a:solidFill>
              <a:srgbClr val="D9DFE6"/>
            </a:solidFill>
            <a:prstDash val="solid"/>
          </a:ln>
        </p:spPr>
      </p:sp>
      <p:sp>
        <p:nvSpPr>
          <p:cNvPr id="10" name="Shape 8"/>
          <p:cNvSpPr/>
          <p:nvPr/>
        </p:nvSpPr>
        <p:spPr>
          <a:xfrm>
            <a:off x="603504" y="1517904"/>
            <a:ext cx="2907792" cy="548640"/>
          </a:xfrm>
          <a:prstGeom prst="rect">
            <a:avLst/>
          </a:prstGeom>
          <a:solidFill>
            <a:srgbClr val="007BC0"/>
          </a:solidFill>
          <a:ln/>
        </p:spPr>
      </p:sp>
      <p:sp>
        <p:nvSpPr>
          <p:cNvPr id="11" name="Text 9"/>
          <p:cNvSpPr txBox="1"/>
          <p:nvPr/>
        </p:nvSpPr>
        <p:spPr>
          <a:xfrm>
            <a:off x="822960" y="1517904"/>
            <a:ext cx="246888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 · Phân tích → Plan</a:t>
            </a:r>
            <a:endParaRPr lang="en-US" sz="1600" dirty="0"/>
          </a:p>
        </p:txBody>
      </p:sp>
      <p:sp>
        <p:nvSpPr>
          <p:cNvPr id="12" name="Shape 10"/>
          <p:cNvSpPr/>
          <p:nvPr/>
        </p:nvSpPr>
        <p:spPr>
          <a:xfrm>
            <a:off x="3584448" y="3200400"/>
            <a:ext cx="146304" cy="365760"/>
          </a:xfrm>
          <a:prstGeom prst="chevron">
            <a:avLst/>
          </a:prstGeom>
          <a:solidFill>
            <a:srgbClr val="667584"/>
          </a:solidFill>
          <a:ln/>
        </p:spPr>
      </p:sp>
      <p:sp>
        <p:nvSpPr>
          <p:cNvPr id="13" name="Shape 11"/>
          <p:cNvSpPr/>
          <p:nvPr/>
        </p:nvSpPr>
        <p:spPr>
          <a:xfrm>
            <a:off x="3794760" y="1508760"/>
            <a:ext cx="4572000" cy="3886200"/>
          </a:xfrm>
          <a:prstGeom prst="roundRect">
            <a:avLst>
              <a:gd name="adj" fmla="val 2353"/>
            </a:avLst>
          </a:prstGeom>
          <a:solidFill>
            <a:srgbClr val="FFFFFF"/>
          </a:solidFill>
          <a:ln w="12700">
            <a:solidFill>
              <a:srgbClr val="D9DFE6"/>
            </a:solidFill>
            <a:prstDash val="solid"/>
          </a:ln>
        </p:spPr>
      </p:sp>
      <p:sp>
        <p:nvSpPr>
          <p:cNvPr id="14" name="Shape 12"/>
          <p:cNvSpPr/>
          <p:nvPr/>
        </p:nvSpPr>
        <p:spPr>
          <a:xfrm>
            <a:off x="3803904" y="1517904"/>
            <a:ext cx="4553712" cy="548640"/>
          </a:xfrm>
          <a:prstGeom prst="rect">
            <a:avLst/>
          </a:prstGeom>
          <a:solidFill>
            <a:srgbClr val="00884A"/>
          </a:solidFill>
          <a:ln/>
        </p:spPr>
      </p:sp>
      <p:sp>
        <p:nvSpPr>
          <p:cNvPr id="15" name="Text 13"/>
          <p:cNvSpPr txBox="1"/>
          <p:nvPr/>
        </p:nvSpPr>
        <p:spPr>
          <a:xfrm>
            <a:off x="4023360" y="1517904"/>
            <a:ext cx="411480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 · Code song song</a:t>
            </a:r>
            <a:endParaRPr lang="en-US" sz="1600" dirty="0"/>
          </a:p>
        </p:txBody>
      </p:sp>
      <p:sp>
        <p:nvSpPr>
          <p:cNvPr id="16" name="Shape 14"/>
          <p:cNvSpPr/>
          <p:nvPr/>
        </p:nvSpPr>
        <p:spPr>
          <a:xfrm>
            <a:off x="8430768" y="3200400"/>
            <a:ext cx="146304" cy="365760"/>
          </a:xfrm>
          <a:prstGeom prst="chevron">
            <a:avLst/>
          </a:prstGeom>
          <a:solidFill>
            <a:srgbClr val="667584"/>
          </a:solidFill>
          <a:ln/>
        </p:spPr>
      </p:sp>
      <p:sp>
        <p:nvSpPr>
          <p:cNvPr id="17" name="Shape 15"/>
          <p:cNvSpPr/>
          <p:nvPr/>
        </p:nvSpPr>
        <p:spPr>
          <a:xfrm>
            <a:off x="8641080" y="1508760"/>
            <a:ext cx="2953512" cy="3886200"/>
          </a:xfrm>
          <a:prstGeom prst="roundRect">
            <a:avLst>
              <a:gd name="adj" fmla="val 3096"/>
            </a:avLst>
          </a:prstGeom>
          <a:solidFill>
            <a:srgbClr val="FFFFFF"/>
          </a:solidFill>
          <a:ln w="12700">
            <a:solidFill>
              <a:srgbClr val="D9DFE6"/>
            </a:solidFill>
            <a:prstDash val="solid"/>
          </a:ln>
        </p:spPr>
      </p:sp>
      <p:sp>
        <p:nvSpPr>
          <p:cNvPr id="18" name="Shape 16"/>
          <p:cNvSpPr/>
          <p:nvPr/>
        </p:nvSpPr>
        <p:spPr>
          <a:xfrm>
            <a:off x="8650224" y="1517904"/>
            <a:ext cx="2935224" cy="548640"/>
          </a:xfrm>
          <a:prstGeom prst="rect">
            <a:avLst/>
          </a:prstGeom>
          <a:solidFill>
            <a:srgbClr val="E20015"/>
          </a:solidFill>
          <a:ln/>
        </p:spPr>
      </p:sp>
      <p:sp>
        <p:nvSpPr>
          <p:cNvPr id="19" name="Text 17"/>
          <p:cNvSpPr txBox="1"/>
          <p:nvPr/>
        </p:nvSpPr>
        <p:spPr>
          <a:xfrm>
            <a:off x="8869680" y="1517904"/>
            <a:ext cx="2496312"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3 · Test &amp; kiểm chứng</a:t>
            </a:r>
            <a:endParaRPr lang="en-US" sz="1600" dirty="0"/>
          </a:p>
        </p:txBody>
      </p:sp>
      <p:sp>
        <p:nvSpPr>
          <p:cNvPr id="20" name="Text 18"/>
          <p:cNvSpPr txBox="1"/>
          <p:nvPr/>
        </p:nvSpPr>
        <p:spPr>
          <a:xfrm>
            <a:off x="822960" y="2286000"/>
            <a:ext cx="2514600" cy="3017520"/>
          </a:xfrm>
          <a:prstGeom prst="rect">
            <a:avLst/>
          </a:prstGeom>
          <a:noFill/>
          <a:ln/>
        </p:spPr>
        <p:txBody>
          <a:bodyPr wrap="square" lIns="0" tIns="0" rIns="0" bIns="0" rtlCol="0" anchor="t"/>
          <a:lstStyle/>
          <a:p>
            <a:pPr marL="165100" indent="-165100">
              <a:spcAft>
                <a:spcPts val="800"/>
              </a:spcAft>
              <a:buSzPct val="100000"/>
              <a:buChar char="•"/>
            </a:pPr>
            <a:r>
              <a:rPr lang="en-US" sz="1350" dirty="0">
                <a:solidFill>
                  <a:srgbClr val="3D4B59"/>
                </a:solidFill>
                <a:latin typeface="Calibri" pitchFamily="34" charset="0"/>
                <a:ea typeface="Calibri" pitchFamily="34" charset="-122"/>
                <a:cs typeface="Calibri" pitchFamily="34" charset="-120"/>
              </a:rPr>
              <a:t>Đầu vào: đề bài, prototype HTML của Milo, tài liệu Kịch bản hành vi</a:t>
            </a:r>
            <a:endParaRPr lang="en-US" sz="1350" dirty="0"/>
          </a:p>
          <a:p>
            <a:pPr marL="165100" indent="-165100">
              <a:spcAft>
                <a:spcPts val="800"/>
              </a:spcAft>
              <a:buSzPct val="100000"/>
              <a:buChar char="•"/>
            </a:pPr>
            <a:r>
              <a:rPr lang="en-US" sz="1350" dirty="0">
                <a:solidFill>
                  <a:srgbClr val="3D4B59"/>
                </a:solidFill>
                <a:latin typeface="Calibri" pitchFamily="34" charset="0"/>
                <a:ea typeface="Calibri" pitchFamily="34" charset="-122"/>
                <a:cs typeface="Calibri" pitchFamily="34" charset="-120"/>
              </a:rPr>
              <a:t>Agent phân tích tách 16 case, chốt nền tảng (Electron → WPF / .NET 8)</a:t>
            </a:r>
            <a:endParaRPr lang="en-US" sz="1350" dirty="0"/>
          </a:p>
          <a:p>
            <a:pPr marL="165100" indent="-165100">
              <a:spcAft>
                <a:spcPts val="800"/>
              </a:spcAft>
              <a:buSzPct val="100000"/>
              <a:buChar char="•"/>
            </a:pPr>
            <a:r>
              <a:rPr lang="en-US" sz="1350" dirty="0">
                <a:solidFill>
                  <a:srgbClr val="3D4B59"/>
                </a:solidFill>
                <a:latin typeface="Calibri" pitchFamily="34" charset="0"/>
                <a:ea typeface="Calibri" pitchFamily="34" charset="-122"/>
                <a:cs typeface="Calibri" pitchFamily="34" charset="-120"/>
              </a:rPr>
              <a:t>Ra plan: kiến trúc 3 project, làm Rule Engine trước – LLM sau, hợp đồng dữ liệu giữa các lớp</a:t>
            </a:r>
            <a:endParaRPr lang="en-US" sz="1350" dirty="0"/>
          </a:p>
        </p:txBody>
      </p:sp>
      <p:sp>
        <p:nvSpPr>
          <p:cNvPr id="21" name="Shape 19"/>
          <p:cNvSpPr/>
          <p:nvPr/>
        </p:nvSpPr>
        <p:spPr>
          <a:xfrm>
            <a:off x="4023360" y="2240280"/>
            <a:ext cx="4114800" cy="749808"/>
          </a:xfrm>
          <a:prstGeom prst="roundRect">
            <a:avLst>
              <a:gd name="adj" fmla="val 9756"/>
            </a:avLst>
          </a:prstGeom>
          <a:solidFill>
            <a:srgbClr val="F3F5F8"/>
          </a:solidFill>
          <a:ln/>
        </p:spPr>
      </p:sp>
      <p:sp>
        <p:nvSpPr>
          <p:cNvPr id="22" name="Shape 20"/>
          <p:cNvSpPr/>
          <p:nvPr/>
        </p:nvSpPr>
        <p:spPr>
          <a:xfrm>
            <a:off x="4023360" y="2313432"/>
            <a:ext cx="146304" cy="603504"/>
          </a:xfrm>
          <a:prstGeom prst="rect">
            <a:avLst/>
          </a:prstGeom>
          <a:solidFill>
            <a:srgbClr val="007BC0"/>
          </a:solidFill>
          <a:ln/>
        </p:spPr>
      </p:sp>
      <p:sp>
        <p:nvSpPr>
          <p:cNvPr id="23" name="Text 21"/>
          <p:cNvSpPr txBox="1"/>
          <p:nvPr/>
        </p:nvSpPr>
        <p:spPr>
          <a:xfrm>
            <a:off x="4297680" y="2304288"/>
            <a:ext cx="3749040" cy="274320"/>
          </a:xfrm>
          <a:prstGeom prst="rect">
            <a:avLst/>
          </a:prstGeom>
          <a:noFill/>
          <a:ln/>
        </p:spPr>
        <p:txBody>
          <a:bodyPr wrap="square" lIns="0" tIns="0" rIns="0" bIns="0" rtlCol="0" anchor="t"/>
          <a:lstStyle/>
          <a:p>
            <a:pPr indent="0" marL="0">
              <a:buNone/>
            </a:pPr>
            <a:r>
              <a:rPr lang="en-US" sz="1350" b="1" dirty="0">
                <a:solidFill>
                  <a:srgbClr val="007BC0"/>
                </a:solidFill>
                <a:latin typeface="Calibri" pitchFamily="34" charset="0"/>
                <a:ea typeface="Calibri" pitchFamily="34" charset="-122"/>
                <a:cs typeface="Calibri" pitchFamily="34" charset="-120"/>
              </a:rPr>
              <a:t>Agent Core</a:t>
            </a:r>
            <a:endParaRPr lang="en-US" sz="1350" dirty="0"/>
          </a:p>
        </p:txBody>
      </p:sp>
      <p:sp>
        <p:nvSpPr>
          <p:cNvPr id="24" name="Text 22"/>
          <p:cNvSpPr txBox="1"/>
          <p:nvPr/>
        </p:nvSpPr>
        <p:spPr>
          <a:xfrm>
            <a:off x="4297680" y="2587752"/>
            <a:ext cx="3749040" cy="384048"/>
          </a:xfrm>
          <a:prstGeom prst="rect">
            <a:avLst/>
          </a:prstGeom>
          <a:noFill/>
          <a:ln/>
        </p:spPr>
        <p:txBody>
          <a:bodyPr wrap="square" lIns="0" tIns="0" rIns="0" bIns="0" rtlCol="0" anchor="t"/>
          <a:lstStyle/>
          <a:p>
            <a:pPr indent="0" marL="0">
              <a:buNone/>
            </a:pPr>
            <a:r>
              <a:rPr lang="en-US" sz="1150" dirty="0">
                <a:solidFill>
                  <a:srgbClr val="3D4B59"/>
                </a:solidFill>
                <a:latin typeface="Calibri" pitchFamily="34" charset="0"/>
                <a:ea typeface="Calibri" pitchFamily="34" charset="-122"/>
                <a:cs typeface="Calibri" pitchFamily="34" charset="-120"/>
              </a:rPr>
              <a:t>Rule Engine, Điều phối, Mood Engine, DemoScenario + 160 test</a:t>
            </a:r>
            <a:endParaRPr lang="en-US" sz="1150" dirty="0"/>
          </a:p>
        </p:txBody>
      </p:sp>
      <p:sp>
        <p:nvSpPr>
          <p:cNvPr id="25" name="Shape 23"/>
          <p:cNvSpPr/>
          <p:nvPr/>
        </p:nvSpPr>
        <p:spPr>
          <a:xfrm>
            <a:off x="4023360" y="3108960"/>
            <a:ext cx="4114800" cy="749808"/>
          </a:xfrm>
          <a:prstGeom prst="roundRect">
            <a:avLst>
              <a:gd name="adj" fmla="val 9756"/>
            </a:avLst>
          </a:prstGeom>
          <a:solidFill>
            <a:srgbClr val="F3F5F8"/>
          </a:solidFill>
          <a:ln/>
        </p:spPr>
      </p:sp>
      <p:sp>
        <p:nvSpPr>
          <p:cNvPr id="26" name="Shape 24"/>
          <p:cNvSpPr/>
          <p:nvPr/>
        </p:nvSpPr>
        <p:spPr>
          <a:xfrm>
            <a:off x="4023360" y="3182112"/>
            <a:ext cx="146304" cy="603504"/>
          </a:xfrm>
          <a:prstGeom prst="rect">
            <a:avLst/>
          </a:prstGeom>
          <a:solidFill>
            <a:srgbClr val="00884A"/>
          </a:solidFill>
          <a:ln/>
        </p:spPr>
      </p:sp>
      <p:sp>
        <p:nvSpPr>
          <p:cNvPr id="27" name="Text 25"/>
          <p:cNvSpPr txBox="1"/>
          <p:nvPr/>
        </p:nvSpPr>
        <p:spPr>
          <a:xfrm>
            <a:off x="4297680" y="3172968"/>
            <a:ext cx="3749040" cy="274320"/>
          </a:xfrm>
          <a:prstGeom prst="rect">
            <a:avLst/>
          </a:prstGeom>
          <a:noFill/>
          <a:ln/>
        </p:spPr>
        <p:txBody>
          <a:bodyPr wrap="square" lIns="0" tIns="0" rIns="0" bIns="0" rtlCol="0" anchor="t"/>
          <a:lstStyle/>
          <a:p>
            <a:pPr indent="0" marL="0">
              <a:buNone/>
            </a:pPr>
            <a:r>
              <a:rPr lang="en-US" sz="1350" b="1" dirty="0">
                <a:solidFill>
                  <a:srgbClr val="00884A"/>
                </a:solidFill>
                <a:latin typeface="Calibri" pitchFamily="34" charset="0"/>
                <a:ea typeface="Calibri" pitchFamily="34" charset="-122"/>
                <a:cs typeface="Calibri" pitchFamily="34" charset="-120"/>
              </a:rPr>
              <a:t>Agent Integrations</a:t>
            </a:r>
            <a:endParaRPr lang="en-US" sz="1350" dirty="0"/>
          </a:p>
        </p:txBody>
      </p:sp>
      <p:sp>
        <p:nvSpPr>
          <p:cNvPr id="28" name="Text 26"/>
          <p:cNvSpPr txBox="1"/>
          <p:nvPr/>
        </p:nvSpPr>
        <p:spPr>
          <a:xfrm>
            <a:off x="4297680" y="3456432"/>
            <a:ext cx="3749040" cy="384048"/>
          </a:xfrm>
          <a:prstGeom prst="rect">
            <a:avLst/>
          </a:prstGeom>
          <a:noFill/>
          <a:ln/>
        </p:spPr>
        <p:txBody>
          <a:bodyPr wrap="square" lIns="0" tIns="0" rIns="0" bIns="0" rtlCol="0" anchor="t"/>
          <a:lstStyle/>
          <a:p>
            <a:pPr indent="0" marL="0">
              <a:buNone/>
            </a:pPr>
            <a:r>
              <a:rPr lang="en-US" sz="1150" dirty="0">
                <a:solidFill>
                  <a:srgbClr val="3D4B59"/>
                </a:solidFill>
                <a:latin typeface="Calibri" pitchFamily="34" charset="0"/>
                <a:ea typeface="Calibri" pitchFamily="34" charset="-122"/>
                <a:cs typeface="Calibri" pitchFamily="34" charset="-120"/>
              </a:rPr>
              <a:t>Graph, Azure Boards, Claude, SQLite, đăng nhập Entra ID</a:t>
            </a:r>
            <a:endParaRPr lang="en-US" sz="1150" dirty="0"/>
          </a:p>
        </p:txBody>
      </p:sp>
      <p:sp>
        <p:nvSpPr>
          <p:cNvPr id="29" name="Shape 27"/>
          <p:cNvSpPr/>
          <p:nvPr/>
        </p:nvSpPr>
        <p:spPr>
          <a:xfrm>
            <a:off x="4023360" y="3977640"/>
            <a:ext cx="4114800" cy="749808"/>
          </a:xfrm>
          <a:prstGeom prst="roundRect">
            <a:avLst>
              <a:gd name="adj" fmla="val 9756"/>
            </a:avLst>
          </a:prstGeom>
          <a:solidFill>
            <a:srgbClr val="F3F5F8"/>
          </a:solidFill>
          <a:ln/>
        </p:spPr>
      </p:sp>
      <p:sp>
        <p:nvSpPr>
          <p:cNvPr id="30" name="Shape 28"/>
          <p:cNvSpPr/>
          <p:nvPr/>
        </p:nvSpPr>
        <p:spPr>
          <a:xfrm>
            <a:off x="4023360" y="4050792"/>
            <a:ext cx="146304" cy="603504"/>
          </a:xfrm>
          <a:prstGeom prst="rect">
            <a:avLst/>
          </a:prstGeom>
          <a:solidFill>
            <a:srgbClr val="E20015"/>
          </a:solidFill>
          <a:ln/>
        </p:spPr>
      </p:sp>
      <p:sp>
        <p:nvSpPr>
          <p:cNvPr id="31" name="Text 29"/>
          <p:cNvSpPr txBox="1"/>
          <p:nvPr/>
        </p:nvSpPr>
        <p:spPr>
          <a:xfrm>
            <a:off x="4297680" y="4041648"/>
            <a:ext cx="3749040" cy="274320"/>
          </a:xfrm>
          <a:prstGeom prst="rect">
            <a:avLst/>
          </a:prstGeom>
          <a:noFill/>
          <a:ln/>
        </p:spPr>
        <p:txBody>
          <a:bodyPr wrap="square" lIns="0" tIns="0" rIns="0" bIns="0" rtlCol="0" anchor="t"/>
          <a:lstStyle/>
          <a:p>
            <a:pPr indent="0" marL="0">
              <a:buNone/>
            </a:pPr>
            <a:r>
              <a:rPr lang="en-US" sz="1350" b="1" dirty="0">
                <a:solidFill>
                  <a:srgbClr val="E20015"/>
                </a:solidFill>
                <a:latin typeface="Calibri" pitchFamily="34" charset="0"/>
                <a:ea typeface="Calibri" pitchFamily="34" charset="-122"/>
                <a:cs typeface="Calibri" pitchFamily="34" charset="-120"/>
              </a:rPr>
              <a:t>Agent App</a:t>
            </a:r>
            <a:endParaRPr lang="en-US" sz="1350" dirty="0"/>
          </a:p>
        </p:txBody>
      </p:sp>
      <p:sp>
        <p:nvSpPr>
          <p:cNvPr id="32" name="Text 30"/>
          <p:cNvSpPr txBox="1"/>
          <p:nvPr/>
        </p:nvSpPr>
        <p:spPr>
          <a:xfrm>
            <a:off x="4297680" y="4325112"/>
            <a:ext cx="3749040" cy="384048"/>
          </a:xfrm>
          <a:prstGeom prst="rect">
            <a:avLst/>
          </a:prstGeom>
          <a:noFill/>
          <a:ln/>
        </p:spPr>
        <p:txBody>
          <a:bodyPr wrap="square" lIns="0" tIns="0" rIns="0" bIns="0" rtlCol="0" anchor="t"/>
          <a:lstStyle/>
          <a:p>
            <a:pPr indent="0" marL="0">
              <a:buNone/>
            </a:pPr>
            <a:r>
              <a:rPr lang="en-US" sz="1150" dirty="0">
                <a:solidFill>
                  <a:srgbClr val="3D4B59"/>
                </a:solidFill>
                <a:latin typeface="Calibri" pitchFamily="34" charset="0"/>
                <a:ea typeface="Calibri" pitchFamily="34" charset="-122"/>
                <a:cs typeface="Calibri" pitchFamily="34" charset="-120"/>
              </a:rPr>
              <a:t>WPF overlay, animation MiloRig, dashboard, khay hệ thống</a:t>
            </a:r>
            <a:endParaRPr lang="en-US" sz="1150" dirty="0"/>
          </a:p>
        </p:txBody>
      </p:sp>
      <p:sp>
        <p:nvSpPr>
          <p:cNvPr id="33" name="Text 31"/>
          <p:cNvSpPr txBox="1"/>
          <p:nvPr/>
        </p:nvSpPr>
        <p:spPr>
          <a:xfrm>
            <a:off x="4023360" y="4846320"/>
            <a:ext cx="4114800" cy="457200"/>
          </a:xfrm>
          <a:prstGeom prst="rect">
            <a:avLst/>
          </a:prstGeom>
          <a:noFill/>
          <a:ln/>
        </p:spPr>
        <p:txBody>
          <a:bodyPr wrap="square" lIns="0" tIns="0" rIns="0" bIns="0" rtlCol="0" anchor="t"/>
          <a:lstStyle/>
          <a:p>
            <a:pPr indent="0" marL="0">
              <a:buNone/>
            </a:pPr>
            <a:r>
              <a:rPr lang="en-US" sz="1150" i="1" dirty="0">
                <a:solidFill>
                  <a:srgbClr val="667584"/>
                </a:solidFill>
                <a:latin typeface="Calibri" pitchFamily="34" charset="0"/>
                <a:ea typeface="Calibri" pitchFamily="34" charset="-122"/>
                <a:cs typeface="Calibri" pitchFamily="34" charset="-120"/>
              </a:rPr>
              <a:t>Ranh giới project = ranh giới việc: chạy song song, ít dẫm chân</a:t>
            </a:r>
            <a:endParaRPr lang="en-US" sz="1150" dirty="0"/>
          </a:p>
        </p:txBody>
      </p:sp>
      <p:sp>
        <p:nvSpPr>
          <p:cNvPr id="34" name="Text 32"/>
          <p:cNvSpPr txBox="1"/>
          <p:nvPr/>
        </p:nvSpPr>
        <p:spPr>
          <a:xfrm>
            <a:off x="8869680" y="2286000"/>
            <a:ext cx="2514600" cy="3017520"/>
          </a:xfrm>
          <a:prstGeom prst="rect">
            <a:avLst/>
          </a:prstGeom>
          <a:noFill/>
          <a:ln/>
        </p:spPr>
        <p:txBody>
          <a:bodyPr wrap="square" lIns="0" tIns="0" rIns="0" bIns="0" rtlCol="0" anchor="t"/>
          <a:lstStyle/>
          <a:p>
            <a:pPr marL="165100" indent="-165100">
              <a:spcAft>
                <a:spcPts val="800"/>
              </a:spcAft>
              <a:buSzPct val="100000"/>
              <a:buChar char="•"/>
            </a:pPr>
            <a:r>
              <a:rPr lang="en-US" sz="1350" dirty="0">
                <a:solidFill>
                  <a:srgbClr val="3D4B59"/>
                </a:solidFill>
                <a:latin typeface="Calibri" pitchFamily="34" charset="0"/>
                <a:ea typeface="Calibri" pitchFamily="34" charset="-122"/>
                <a:cs typeface="Calibri" pitchFamily="34" charset="-120"/>
              </a:rPr>
              <a:t>Test tự động: 160 unit test, cùng 20.000 bộ dữ liệu ngẫu nhiên cho công thức mood</a:t>
            </a:r>
            <a:endParaRPr lang="en-US" sz="1350" dirty="0"/>
          </a:p>
          <a:p>
            <a:pPr marL="165100" indent="-165100">
              <a:spcAft>
                <a:spcPts val="800"/>
              </a:spcAft>
              <a:buSzPct val="100000"/>
              <a:buChar char="•"/>
            </a:pPr>
            <a:r>
              <a:rPr lang="en-US" sz="1350" dirty="0">
                <a:solidFill>
                  <a:srgbClr val="3D4B59"/>
                </a:solidFill>
                <a:latin typeface="Calibri" pitchFamily="34" charset="0"/>
                <a:ea typeface="Calibri" pitchFamily="34" charset="-122"/>
                <a:cs typeface="Calibri" pitchFamily="34" charset="-120"/>
              </a:rPr>
              <a:t>3 bộ kiểm chứng: luật · AI · so sánh</a:t>
            </a:r>
            <a:endParaRPr lang="en-US" sz="1350" dirty="0"/>
          </a:p>
          <a:p>
            <a:pPr marL="165100" indent="-165100">
              <a:spcAft>
                <a:spcPts val="800"/>
              </a:spcAft>
              <a:buSzPct val="100000"/>
              <a:buChar char="•"/>
            </a:pPr>
            <a:r>
              <a:rPr lang="en-US" sz="1350" dirty="0">
                <a:solidFill>
                  <a:srgbClr val="3D4B59"/>
                </a:solidFill>
                <a:latin typeface="Calibri" pitchFamily="34" charset="0"/>
                <a:ea typeface="Calibri" pitchFamily="34" charset="-122"/>
                <a:cs typeface="Calibri" pitchFamily="34" charset="-120"/>
              </a:rPr>
              <a:t>Test tay theo checklist Sandbox / Prod, 3 ngày sửa lỗi</a:t>
            </a:r>
            <a:endParaRPr lang="en-US" sz="1350" dirty="0"/>
          </a:p>
        </p:txBody>
      </p:sp>
      <p:sp>
        <p:nvSpPr>
          <p:cNvPr id="35" name="Shape 33"/>
          <p:cNvSpPr/>
          <p:nvPr/>
        </p:nvSpPr>
        <p:spPr>
          <a:xfrm>
            <a:off x="594360" y="5532120"/>
            <a:ext cx="11000232" cy="621792"/>
          </a:xfrm>
          <a:prstGeom prst="roundRect">
            <a:avLst>
              <a:gd name="adj" fmla="val 14706"/>
            </a:avLst>
          </a:prstGeom>
          <a:solidFill>
            <a:srgbClr val="E2F3EA"/>
          </a:solidFill>
          <a:ln w="12700">
            <a:solidFill>
              <a:srgbClr val="E2F3EA"/>
            </a:solidFill>
            <a:prstDash val="solid"/>
          </a:ln>
        </p:spPr>
      </p:sp>
      <p:pic>
        <p:nvPicPr>
          <p:cNvPr id="36" name="Image 0" descr="preencoded.png">    </p:cNvPr>
          <p:cNvPicPr>
            <a:picLocks noChangeAspect="1"/>
          </p:cNvPicPr>
          <p:nvPr/>
        </p:nvPicPr>
        <p:blipFill>
          <a:blip r:embed="rId1"/>
          <a:stretch>
            <a:fillRect/>
          </a:stretch>
        </p:blipFill>
        <p:spPr>
          <a:xfrm>
            <a:off x="822960" y="5669280"/>
            <a:ext cx="347472" cy="347472"/>
          </a:xfrm>
          <a:prstGeom prst="rect">
            <a:avLst/>
          </a:prstGeom>
        </p:spPr>
      </p:pic>
      <p:sp>
        <p:nvSpPr>
          <p:cNvPr id="37" name="Text 34"/>
          <p:cNvSpPr txBox="1"/>
          <p:nvPr/>
        </p:nvSpPr>
        <p:spPr>
          <a:xfrm>
            <a:off x="1371600" y="5532120"/>
            <a:ext cx="9966960" cy="621792"/>
          </a:xfrm>
          <a:prstGeom prst="rect">
            <a:avLst/>
          </a:prstGeom>
          <a:noFill/>
          <a:ln/>
        </p:spPr>
        <p:txBody>
          <a:bodyPr wrap="square" lIns="0" tIns="0" rIns="0" bIns="0" rtlCol="0" anchor="ctr"/>
          <a:lstStyle/>
          <a:p>
            <a:pPr indent="0" marL="0">
              <a:buNone/>
            </a:pPr>
            <a:r>
              <a:rPr lang="en-US" sz="1350" b="1" dirty="0">
                <a:solidFill>
                  <a:srgbClr val="00884A"/>
                </a:solidFill>
                <a:latin typeface="Calibri" pitchFamily="34" charset="0"/>
                <a:ea typeface="Calibri" pitchFamily="34" charset="-122"/>
                <a:cs typeface="Calibri" pitchFamily="34" charset="-120"/>
              </a:rPr>
              <a:t>Vai trò của Thư: </a:t>
            </a:r>
            <a:pPr indent="0" marL="0">
              <a:buNone/>
            </a:pPr>
            <a:r>
              <a:rPr lang="en-US" sz="1350" dirty="0">
                <a:solidFill>
                  <a:srgbClr val="1B2733"/>
                </a:solidFill>
                <a:latin typeface="Calibri" pitchFamily="34" charset="0"/>
                <a:ea typeface="Calibri" pitchFamily="34" charset="-122"/>
                <a:cs typeface="Calibri" pitchFamily="34" charset="-120"/>
              </a:rPr>
              <a:t>chia việc theo ranh giới project · duyệt từng kết quả · chốt quyết định về ngưỡng và trải nghiệm</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00884A"/>
                </a:solidFill>
                <a:latin typeface="Calibri" pitchFamily="34" charset="0"/>
                <a:ea typeface="Calibri" pitchFamily="34" charset="-122"/>
                <a:cs typeface="Calibri" pitchFamily="34" charset="-120"/>
              </a:rPr>
              <a:t>06 · HƯỚNG PHÁT TRIỂN</a:t>
            </a:r>
            <a:endParaRPr lang="en-US" sz="1200" dirty="0"/>
          </a:p>
        </p:txBody>
      </p:sp>
      <p:sp>
        <p:nvSpPr>
          <p:cNvPr id="3" name="Text 1"/>
          <p:cNvSpPr txBox="1"/>
          <p:nvPr/>
        </p:nvSpPr>
        <p:spPr>
          <a:xfrm>
            <a:off x="594360" y="713232"/>
            <a:ext cx="10881360" cy="54864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Chính xác hơn, và cài được trên máy Bosch</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12</a:t>
            </a:r>
            <a:endParaRPr lang="en-US" sz="950" dirty="0"/>
          </a:p>
        </p:txBody>
      </p:sp>
      <p:sp>
        <p:nvSpPr>
          <p:cNvPr id="9" name="Shape 7"/>
          <p:cNvSpPr/>
          <p:nvPr/>
        </p:nvSpPr>
        <p:spPr>
          <a:xfrm>
            <a:off x="594360" y="1463040"/>
            <a:ext cx="2788920" cy="566928"/>
          </a:xfrm>
          <a:prstGeom prst="chevron">
            <a:avLst/>
          </a:prstGeom>
          <a:solidFill>
            <a:srgbClr val="667584"/>
          </a:solidFill>
          <a:ln w="25400">
            <a:solidFill>
              <a:srgbClr val="FFFFFF"/>
            </a:solidFill>
            <a:prstDash val="solid"/>
          </a:ln>
        </p:spPr>
      </p:sp>
      <p:sp>
        <p:nvSpPr>
          <p:cNvPr id="10" name="Text 8"/>
          <p:cNvSpPr txBox="1"/>
          <p:nvPr/>
        </p:nvSpPr>
        <p:spPr>
          <a:xfrm>
            <a:off x="960120" y="1463040"/>
            <a:ext cx="2148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Hôm nay: Demo + Sandbox</a:t>
            </a:r>
            <a:endParaRPr lang="en-US" sz="1200" dirty="0"/>
          </a:p>
        </p:txBody>
      </p:sp>
      <p:sp>
        <p:nvSpPr>
          <p:cNvPr id="11" name="Shape 9"/>
          <p:cNvSpPr/>
          <p:nvPr/>
        </p:nvSpPr>
        <p:spPr>
          <a:xfrm>
            <a:off x="3337560" y="1463040"/>
            <a:ext cx="2788920" cy="566928"/>
          </a:xfrm>
          <a:prstGeom prst="chevron">
            <a:avLst/>
          </a:prstGeom>
          <a:solidFill>
            <a:srgbClr val="007BC0"/>
          </a:solidFill>
          <a:ln w="25400">
            <a:solidFill>
              <a:srgbClr val="FFFFFF"/>
            </a:solidFill>
            <a:prstDash val="solid"/>
          </a:ln>
        </p:spPr>
      </p:sp>
      <p:sp>
        <p:nvSpPr>
          <p:cNvPr id="12" name="Text 10"/>
          <p:cNvSpPr txBox="1"/>
          <p:nvPr/>
        </p:nvSpPr>
        <p:spPr>
          <a:xfrm>
            <a:off x="3703320" y="1463040"/>
            <a:ext cx="2148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Bước 1: Onboard máy Bosch</a:t>
            </a:r>
            <a:endParaRPr lang="en-US" sz="1200" dirty="0"/>
          </a:p>
        </p:txBody>
      </p:sp>
      <p:sp>
        <p:nvSpPr>
          <p:cNvPr id="13" name="Shape 11"/>
          <p:cNvSpPr/>
          <p:nvPr/>
        </p:nvSpPr>
        <p:spPr>
          <a:xfrm>
            <a:off x="6080760" y="1463040"/>
            <a:ext cx="2788920" cy="566928"/>
          </a:xfrm>
          <a:prstGeom prst="chevron">
            <a:avLst/>
          </a:prstGeom>
          <a:solidFill>
            <a:srgbClr val="007BC0"/>
          </a:solidFill>
          <a:ln w="25400">
            <a:solidFill>
              <a:srgbClr val="FFFFFF"/>
            </a:solidFill>
            <a:prstDash val="solid"/>
          </a:ln>
        </p:spPr>
      </p:sp>
      <p:sp>
        <p:nvSpPr>
          <p:cNvPr id="14" name="Text 12"/>
          <p:cNvSpPr txBox="1"/>
          <p:nvPr/>
        </p:nvSpPr>
        <p:spPr>
          <a:xfrm>
            <a:off x="6446520" y="1463040"/>
            <a:ext cx="2148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Bước 2: Pilot ≥ 8 người · 4 tuần</a:t>
            </a:r>
            <a:endParaRPr lang="en-US" sz="1200" dirty="0"/>
          </a:p>
        </p:txBody>
      </p:sp>
      <p:sp>
        <p:nvSpPr>
          <p:cNvPr id="15" name="Shape 13"/>
          <p:cNvSpPr/>
          <p:nvPr/>
        </p:nvSpPr>
        <p:spPr>
          <a:xfrm>
            <a:off x="8823960" y="1463040"/>
            <a:ext cx="2788920" cy="566928"/>
          </a:xfrm>
          <a:prstGeom prst="chevron">
            <a:avLst/>
          </a:prstGeom>
          <a:solidFill>
            <a:srgbClr val="00884A"/>
          </a:solidFill>
          <a:ln w="25400">
            <a:solidFill>
              <a:srgbClr val="FFFFFF"/>
            </a:solidFill>
            <a:prstDash val="solid"/>
          </a:ln>
        </p:spPr>
      </p:sp>
      <p:sp>
        <p:nvSpPr>
          <p:cNvPr id="16" name="Text 14"/>
          <p:cNvSpPr txBox="1"/>
          <p:nvPr/>
        </p:nvSpPr>
        <p:spPr>
          <a:xfrm>
            <a:off x="9189720" y="1463040"/>
            <a:ext cx="2148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Bước 3: Hiệu chỉnh và mở rộng</a:t>
            </a:r>
            <a:endParaRPr lang="en-US" sz="1200" dirty="0"/>
          </a:p>
        </p:txBody>
      </p:sp>
      <p:sp>
        <p:nvSpPr>
          <p:cNvPr id="17" name="Shape 15"/>
          <p:cNvSpPr/>
          <p:nvPr/>
        </p:nvSpPr>
        <p:spPr>
          <a:xfrm>
            <a:off x="594360" y="2286000"/>
            <a:ext cx="3520440" cy="3794760"/>
          </a:xfrm>
          <a:prstGeom prst="roundRect">
            <a:avLst>
              <a:gd name="adj" fmla="val 2597"/>
            </a:avLst>
          </a:prstGeom>
          <a:solidFill>
            <a:srgbClr val="FFFFFF"/>
          </a:solidFill>
          <a:ln w="12700">
            <a:solidFill>
              <a:srgbClr val="D9DFE6"/>
            </a:solidFill>
            <a:prstDash val="solid"/>
          </a:ln>
        </p:spPr>
      </p:sp>
      <p:sp>
        <p:nvSpPr>
          <p:cNvPr id="18" name="Shape 16"/>
          <p:cNvSpPr/>
          <p:nvPr/>
        </p:nvSpPr>
        <p:spPr>
          <a:xfrm>
            <a:off x="603504" y="2295144"/>
            <a:ext cx="3502152" cy="502920"/>
          </a:xfrm>
          <a:prstGeom prst="rect">
            <a:avLst/>
          </a:prstGeom>
          <a:solidFill>
            <a:srgbClr val="007BC0"/>
          </a:solidFill>
          <a:ln/>
        </p:spPr>
      </p:sp>
      <p:sp>
        <p:nvSpPr>
          <p:cNvPr id="19" name="Text 17"/>
          <p:cNvSpPr txBox="1"/>
          <p:nvPr/>
        </p:nvSpPr>
        <p:spPr>
          <a:xfrm>
            <a:off x="822960" y="2295144"/>
            <a:ext cx="3063240"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Cải thiện engine tính score</a:t>
            </a:r>
            <a:endParaRPr lang="en-US" sz="1550" dirty="0"/>
          </a:p>
        </p:txBody>
      </p:sp>
      <p:sp>
        <p:nvSpPr>
          <p:cNvPr id="20" name="Text 18"/>
          <p:cNvSpPr txBox="1"/>
          <p:nvPr/>
        </p:nvSpPr>
        <p:spPr>
          <a:xfrm>
            <a:off x="822960" y="3017520"/>
            <a:ext cx="3063240" cy="3017520"/>
          </a:xfrm>
          <a:prstGeom prst="rect">
            <a:avLst/>
          </a:prstGeom>
          <a:noFill/>
          <a:ln/>
        </p:spPr>
        <p:txBody>
          <a:bodyPr wrap="square" lIns="0" tIns="0" rIns="0" bIns="0" rtlCol="0" anchor="t"/>
          <a:lstStyle/>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Hiệu chỉnh trọng số bằng dữ liệu thật (hiện theo tài liệu nghiên cứu, chưa hiệu chuẩn trên người dùng)</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Pilot WHO-5 hằng tuần: ≥ 8 người × 4 tuần, mục tiêu tương quan r ≥ 0,3</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Chuẩn hoá bản dịch WHO-5 tiếng Việt</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Bật Hybrid (Claude ±10) sau khi qua 3 bộ kiểm chứng</a:t>
            </a:r>
            <a:endParaRPr lang="en-US" sz="1350" dirty="0"/>
          </a:p>
        </p:txBody>
      </p:sp>
      <p:sp>
        <p:nvSpPr>
          <p:cNvPr id="21" name="Shape 19"/>
          <p:cNvSpPr/>
          <p:nvPr/>
        </p:nvSpPr>
        <p:spPr>
          <a:xfrm>
            <a:off x="4334256" y="2286000"/>
            <a:ext cx="3520440" cy="3794760"/>
          </a:xfrm>
          <a:prstGeom prst="roundRect">
            <a:avLst>
              <a:gd name="adj" fmla="val 2597"/>
            </a:avLst>
          </a:prstGeom>
          <a:solidFill>
            <a:srgbClr val="FFFFFF"/>
          </a:solidFill>
          <a:ln w="12700">
            <a:solidFill>
              <a:srgbClr val="D9DFE6"/>
            </a:solidFill>
            <a:prstDash val="solid"/>
          </a:ln>
        </p:spPr>
      </p:sp>
      <p:sp>
        <p:nvSpPr>
          <p:cNvPr id="22" name="Shape 20"/>
          <p:cNvSpPr/>
          <p:nvPr/>
        </p:nvSpPr>
        <p:spPr>
          <a:xfrm>
            <a:off x="4343400" y="2295144"/>
            <a:ext cx="3502152" cy="502920"/>
          </a:xfrm>
          <a:prstGeom prst="rect">
            <a:avLst/>
          </a:prstGeom>
          <a:solidFill>
            <a:srgbClr val="E20015"/>
          </a:solidFill>
          <a:ln/>
        </p:spPr>
      </p:sp>
      <p:sp>
        <p:nvSpPr>
          <p:cNvPr id="23" name="Text 21"/>
          <p:cNvSpPr txBox="1"/>
          <p:nvPr/>
        </p:nvSpPr>
        <p:spPr>
          <a:xfrm>
            <a:off x="4562856" y="2295144"/>
            <a:ext cx="3063240"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Onboard trên máy Bosch</a:t>
            </a:r>
            <a:endParaRPr lang="en-US" sz="1550" dirty="0"/>
          </a:p>
        </p:txBody>
      </p:sp>
      <p:sp>
        <p:nvSpPr>
          <p:cNvPr id="24" name="Text 22"/>
          <p:cNvSpPr txBox="1"/>
          <p:nvPr/>
        </p:nvSpPr>
        <p:spPr>
          <a:xfrm>
            <a:off x="4562856" y="3017520"/>
            <a:ext cx="3063240" cy="3017520"/>
          </a:xfrm>
          <a:prstGeom prst="rect">
            <a:avLst/>
          </a:prstGeom>
          <a:noFill/>
          <a:ln/>
        </p:spPr>
        <p:txBody>
          <a:bodyPr wrap="square" lIns="0" tIns="0" rIns="0" bIns="0" rtlCol="0" anchor="t"/>
          <a:lstStyle/>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IT duyệt đăng ký app trên Entra ID (single tenant, public client) và admin consent</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Quyền: User.Read, Presence, Calendars, Mail.Read — thiếu quyền thì tự hạ cấp</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Bộ cài có ký số (tránh cảnh báo SmartScreen), tự chạy cùng Windows</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Kiểm tra proxy mạng nội bộ; cấp PAT hoặc Entra cho Azure Boards</a:t>
            </a:r>
            <a:endParaRPr lang="en-US" sz="1350" dirty="0"/>
          </a:p>
        </p:txBody>
      </p:sp>
      <p:sp>
        <p:nvSpPr>
          <p:cNvPr id="25" name="Shape 23"/>
          <p:cNvSpPr/>
          <p:nvPr/>
        </p:nvSpPr>
        <p:spPr>
          <a:xfrm>
            <a:off x="8074152" y="2286000"/>
            <a:ext cx="3520440" cy="3794760"/>
          </a:xfrm>
          <a:prstGeom prst="roundRect">
            <a:avLst>
              <a:gd name="adj" fmla="val 2597"/>
            </a:avLst>
          </a:prstGeom>
          <a:solidFill>
            <a:srgbClr val="FFFFFF"/>
          </a:solidFill>
          <a:ln w="12700">
            <a:solidFill>
              <a:srgbClr val="D9DFE6"/>
            </a:solidFill>
            <a:prstDash val="solid"/>
          </a:ln>
        </p:spPr>
      </p:sp>
      <p:sp>
        <p:nvSpPr>
          <p:cNvPr id="26" name="Shape 24"/>
          <p:cNvSpPr/>
          <p:nvPr/>
        </p:nvSpPr>
        <p:spPr>
          <a:xfrm>
            <a:off x="8083296" y="2295144"/>
            <a:ext cx="3502152" cy="502920"/>
          </a:xfrm>
          <a:prstGeom prst="rect">
            <a:avLst/>
          </a:prstGeom>
          <a:solidFill>
            <a:srgbClr val="00884A"/>
          </a:solidFill>
          <a:ln/>
        </p:spPr>
      </p:sp>
      <p:sp>
        <p:nvSpPr>
          <p:cNvPr id="27" name="Text 25"/>
          <p:cNvSpPr txBox="1"/>
          <p:nvPr/>
        </p:nvSpPr>
        <p:spPr>
          <a:xfrm>
            <a:off x="8302752" y="2295144"/>
            <a:ext cx="3063240" cy="50292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Mở rộng</a:t>
            </a:r>
            <a:endParaRPr lang="en-US" sz="1550" dirty="0"/>
          </a:p>
        </p:txBody>
      </p:sp>
      <p:sp>
        <p:nvSpPr>
          <p:cNvPr id="28" name="Text 26"/>
          <p:cNvSpPr txBox="1"/>
          <p:nvPr/>
        </p:nvSpPr>
        <p:spPr>
          <a:xfrm>
            <a:off x="8302752" y="3017520"/>
            <a:ext cx="3063240" cy="3017520"/>
          </a:xfrm>
          <a:prstGeom prst="rect">
            <a:avLst/>
          </a:prstGeom>
          <a:noFill/>
          <a:ln/>
        </p:spPr>
        <p:txBody>
          <a:bodyPr wrap="square" lIns="0" tIns="0" rIns="0" bIns="0" rtlCol="0" anchor="t"/>
          <a:lstStyle/>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Thêm nguồn dữ liệu (ví dụ Jira) bằng client mới, không đụng bộ não</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Thêm case, clip animation và phụ kiện tủ đồ</a:t>
            </a:r>
            <a:endParaRPr lang="en-US" sz="1350" dirty="0"/>
          </a:p>
          <a:p>
            <a:pPr marL="165100" indent="-165100">
              <a:spcAft>
                <a:spcPts val="900"/>
              </a:spcAft>
              <a:buSzPct val="100000"/>
              <a:buChar char="•"/>
            </a:pPr>
            <a:r>
              <a:rPr lang="en-US" sz="1350" dirty="0">
                <a:solidFill>
                  <a:srgbClr val="3D4B59"/>
                </a:solidFill>
                <a:latin typeface="Calibri" pitchFamily="34" charset="0"/>
                <a:ea typeface="Calibri" pitchFamily="34" charset="-122"/>
                <a:cs typeface="Calibri" pitchFamily="34" charset="-120"/>
              </a:rPr>
              <a:t>Báo cáo tuần và cá nhân hoá sâu hơn từ dữ liệu 7–14 ngày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437"/>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FF8A1F"/>
                </a:solidFill>
                <a:latin typeface="Calibri" pitchFamily="34" charset="0"/>
                <a:ea typeface="Calibri" pitchFamily="34" charset="-122"/>
                <a:cs typeface="Calibri" pitchFamily="34" charset="-120"/>
              </a:rPr>
              <a:t>07 · DEMO</a:t>
            </a:r>
            <a:endParaRPr lang="en-US" sz="1200" dirty="0"/>
          </a:p>
        </p:txBody>
      </p:sp>
      <p:sp>
        <p:nvSpPr>
          <p:cNvPr id="3" name="Shape 1"/>
          <p:cNvSpPr/>
          <p:nvPr/>
        </p:nvSpPr>
        <p:spPr>
          <a:xfrm>
            <a:off x="0" y="6729984"/>
            <a:ext cx="4073042" cy="128016"/>
          </a:xfrm>
          <a:prstGeom prst="rect">
            <a:avLst/>
          </a:prstGeom>
          <a:solidFill>
            <a:srgbClr val="E20015"/>
          </a:solidFill>
          <a:ln/>
        </p:spPr>
      </p:sp>
      <p:sp>
        <p:nvSpPr>
          <p:cNvPr id="4" name="Shape 2"/>
          <p:cNvSpPr/>
          <p:nvPr/>
        </p:nvSpPr>
        <p:spPr>
          <a:xfrm>
            <a:off x="4063898" y="6729984"/>
            <a:ext cx="4073042" cy="128016"/>
          </a:xfrm>
          <a:prstGeom prst="rect">
            <a:avLst/>
          </a:prstGeom>
          <a:solidFill>
            <a:srgbClr val="007BC0"/>
          </a:solidFill>
          <a:ln/>
        </p:spPr>
      </p:sp>
      <p:sp>
        <p:nvSpPr>
          <p:cNvPr id="5" name="Shape 3"/>
          <p:cNvSpPr/>
          <p:nvPr/>
        </p:nvSpPr>
        <p:spPr>
          <a:xfrm>
            <a:off x="8127797" y="6729984"/>
            <a:ext cx="4073042" cy="128016"/>
          </a:xfrm>
          <a:prstGeom prst="rect">
            <a:avLst/>
          </a:prstGeom>
          <a:solidFill>
            <a:srgbClr val="00884A"/>
          </a:solidFill>
          <a:ln/>
        </p:spPr>
      </p:sp>
      <p:sp>
        <p:nvSpPr>
          <p:cNvPr id="6" name="Text 4"/>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9FB2C4"/>
                </a:solidFill>
                <a:latin typeface="Calibri" pitchFamily="34" charset="0"/>
                <a:ea typeface="Calibri" pitchFamily="34" charset="-122"/>
                <a:cs typeface="Calibri" pitchFamily="34" charset="-120"/>
              </a:rPr>
              <a:t>Minditful – Milo  ·  Matcha latte- capybara</a:t>
            </a:r>
            <a:endParaRPr lang="en-US" sz="950" dirty="0"/>
          </a:p>
        </p:txBody>
      </p:sp>
      <p:sp>
        <p:nvSpPr>
          <p:cNvPr id="7" name="Text 5"/>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9FB2C4"/>
                </a:solidFill>
                <a:latin typeface="Calibri" pitchFamily="34" charset="0"/>
                <a:ea typeface="Calibri" pitchFamily="34" charset="-122"/>
                <a:cs typeface="Calibri" pitchFamily="34" charset="-120"/>
              </a:rPr>
              <a:t>13</a:t>
            </a:r>
            <a:endParaRPr lang="en-US" sz="950" dirty="0"/>
          </a:p>
        </p:txBody>
      </p:sp>
      <p:sp>
        <p:nvSpPr>
          <p:cNvPr id="8" name="Text 6"/>
          <p:cNvSpPr txBox="1"/>
          <p:nvPr/>
        </p:nvSpPr>
        <p:spPr>
          <a:xfrm>
            <a:off x="594360" y="868680"/>
            <a:ext cx="5029200" cy="1371600"/>
          </a:xfrm>
          <a:prstGeom prst="rect">
            <a:avLst/>
          </a:prstGeom>
          <a:noFill/>
          <a:ln/>
        </p:spPr>
        <p:txBody>
          <a:bodyPr wrap="square" lIns="0" tIns="0" rIns="0" bIns="0" rtlCol="0" anchor="t"/>
          <a:lstStyle/>
          <a:p>
            <a:pPr indent="0" marL="0">
              <a:buNone/>
            </a:pPr>
            <a:r>
              <a:rPr lang="en-US" sz="8800" b="1" dirty="0">
                <a:solidFill>
                  <a:srgbClr val="FFFFFF"/>
                </a:solidFill>
                <a:latin typeface="Calibri" pitchFamily="34" charset="0"/>
                <a:ea typeface="Calibri" pitchFamily="34" charset="-122"/>
                <a:cs typeface="Calibri" pitchFamily="34" charset="-120"/>
              </a:rPr>
              <a:t>DEMO</a:t>
            </a:r>
            <a:endParaRPr lang="en-US" sz="8800" dirty="0"/>
          </a:p>
        </p:txBody>
      </p:sp>
      <p:sp>
        <p:nvSpPr>
          <p:cNvPr id="9" name="Text 7"/>
          <p:cNvSpPr txBox="1"/>
          <p:nvPr/>
        </p:nvSpPr>
        <p:spPr>
          <a:xfrm>
            <a:off x="594360" y="2286000"/>
            <a:ext cx="4754880" cy="822960"/>
          </a:xfrm>
          <a:prstGeom prst="rect">
            <a:avLst/>
          </a:prstGeom>
          <a:noFill/>
          <a:ln/>
        </p:spPr>
        <p:txBody>
          <a:bodyPr wrap="square" lIns="0" tIns="0" rIns="0" bIns="0" rtlCol="0" anchor="t"/>
          <a:lstStyle/>
          <a:p>
            <a:pPr indent="0" marL="0">
              <a:buNone/>
            </a:pPr>
            <a:r>
              <a:rPr lang="en-US" sz="1800" dirty="0">
                <a:solidFill>
                  <a:srgbClr val="C9D6E2"/>
                </a:solidFill>
                <a:latin typeface="Calibri" pitchFamily="34" charset="0"/>
                <a:ea typeface="Calibri" pitchFamily="34" charset="-122"/>
                <a:cs typeface="Calibri" pitchFamily="34" charset="-120"/>
              </a:rPr>
              <a:t>Milo trên desktop Windows thật, chạy ngày mẫu ở tốc độ 300×</a:t>
            </a:r>
            <a:endParaRPr lang="en-US" sz="1800" dirty="0"/>
          </a:p>
        </p:txBody>
      </p:sp>
      <p:pic>
        <p:nvPicPr>
          <p:cNvPr id="10" name="Image 0" descr="img/milo_greeting.png">    </p:cNvPr>
          <p:cNvPicPr>
            <a:picLocks noChangeAspect="1"/>
          </p:cNvPicPr>
          <p:nvPr/>
        </p:nvPicPr>
        <p:blipFill>
          <a:blip r:embed="rId1"/>
          <a:stretch>
            <a:fillRect/>
          </a:stretch>
        </p:blipFill>
        <p:spPr>
          <a:xfrm>
            <a:off x="1051560" y="3337560"/>
            <a:ext cx="2788920" cy="2807208"/>
          </a:xfrm>
          <a:prstGeom prst="rect">
            <a:avLst/>
          </a:prstGeom>
        </p:spPr>
      </p:pic>
      <p:sp>
        <p:nvSpPr>
          <p:cNvPr id="11" name="Shape 8"/>
          <p:cNvSpPr/>
          <p:nvPr/>
        </p:nvSpPr>
        <p:spPr>
          <a:xfrm>
            <a:off x="5943600" y="914400"/>
            <a:ext cx="5650992" cy="676656"/>
          </a:xfrm>
          <a:prstGeom prst="roundRect">
            <a:avLst>
              <a:gd name="adj" fmla="val 13514"/>
            </a:avLst>
          </a:prstGeom>
          <a:solidFill>
            <a:srgbClr val="1A3550"/>
          </a:solidFill>
          <a:ln/>
        </p:spPr>
      </p:sp>
      <p:sp>
        <p:nvSpPr>
          <p:cNvPr id="12" name="Shape 9"/>
          <p:cNvSpPr/>
          <p:nvPr/>
        </p:nvSpPr>
        <p:spPr>
          <a:xfrm>
            <a:off x="6080760" y="1042416"/>
            <a:ext cx="914400" cy="420624"/>
          </a:xfrm>
          <a:prstGeom prst="roundRect">
            <a:avLst>
              <a:gd name="adj" fmla="val 50000"/>
            </a:avLst>
          </a:prstGeom>
          <a:solidFill>
            <a:srgbClr val="E20015"/>
          </a:solidFill>
          <a:ln/>
        </p:spPr>
      </p:sp>
      <p:sp>
        <p:nvSpPr>
          <p:cNvPr id="13" name="Text 10"/>
          <p:cNvSpPr txBox="1"/>
          <p:nvPr/>
        </p:nvSpPr>
        <p:spPr>
          <a:xfrm>
            <a:off x="6080760" y="1042416"/>
            <a:ext cx="9144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08:58</a:t>
            </a:r>
            <a:endParaRPr lang="en-US" sz="1500" dirty="0"/>
          </a:p>
        </p:txBody>
      </p:sp>
      <p:sp>
        <p:nvSpPr>
          <p:cNvPr id="14" name="Text 11"/>
          <p:cNvSpPr txBox="1"/>
          <p:nvPr/>
        </p:nvSpPr>
        <p:spPr>
          <a:xfrm>
            <a:off x="7178040" y="914400"/>
            <a:ext cx="4297680" cy="676656"/>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Chào sáng và bản tin</a:t>
            </a:r>
            <a:endParaRPr lang="en-US" sz="1450" dirty="0"/>
          </a:p>
        </p:txBody>
      </p:sp>
      <p:sp>
        <p:nvSpPr>
          <p:cNvPr id="15" name="Shape 12"/>
          <p:cNvSpPr/>
          <p:nvPr/>
        </p:nvSpPr>
        <p:spPr>
          <a:xfrm>
            <a:off x="5943600" y="1700784"/>
            <a:ext cx="5650992" cy="676656"/>
          </a:xfrm>
          <a:prstGeom prst="roundRect">
            <a:avLst>
              <a:gd name="adj" fmla="val 13514"/>
            </a:avLst>
          </a:prstGeom>
          <a:solidFill>
            <a:srgbClr val="1A3550"/>
          </a:solidFill>
          <a:ln/>
        </p:spPr>
      </p:sp>
      <p:sp>
        <p:nvSpPr>
          <p:cNvPr id="16" name="Shape 13"/>
          <p:cNvSpPr/>
          <p:nvPr/>
        </p:nvSpPr>
        <p:spPr>
          <a:xfrm>
            <a:off x="6080760" y="1828800"/>
            <a:ext cx="914400" cy="420624"/>
          </a:xfrm>
          <a:prstGeom prst="roundRect">
            <a:avLst>
              <a:gd name="adj" fmla="val 50000"/>
            </a:avLst>
          </a:prstGeom>
          <a:solidFill>
            <a:srgbClr val="007BC0"/>
          </a:solidFill>
          <a:ln/>
        </p:spPr>
      </p:sp>
      <p:sp>
        <p:nvSpPr>
          <p:cNvPr id="17" name="Text 14"/>
          <p:cNvSpPr txBox="1"/>
          <p:nvPr/>
        </p:nvSpPr>
        <p:spPr>
          <a:xfrm>
            <a:off x="6080760" y="1828800"/>
            <a:ext cx="9144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09:25</a:t>
            </a:r>
            <a:endParaRPr lang="en-US" sz="1500" dirty="0"/>
          </a:p>
        </p:txBody>
      </p:sp>
      <p:sp>
        <p:nvSpPr>
          <p:cNvPr id="18" name="Text 15"/>
          <p:cNvSpPr txBox="1"/>
          <p:nvPr/>
        </p:nvSpPr>
        <p:spPr>
          <a:xfrm>
            <a:off x="7178040" y="1700784"/>
            <a:ext cx="4297680" cy="676656"/>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Sắp họp: Tham gia / mở slide</a:t>
            </a:r>
            <a:endParaRPr lang="en-US" sz="1450" dirty="0"/>
          </a:p>
        </p:txBody>
      </p:sp>
      <p:sp>
        <p:nvSpPr>
          <p:cNvPr id="19" name="Shape 16"/>
          <p:cNvSpPr/>
          <p:nvPr/>
        </p:nvSpPr>
        <p:spPr>
          <a:xfrm>
            <a:off x="5943600" y="2487168"/>
            <a:ext cx="5650992" cy="676656"/>
          </a:xfrm>
          <a:prstGeom prst="roundRect">
            <a:avLst>
              <a:gd name="adj" fmla="val 13514"/>
            </a:avLst>
          </a:prstGeom>
          <a:solidFill>
            <a:srgbClr val="1A3550"/>
          </a:solidFill>
          <a:ln/>
        </p:spPr>
      </p:sp>
      <p:sp>
        <p:nvSpPr>
          <p:cNvPr id="20" name="Shape 17"/>
          <p:cNvSpPr/>
          <p:nvPr/>
        </p:nvSpPr>
        <p:spPr>
          <a:xfrm>
            <a:off x="6080760" y="2615184"/>
            <a:ext cx="914400" cy="420624"/>
          </a:xfrm>
          <a:prstGeom prst="roundRect">
            <a:avLst>
              <a:gd name="adj" fmla="val 50000"/>
            </a:avLst>
          </a:prstGeom>
          <a:solidFill>
            <a:srgbClr val="00884A"/>
          </a:solidFill>
          <a:ln/>
        </p:spPr>
      </p:sp>
      <p:sp>
        <p:nvSpPr>
          <p:cNvPr id="21" name="Text 18"/>
          <p:cNvSpPr txBox="1"/>
          <p:nvPr/>
        </p:nvSpPr>
        <p:spPr>
          <a:xfrm>
            <a:off x="6080760" y="2615184"/>
            <a:ext cx="9144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10:12</a:t>
            </a:r>
            <a:endParaRPr lang="en-US" sz="1500" dirty="0"/>
          </a:p>
        </p:txBody>
      </p:sp>
      <p:sp>
        <p:nvSpPr>
          <p:cNvPr id="22" name="Text 19"/>
          <p:cNvSpPr txBox="1"/>
          <p:nvPr/>
        </p:nvSpPr>
        <p:spPr>
          <a:xfrm>
            <a:off x="7178040" y="2487168"/>
            <a:ext cx="4297680" cy="676656"/>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Đang họp: Milo im lặng, chỉ còn chấm chờ</a:t>
            </a:r>
            <a:endParaRPr lang="en-US" sz="1450" dirty="0"/>
          </a:p>
        </p:txBody>
      </p:sp>
      <p:sp>
        <p:nvSpPr>
          <p:cNvPr id="23" name="Shape 20"/>
          <p:cNvSpPr/>
          <p:nvPr/>
        </p:nvSpPr>
        <p:spPr>
          <a:xfrm>
            <a:off x="5943600" y="3273552"/>
            <a:ext cx="5650992" cy="676656"/>
          </a:xfrm>
          <a:prstGeom prst="roundRect">
            <a:avLst>
              <a:gd name="adj" fmla="val 13514"/>
            </a:avLst>
          </a:prstGeom>
          <a:solidFill>
            <a:srgbClr val="1A3550"/>
          </a:solidFill>
          <a:ln/>
        </p:spPr>
      </p:sp>
      <p:sp>
        <p:nvSpPr>
          <p:cNvPr id="24" name="Shape 21"/>
          <p:cNvSpPr/>
          <p:nvPr/>
        </p:nvSpPr>
        <p:spPr>
          <a:xfrm>
            <a:off x="6080760" y="3401568"/>
            <a:ext cx="914400" cy="420624"/>
          </a:xfrm>
          <a:prstGeom prst="roundRect">
            <a:avLst>
              <a:gd name="adj" fmla="val 50000"/>
            </a:avLst>
          </a:prstGeom>
          <a:solidFill>
            <a:srgbClr val="E20015"/>
          </a:solidFill>
          <a:ln/>
        </p:spPr>
      </p:sp>
      <p:sp>
        <p:nvSpPr>
          <p:cNvPr id="25" name="Text 22"/>
          <p:cNvSpPr txBox="1"/>
          <p:nvPr/>
        </p:nvSpPr>
        <p:spPr>
          <a:xfrm>
            <a:off x="6080760" y="3401568"/>
            <a:ext cx="9144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12:35</a:t>
            </a:r>
            <a:endParaRPr lang="en-US" sz="1500" dirty="0"/>
          </a:p>
        </p:txBody>
      </p:sp>
      <p:sp>
        <p:nvSpPr>
          <p:cNvPr id="26" name="Text 23"/>
          <p:cNvSpPr txBox="1"/>
          <p:nvPr/>
        </p:nvSpPr>
        <p:spPr>
          <a:xfrm>
            <a:off x="7178040" y="3273552"/>
            <a:ext cx="4297680" cy="676656"/>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Dashboard trái cây: điểm mood, họp, email, sprint</a:t>
            </a:r>
            <a:endParaRPr lang="en-US" sz="1450" dirty="0"/>
          </a:p>
        </p:txBody>
      </p:sp>
      <p:sp>
        <p:nvSpPr>
          <p:cNvPr id="27" name="Shape 24"/>
          <p:cNvSpPr/>
          <p:nvPr/>
        </p:nvSpPr>
        <p:spPr>
          <a:xfrm>
            <a:off x="5943600" y="4059936"/>
            <a:ext cx="5650992" cy="676656"/>
          </a:xfrm>
          <a:prstGeom prst="roundRect">
            <a:avLst>
              <a:gd name="adj" fmla="val 13514"/>
            </a:avLst>
          </a:prstGeom>
          <a:solidFill>
            <a:srgbClr val="1A3550"/>
          </a:solidFill>
          <a:ln/>
        </p:spPr>
      </p:sp>
      <p:sp>
        <p:nvSpPr>
          <p:cNvPr id="28" name="Shape 25"/>
          <p:cNvSpPr/>
          <p:nvPr/>
        </p:nvSpPr>
        <p:spPr>
          <a:xfrm>
            <a:off x="6080760" y="4187952"/>
            <a:ext cx="914400" cy="420624"/>
          </a:xfrm>
          <a:prstGeom prst="roundRect">
            <a:avLst>
              <a:gd name="adj" fmla="val 50000"/>
            </a:avLst>
          </a:prstGeom>
          <a:solidFill>
            <a:srgbClr val="007BC0"/>
          </a:solidFill>
          <a:ln/>
        </p:spPr>
      </p:sp>
      <p:sp>
        <p:nvSpPr>
          <p:cNvPr id="29" name="Text 26"/>
          <p:cNvSpPr txBox="1"/>
          <p:nvPr/>
        </p:nvSpPr>
        <p:spPr>
          <a:xfrm>
            <a:off x="6080760" y="4187952"/>
            <a:ext cx="9144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12:41</a:t>
            </a:r>
            <a:endParaRPr lang="en-US" sz="1500" dirty="0"/>
          </a:p>
        </p:txBody>
      </p:sp>
      <p:sp>
        <p:nvSpPr>
          <p:cNvPr id="30" name="Text 27"/>
          <p:cNvSpPr txBox="1"/>
          <p:nvPr/>
        </p:nvSpPr>
        <p:spPr>
          <a:xfrm>
            <a:off x="7178040" y="4059936"/>
            <a:ext cx="4297680" cy="676656"/>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Họp liền 3h20: nghỉ cùng Milo, thở 4-4-4</a:t>
            </a:r>
            <a:endParaRPr lang="en-US" sz="1450" dirty="0"/>
          </a:p>
        </p:txBody>
      </p:sp>
      <p:sp>
        <p:nvSpPr>
          <p:cNvPr id="31" name="Shape 28"/>
          <p:cNvSpPr/>
          <p:nvPr/>
        </p:nvSpPr>
        <p:spPr>
          <a:xfrm>
            <a:off x="5943600" y="4846320"/>
            <a:ext cx="5650992" cy="676656"/>
          </a:xfrm>
          <a:prstGeom prst="roundRect">
            <a:avLst>
              <a:gd name="adj" fmla="val 13514"/>
            </a:avLst>
          </a:prstGeom>
          <a:solidFill>
            <a:srgbClr val="1A3550"/>
          </a:solidFill>
          <a:ln/>
        </p:spPr>
      </p:sp>
      <p:sp>
        <p:nvSpPr>
          <p:cNvPr id="32" name="Shape 29"/>
          <p:cNvSpPr/>
          <p:nvPr/>
        </p:nvSpPr>
        <p:spPr>
          <a:xfrm>
            <a:off x="6080760" y="4974336"/>
            <a:ext cx="914400" cy="420624"/>
          </a:xfrm>
          <a:prstGeom prst="roundRect">
            <a:avLst>
              <a:gd name="adj" fmla="val 50000"/>
            </a:avLst>
          </a:prstGeom>
          <a:solidFill>
            <a:srgbClr val="00884A"/>
          </a:solidFill>
          <a:ln/>
        </p:spPr>
      </p:sp>
      <p:sp>
        <p:nvSpPr>
          <p:cNvPr id="33" name="Text 30"/>
          <p:cNvSpPr txBox="1"/>
          <p:nvPr/>
        </p:nvSpPr>
        <p:spPr>
          <a:xfrm>
            <a:off x="6080760" y="4974336"/>
            <a:ext cx="91440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18:00</a:t>
            </a:r>
            <a:endParaRPr lang="en-US" sz="1500" dirty="0"/>
          </a:p>
        </p:txBody>
      </p:sp>
      <p:sp>
        <p:nvSpPr>
          <p:cNvPr id="34" name="Text 31"/>
          <p:cNvSpPr txBox="1"/>
          <p:nvPr/>
        </p:nvSpPr>
        <p:spPr>
          <a:xfrm>
            <a:off x="7178040" y="4846320"/>
            <a:ext cx="4297680" cy="676656"/>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Tan tầm: tổng kết ngày và “Về thôi”</a:t>
            </a:r>
            <a:endParaRPr lang="en-US" sz="1450" dirty="0"/>
          </a:p>
        </p:txBody>
      </p:sp>
      <p:sp>
        <p:nvSpPr>
          <p:cNvPr id="35" name="Text 32"/>
          <p:cNvSpPr txBox="1"/>
          <p:nvPr/>
        </p:nvSpPr>
        <p:spPr>
          <a:xfrm>
            <a:off x="5943600" y="5715000"/>
            <a:ext cx="5650992" cy="457200"/>
          </a:xfrm>
          <a:prstGeom prst="rect">
            <a:avLst/>
          </a:prstGeom>
          <a:noFill/>
          <a:ln/>
        </p:spPr>
        <p:txBody>
          <a:bodyPr wrap="square" lIns="0" tIns="0" rIns="0" bIns="0" rtlCol="0" anchor="t"/>
          <a:lstStyle/>
          <a:p>
            <a:pPr indent="0" marL="0">
              <a:buNone/>
            </a:pPr>
            <a:r>
              <a:rPr lang="en-US" sz="1250" i="1" dirty="0">
                <a:solidFill>
                  <a:srgbClr val="9FB2C4"/>
                </a:solidFill>
                <a:latin typeface="Calibri" pitchFamily="34" charset="0"/>
                <a:ea typeface="Calibri" pitchFamily="34" charset="-122"/>
                <a:cs typeface="Calibri" pitchFamily="34" charset="-120"/>
              </a:rPr>
              <a:t>Tuỳ chọn: Sandbox — đổi dữ liệu thật trên Teams / Outlook, Milo phản ứng ngay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8229600" cy="274320"/>
          </a:xfrm>
          <a:prstGeom prst="rect">
            <a:avLst/>
          </a:prstGeom>
          <a:noFill/>
          <a:ln/>
        </p:spPr>
        <p:txBody>
          <a:bodyPr wrap="square" lIns="0" tIns="0" rIns="0" bIns="0" rtlCol="0" anchor="t"/>
          <a:lstStyle/>
          <a:p>
            <a:pPr indent="0" marL="0">
              <a:buNone/>
            </a:pPr>
            <a:r>
              <a:rPr lang="en-US" sz="1200" b="1" spc="200" kern="0" dirty="0">
                <a:solidFill>
                  <a:srgbClr val="667584"/>
                </a:solidFill>
                <a:latin typeface="Calibri" pitchFamily="34" charset="0"/>
                <a:ea typeface="Calibri" pitchFamily="34" charset="-122"/>
                <a:cs typeface="Calibri" pitchFamily="34" charset="-120"/>
              </a:rPr>
              <a:t>THAM KHẢO</a:t>
            </a:r>
            <a:endParaRPr lang="en-US" sz="1200" dirty="0"/>
          </a:p>
        </p:txBody>
      </p:sp>
      <p:sp>
        <p:nvSpPr>
          <p:cNvPr id="3" name="Text 1"/>
          <p:cNvSpPr txBox="1"/>
          <p:nvPr/>
        </p:nvSpPr>
        <p:spPr>
          <a:xfrm>
            <a:off x="594360" y="713232"/>
            <a:ext cx="10881360" cy="548640"/>
          </a:xfrm>
          <a:prstGeom prst="rect">
            <a:avLst/>
          </a:prstGeom>
          <a:noFill/>
          <a:ln/>
        </p:spPr>
        <p:txBody>
          <a:bodyPr wrap="square" lIns="0" tIns="0" rIns="0" bIns="0" rtlCol="0" anchor="t"/>
          <a:lstStyle/>
          <a:p>
            <a:pPr indent="0" marL="0">
              <a:buNone/>
            </a:pPr>
            <a:r>
              <a:rPr lang="en-US" sz="3000" b="1" dirty="0">
                <a:solidFill>
                  <a:srgbClr val="1B2733"/>
                </a:solidFill>
                <a:latin typeface="Calibri" pitchFamily="34" charset="0"/>
                <a:ea typeface="Calibri" pitchFamily="34" charset="-122"/>
                <a:cs typeface="Calibri" pitchFamily="34" charset="-120"/>
              </a:rPr>
              <a:t>Nguồn tham khảo</a:t>
            </a:r>
            <a:endParaRPr lang="en-US" sz="3000" dirty="0"/>
          </a:p>
        </p:txBody>
      </p:sp>
      <p:sp>
        <p:nvSpPr>
          <p:cNvPr id="4" name="Shape 2"/>
          <p:cNvSpPr/>
          <p:nvPr/>
        </p:nvSpPr>
        <p:spPr>
          <a:xfrm>
            <a:off x="0" y="6729984"/>
            <a:ext cx="4073042" cy="128016"/>
          </a:xfrm>
          <a:prstGeom prst="rect">
            <a:avLst/>
          </a:prstGeom>
          <a:solidFill>
            <a:srgbClr val="E20015"/>
          </a:solidFill>
          <a:ln/>
        </p:spPr>
      </p:sp>
      <p:sp>
        <p:nvSpPr>
          <p:cNvPr id="5" name="Shape 3"/>
          <p:cNvSpPr/>
          <p:nvPr/>
        </p:nvSpPr>
        <p:spPr>
          <a:xfrm>
            <a:off x="4063898" y="6729984"/>
            <a:ext cx="4073042" cy="128016"/>
          </a:xfrm>
          <a:prstGeom prst="rect">
            <a:avLst/>
          </a:prstGeom>
          <a:solidFill>
            <a:srgbClr val="007BC0"/>
          </a:solidFill>
          <a:ln/>
        </p:spPr>
      </p:sp>
      <p:sp>
        <p:nvSpPr>
          <p:cNvPr id="6" name="Shape 4"/>
          <p:cNvSpPr/>
          <p:nvPr/>
        </p:nvSpPr>
        <p:spPr>
          <a:xfrm>
            <a:off x="8127797" y="6729984"/>
            <a:ext cx="4073042" cy="128016"/>
          </a:xfrm>
          <a:prstGeom prst="rect">
            <a:avLst/>
          </a:prstGeom>
          <a:solidFill>
            <a:srgbClr val="00884A"/>
          </a:solidFill>
          <a:ln/>
        </p:spPr>
      </p:sp>
      <p:sp>
        <p:nvSpPr>
          <p:cNvPr id="7" name="Text 5"/>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667584"/>
                </a:solidFill>
                <a:latin typeface="Calibri" pitchFamily="34" charset="0"/>
                <a:ea typeface="Calibri" pitchFamily="34" charset="-122"/>
                <a:cs typeface="Calibri" pitchFamily="34" charset="-120"/>
              </a:rPr>
              <a:t>Minditful – Milo  ·  Matcha latte- capybara</a:t>
            </a:r>
            <a:endParaRPr lang="en-US" sz="950" dirty="0"/>
          </a:p>
        </p:txBody>
      </p:sp>
      <p:sp>
        <p:nvSpPr>
          <p:cNvPr id="8" name="Text 6"/>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667584"/>
                </a:solidFill>
                <a:latin typeface="Calibri" pitchFamily="34" charset="0"/>
                <a:ea typeface="Calibri" pitchFamily="34" charset="-122"/>
                <a:cs typeface="Calibri" pitchFamily="34" charset="-120"/>
              </a:rPr>
              <a:t>14</a:t>
            </a:r>
            <a:endParaRPr lang="en-US" sz="950" dirty="0"/>
          </a:p>
        </p:txBody>
      </p:sp>
      <p:sp>
        <p:nvSpPr>
          <p:cNvPr id="9" name="Text 7"/>
          <p:cNvSpPr txBox="1"/>
          <p:nvPr/>
        </p:nvSpPr>
        <p:spPr>
          <a:xfrm>
            <a:off x="594360" y="1463040"/>
            <a:ext cx="11000232" cy="4663440"/>
          </a:xfrm>
          <a:prstGeom prst="rect">
            <a:avLst/>
          </a:prstGeom>
          <a:noFill/>
          <a:ln/>
        </p:spPr>
        <p:txBody>
          <a:bodyPr wrap="square" lIns="0" tIns="0" rIns="0" bIns="0" rtlCol="0" anchor="t"/>
          <a:lstStyle/>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Gallup (2025). State of the Global Workplace 2025 — gallup.com/workplace/349484/state-of-the-global-workplace.aspx</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WHO. Mental health at work (fact sheet) — who.int/news-room/fact-sheets/detail/mental-health-at-work</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Mark, G. Attention Span (2023) và nghiên cứu ghi log màn hình, ĐH California Irvine.</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Albulescu, P. et al. (2022). “Give me a break!” A systematic review and meta-analysis on micro-breaks. PLOS ONE 17(8).</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Ekelund, U. et al. (2016). Does physical activity attenuate, or even eliminate, the detrimental association of sitting time with mortality? The Lancet 388.</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WHO. Low back pain (fact sheet); GBD 2021 Low Back Pain Collaborators (2023). The Lancet Rheumatology.</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Anbesu, E. W. &amp; Lema, A. K. (2023). Prevalence of computer vision syndrome: systematic review and meta-analysis. Scientific Reports.</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Workplace-based interventions for neck pain in office workers: systematic review and meta-analysis. Physical Therapy 98(1), 2018.</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Cirillo, F. The Pomodoro Technique.</a:t>
            </a:r>
            <a:endParaRPr lang="en-US" sz="1450" dirty="0"/>
          </a:p>
          <a:p>
            <a:pPr marL="342900" indent="-342900">
              <a:spcAft>
                <a:spcPts val="1100"/>
              </a:spcAft>
              <a:buSzPct val="100000"/>
              <a:buFont typeface="+mj-lt"/>
              <a:buAutoNum type="arabicPeriod" startAt="1"/>
            </a:pPr>
            <a:r>
              <a:rPr lang="en-US" sz="1450" dirty="0">
                <a:solidFill>
                  <a:srgbClr val="3D4B59"/>
                </a:solidFill>
                <a:latin typeface="Calibri" pitchFamily="34" charset="0"/>
                <a:ea typeface="Calibri" pitchFamily="34" charset="-122"/>
                <a:cs typeface="Calibri" pitchFamily="34" charset="-120"/>
              </a:rPr>
              <a:t>Nhóm Minditful (2026). Cơ sở khoa học của Mood Engine (mô hình JD-R), Kiến trúc, Kịch bản hành vi Milo — tài liệu nội bộ.</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437"/>
        </a:solidFill>
      </p:bgPr>
    </p:bg>
    <p:spTree>
      <p:nvGrpSpPr>
        <p:cNvPr id="1" name=""/>
        <p:cNvGrpSpPr/>
        <p:nvPr/>
      </p:nvGrpSpPr>
      <p:grpSpPr>
        <a:xfrm>
          <a:off x="0" y="0"/>
          <a:ext cx="0" cy="0"/>
          <a:chOff x="0" y="0"/>
          <a:chExt cx="0" cy="0"/>
        </a:xfrm>
      </p:grpSpPr>
      <p:sp>
        <p:nvSpPr>
          <p:cNvPr id="2" name="Shape 0"/>
          <p:cNvSpPr/>
          <p:nvPr/>
        </p:nvSpPr>
        <p:spPr>
          <a:xfrm>
            <a:off x="0" y="6729984"/>
            <a:ext cx="4073042" cy="128016"/>
          </a:xfrm>
          <a:prstGeom prst="rect">
            <a:avLst/>
          </a:prstGeom>
          <a:solidFill>
            <a:srgbClr val="E20015"/>
          </a:solidFill>
          <a:ln/>
        </p:spPr>
      </p:sp>
      <p:sp>
        <p:nvSpPr>
          <p:cNvPr id="3" name="Shape 1"/>
          <p:cNvSpPr/>
          <p:nvPr/>
        </p:nvSpPr>
        <p:spPr>
          <a:xfrm>
            <a:off x="4063898" y="6729984"/>
            <a:ext cx="4073042" cy="128016"/>
          </a:xfrm>
          <a:prstGeom prst="rect">
            <a:avLst/>
          </a:prstGeom>
          <a:solidFill>
            <a:srgbClr val="007BC0"/>
          </a:solidFill>
          <a:ln/>
        </p:spPr>
      </p:sp>
      <p:sp>
        <p:nvSpPr>
          <p:cNvPr id="4" name="Shape 2"/>
          <p:cNvSpPr/>
          <p:nvPr/>
        </p:nvSpPr>
        <p:spPr>
          <a:xfrm>
            <a:off x="8127797" y="6729984"/>
            <a:ext cx="4073042" cy="128016"/>
          </a:xfrm>
          <a:prstGeom prst="rect">
            <a:avLst/>
          </a:prstGeom>
          <a:solidFill>
            <a:srgbClr val="00884A"/>
          </a:solidFill>
          <a:ln/>
        </p:spPr>
      </p:sp>
      <p:sp>
        <p:nvSpPr>
          <p:cNvPr id="5" name="Text 3"/>
          <p:cNvSpPr txBox="1"/>
          <p:nvPr/>
        </p:nvSpPr>
        <p:spPr>
          <a:xfrm>
            <a:off x="594360" y="6400800"/>
            <a:ext cx="6400800" cy="256032"/>
          </a:xfrm>
          <a:prstGeom prst="rect">
            <a:avLst/>
          </a:prstGeom>
          <a:noFill/>
          <a:ln/>
        </p:spPr>
        <p:txBody>
          <a:bodyPr wrap="square" lIns="0" tIns="0" rIns="0" bIns="0" rtlCol="0" anchor="t"/>
          <a:lstStyle/>
          <a:p>
            <a:pPr indent="0" marL="0">
              <a:buNone/>
            </a:pPr>
            <a:r>
              <a:rPr lang="en-US" sz="950" dirty="0">
                <a:solidFill>
                  <a:srgbClr val="9FB2C4"/>
                </a:solidFill>
                <a:latin typeface="Calibri" pitchFamily="34" charset="0"/>
                <a:ea typeface="Calibri" pitchFamily="34" charset="-122"/>
                <a:cs typeface="Calibri" pitchFamily="34" charset="-120"/>
              </a:rPr>
              <a:t>Minditful – Milo  ·  Matcha latte- capybara</a:t>
            </a:r>
            <a:endParaRPr lang="en-US" sz="950" dirty="0"/>
          </a:p>
        </p:txBody>
      </p:sp>
      <p:sp>
        <p:nvSpPr>
          <p:cNvPr id="6" name="Text 4"/>
          <p:cNvSpPr txBox="1"/>
          <p:nvPr/>
        </p:nvSpPr>
        <p:spPr>
          <a:xfrm>
            <a:off x="10682935" y="6400800"/>
            <a:ext cx="914400" cy="256032"/>
          </a:xfrm>
          <a:prstGeom prst="rect">
            <a:avLst/>
          </a:prstGeom>
          <a:noFill/>
          <a:ln/>
        </p:spPr>
        <p:txBody>
          <a:bodyPr wrap="square" lIns="0" tIns="0" rIns="0" bIns="0" rtlCol="0" anchor="t"/>
          <a:lstStyle/>
          <a:p>
            <a:pPr algn="r" indent="0" marL="0">
              <a:buNone/>
            </a:pPr>
            <a:r>
              <a:rPr lang="en-US" sz="950" dirty="0">
                <a:solidFill>
                  <a:srgbClr val="9FB2C4"/>
                </a:solidFill>
                <a:latin typeface="Calibri" pitchFamily="34" charset="0"/>
                <a:ea typeface="Calibri" pitchFamily="34" charset="-122"/>
                <a:cs typeface="Calibri" pitchFamily="34" charset="-120"/>
              </a:rPr>
              <a:t>15</a:t>
            </a:r>
            <a:endParaRPr lang="en-US" sz="950" dirty="0"/>
          </a:p>
        </p:txBody>
      </p:sp>
      <p:sp>
        <p:nvSpPr>
          <p:cNvPr id="7" name="Text 5"/>
          <p:cNvSpPr txBox="1"/>
          <p:nvPr/>
        </p:nvSpPr>
        <p:spPr>
          <a:xfrm>
            <a:off x="594360" y="1097280"/>
            <a:ext cx="7315200" cy="8229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Cảm ơn mọi người!</a:t>
            </a:r>
            <a:endParaRPr lang="en-US" sz="4400" dirty="0"/>
          </a:p>
        </p:txBody>
      </p:sp>
      <p:sp>
        <p:nvSpPr>
          <p:cNvPr id="8" name="Text 6"/>
          <p:cNvSpPr txBox="1"/>
          <p:nvPr/>
        </p:nvSpPr>
        <p:spPr>
          <a:xfrm>
            <a:off x="594360" y="1965960"/>
            <a:ext cx="5486400" cy="1554480"/>
          </a:xfrm>
          <a:prstGeom prst="rect">
            <a:avLst/>
          </a:prstGeom>
          <a:noFill/>
          <a:ln/>
        </p:spPr>
        <p:txBody>
          <a:bodyPr wrap="square" lIns="0" tIns="0" rIns="0" bIns="0" rtlCol="0" anchor="t"/>
          <a:lstStyle/>
          <a:p>
            <a:pPr indent="0" marL="0">
              <a:buNone/>
            </a:pPr>
            <a:r>
              <a:rPr lang="en-US" sz="11000" b="1" dirty="0">
                <a:solidFill>
                  <a:srgbClr val="FF8A1F"/>
                </a:solidFill>
                <a:latin typeface="Calibri" pitchFamily="34" charset="0"/>
                <a:ea typeface="Calibri" pitchFamily="34" charset="-122"/>
                <a:cs typeface="Calibri" pitchFamily="34" charset="-120"/>
              </a:rPr>
              <a:t>Q&amp;A</a:t>
            </a:r>
            <a:endParaRPr lang="en-US" sz="11000" dirty="0"/>
          </a:p>
        </p:txBody>
      </p:sp>
      <p:sp>
        <p:nvSpPr>
          <p:cNvPr id="9" name="Text 7"/>
          <p:cNvSpPr txBox="1"/>
          <p:nvPr/>
        </p:nvSpPr>
        <p:spPr>
          <a:xfrm>
            <a:off x="594360" y="3749040"/>
            <a:ext cx="7315200" cy="41148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Nhóm Matcha latte- capybara</a:t>
            </a:r>
            <a:endParaRPr lang="en-US" sz="2000" dirty="0"/>
          </a:p>
        </p:txBody>
      </p:sp>
      <p:sp>
        <p:nvSpPr>
          <p:cNvPr id="10" name="Text 8"/>
          <p:cNvSpPr txBox="1"/>
          <p:nvPr/>
        </p:nvSpPr>
        <p:spPr>
          <a:xfrm>
            <a:off x="594360" y="4206240"/>
            <a:ext cx="7315200" cy="365760"/>
          </a:xfrm>
          <a:prstGeom prst="rect">
            <a:avLst/>
          </a:prstGeom>
          <a:noFill/>
          <a:ln/>
        </p:spPr>
        <p:txBody>
          <a:bodyPr wrap="square" lIns="0" tIns="0" rIns="0" bIns="0" rtlCol="0" anchor="t"/>
          <a:lstStyle/>
          <a:p>
            <a:pPr indent="0" marL="0">
              <a:buNone/>
            </a:pPr>
            <a:r>
              <a:rPr lang="en-US" sz="1600" dirty="0">
                <a:solidFill>
                  <a:srgbClr val="C9D6E2"/>
                </a:solidFill>
                <a:latin typeface="Calibri" pitchFamily="34" charset="0"/>
                <a:ea typeface="Calibri" pitchFamily="34" charset="-122"/>
                <a:cs typeface="Calibri" pitchFamily="34" charset="-120"/>
              </a:rPr>
              <a:t>Huỳnh Thanh Duy  ·  Lê Minh Quân  ·  Lý Minh Thư</a:t>
            </a:r>
            <a:endParaRPr lang="en-US" sz="1600" dirty="0"/>
          </a:p>
        </p:txBody>
      </p:sp>
      <p:sp>
        <p:nvSpPr>
          <p:cNvPr id="11" name="Text 9"/>
          <p:cNvSpPr txBox="1"/>
          <p:nvPr/>
        </p:nvSpPr>
        <p:spPr>
          <a:xfrm>
            <a:off x="594360" y="4617720"/>
            <a:ext cx="7315200" cy="365760"/>
          </a:xfrm>
          <a:prstGeom prst="rect">
            <a:avLst/>
          </a:prstGeom>
          <a:noFill/>
          <a:ln/>
        </p:spPr>
        <p:txBody>
          <a:bodyPr wrap="square" lIns="0" tIns="0" rIns="0" bIns="0" rtlCol="0" anchor="t"/>
          <a:lstStyle/>
          <a:p>
            <a:pPr indent="0" marL="0">
              <a:buNone/>
            </a:pPr>
            <a:r>
              <a:rPr lang="en-US" sz="1600" dirty="0">
                <a:solidFill>
                  <a:srgbClr val="C9D6E2"/>
                </a:solidFill>
                <a:latin typeface="Calibri" pitchFamily="34" charset="0"/>
                <a:ea typeface="Calibri" pitchFamily="34" charset="-122"/>
                <a:cs typeface="Calibri" pitchFamily="34" charset="-120"/>
              </a:rPr>
              <a:t>Mentor: Dương Thành Phong</a:t>
            </a:r>
            <a:endParaRPr lang="en-US" sz="1600" dirty="0"/>
          </a:p>
        </p:txBody>
      </p:sp>
      <p:sp>
        <p:nvSpPr>
          <p:cNvPr id="12" name="Text 10"/>
          <p:cNvSpPr txBox="1"/>
          <p:nvPr/>
        </p:nvSpPr>
        <p:spPr>
          <a:xfrm>
            <a:off x="594360" y="5349240"/>
            <a:ext cx="7315200" cy="365760"/>
          </a:xfrm>
          <a:prstGeom prst="rect">
            <a:avLst/>
          </a:prstGeom>
          <a:noFill/>
          <a:ln/>
        </p:spPr>
        <p:txBody>
          <a:bodyPr wrap="square" lIns="0" tIns="0" rIns="0" bIns="0" rtlCol="0" anchor="t"/>
          <a:lstStyle/>
          <a:p>
            <a:pPr indent="0" marL="0">
              <a:buNone/>
            </a:pPr>
            <a:r>
              <a:rPr lang="en-US" sz="1500" i="1" dirty="0">
                <a:solidFill>
                  <a:srgbClr val="9FB2C4"/>
                </a:solidFill>
                <a:latin typeface="Calibri" pitchFamily="34" charset="0"/>
                <a:ea typeface="Calibri" pitchFamily="34" charset="-122"/>
                <a:cs typeface="Calibri" pitchFamily="34" charset="-120"/>
              </a:rPr>
              <a:t>“Nâng niu cảm xúc – Bứt phá năng lực”</a:t>
            </a:r>
            <a:endParaRPr lang="en-US" sz="1500" dirty="0"/>
          </a:p>
        </p:txBody>
      </p:sp>
      <p:sp>
        <p:nvSpPr>
          <p:cNvPr id="13" name="Shape 11"/>
          <p:cNvSpPr/>
          <p:nvPr/>
        </p:nvSpPr>
        <p:spPr>
          <a:xfrm>
            <a:off x="8183880" y="1188720"/>
            <a:ext cx="3566160" cy="3566160"/>
          </a:xfrm>
          <a:prstGeom prst="ellipse">
            <a:avLst/>
          </a:prstGeom>
          <a:solidFill>
            <a:srgbClr val="1A3550"/>
          </a:solidFill>
          <a:ln/>
        </p:spPr>
      </p:sp>
      <p:pic>
        <p:nvPicPr>
          <p:cNvPr id="14" name="Image 0" descr="img/milo_wave.png">    </p:cNvPr>
          <p:cNvPicPr>
            <a:picLocks noChangeAspect="1"/>
          </p:cNvPicPr>
          <p:nvPr/>
        </p:nvPicPr>
        <p:blipFill>
          <a:blip r:embed="rId1"/>
          <a:stretch>
            <a:fillRect/>
          </a:stretch>
        </p:blipFill>
        <p:spPr>
          <a:xfrm>
            <a:off x="8732520" y="1417320"/>
            <a:ext cx="2468880" cy="27797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Minditful – Milo</dc:title>
  <dc:subject>PptxGenJS Presentation</dc:subject>
  <dc:creator>Matcha latte- capybara</dc:creator>
  <cp:lastModifiedBy>Matcha latte- capybara</cp:lastModifiedBy>
  <cp:revision>1</cp:revision>
  <dcterms:created xsi:type="dcterms:W3CDTF">2026-09-29T15:27:24Z</dcterms:created>
  <dcterms:modified xsi:type="dcterms:W3CDTF">2026-09-29T15:27:24Z</dcterms:modified>
</cp:coreProperties>
</file>